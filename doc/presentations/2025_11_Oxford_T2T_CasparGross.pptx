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5">
  <p:sldMasterIdLst>
    <p:sldMasterId id="2147483648" r:id="rId1"/>
  </p:sldMasterIdLst>
  <p:notesMasterIdLst>
    <p:notesMasterId r:id="rId26"/>
  </p:notesMasterIdLst>
  <p:sldIdLst>
    <p:sldId id="256" r:id="rId2"/>
    <p:sldId id="266" r:id="rId3"/>
    <p:sldId id="265" r:id="rId4"/>
    <p:sldId id="271" r:id="rId5"/>
    <p:sldId id="287" r:id="rId6"/>
    <p:sldId id="285" r:id="rId7"/>
    <p:sldId id="296" r:id="rId8"/>
    <p:sldId id="263" r:id="rId9"/>
    <p:sldId id="302" r:id="rId10"/>
    <p:sldId id="289" r:id="rId11"/>
    <p:sldId id="290" r:id="rId12"/>
    <p:sldId id="295" r:id="rId13"/>
    <p:sldId id="291" r:id="rId14"/>
    <p:sldId id="268" r:id="rId15"/>
    <p:sldId id="292" r:id="rId16"/>
    <p:sldId id="305" r:id="rId17"/>
    <p:sldId id="304" r:id="rId18"/>
    <p:sldId id="309" r:id="rId19"/>
    <p:sldId id="307" r:id="rId20"/>
    <p:sldId id="308" r:id="rId21"/>
    <p:sldId id="299" r:id="rId22"/>
    <p:sldId id="310" r:id="rId23"/>
    <p:sldId id="300" r:id="rId24"/>
    <p:sldId id="267" r:id="rId2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40BE4223-768E-41AD-B34D-CFAF3FEF1A0E}">
          <p14:sldIdLst>
            <p14:sldId id="256"/>
          </p14:sldIdLst>
        </p14:section>
        <p14:section name="Introduction" id="{8A45B4D1-36E9-4BA4-ACEA-DAB3770AF70D}">
          <p14:sldIdLst>
            <p14:sldId id="266"/>
          </p14:sldIdLst>
        </p14:section>
        <p14:section name="Methods" id="{B439C72B-6018-4AA2-8C89-C41DB8F6F588}">
          <p14:sldIdLst>
            <p14:sldId id="265"/>
            <p14:sldId id="271"/>
            <p14:sldId id="287"/>
            <p14:sldId id="285"/>
            <p14:sldId id="296"/>
          </p14:sldIdLst>
        </p14:section>
        <p14:section name="Analysis" id="{E24CD4CE-E9D9-4093-ABB8-7DF2AC0469A8}">
          <p14:sldIdLst>
            <p14:sldId id="263"/>
            <p14:sldId id="302"/>
            <p14:sldId id="289"/>
            <p14:sldId id="290"/>
            <p14:sldId id="295"/>
            <p14:sldId id="291"/>
            <p14:sldId id="268"/>
            <p14:sldId id="292"/>
            <p14:sldId id="305"/>
            <p14:sldId id="304"/>
            <p14:sldId id="309"/>
            <p14:sldId id="307"/>
            <p14:sldId id="308"/>
            <p14:sldId id="299"/>
            <p14:sldId id="310"/>
            <p14:sldId id="300"/>
            <p14:sldId id="267"/>
          </p14:sldIdLst>
        </p14:section>
        <p14:section name="Resources" id="{FD60DB91-E54E-4F15-B81F-4059B570BB40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spar Groß" initials="CG" lastIdx="1" clrIdx="0">
    <p:extLst>
      <p:ext uri="{19B8F6BF-5375-455C-9EA6-DF929625EA0E}">
        <p15:presenceInfo xmlns:p15="http://schemas.microsoft.com/office/powerpoint/2012/main" userId="S-1-5-21-863953942-1474399219-3225640801-3489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750E"/>
    <a:srgbClr val="D6CB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20" autoAdjust="0"/>
    <p:restoredTop sz="94660"/>
  </p:normalViewPr>
  <p:slideViewPr>
    <p:cSldViewPr snapToGrid="0">
      <p:cViewPr>
        <p:scale>
          <a:sx n="150" d="100"/>
          <a:sy n="150" d="100"/>
        </p:scale>
        <p:origin x="1002" y="132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EF7632-CEEA-4A77-AA66-C37352DF84CC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CD9DD8-89B9-4D97-A15A-2E05D76967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647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CD9DD8-89B9-4D97-A15A-2E05D7696739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5597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200" b="1" i="0">
                <a:solidFill>
                  <a:srgbClr val="333333"/>
                </a:solidFill>
                <a:effectLst/>
                <a:latin typeface="Segoe WPC"/>
              </a:rPr>
              <a:t>How does Pore-C work?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>
                <a:solidFill>
                  <a:srgbClr val="333333"/>
                </a:solidFill>
                <a:effectLst/>
                <a:latin typeface="Segoe WPC"/>
              </a:rPr>
              <a:t>Chromatin is crosslinked in cells to preserve 3D structure.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>
                <a:solidFill>
                  <a:srgbClr val="333333"/>
                </a:solidFill>
                <a:effectLst/>
                <a:latin typeface="Segoe WPC"/>
              </a:rPr>
              <a:t>DNA is fragmented and proximity-ligated, joining together DNA segments that are spatially close in the nucleus.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>
                <a:solidFill>
                  <a:srgbClr val="333333"/>
                </a:solidFill>
                <a:effectLst/>
                <a:latin typeface="Segoe WPC"/>
              </a:rPr>
              <a:t>The resulting chimeric DNA molecules (containing multiple genomic fragments) are sequenced using Oxford Nanopore’s long-read technology.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>
                <a:solidFill>
                  <a:srgbClr val="333333"/>
                </a:solidFill>
                <a:effectLst/>
                <a:latin typeface="Segoe WPC"/>
              </a:rPr>
              <a:t>Each read can contain information about multiple interacting genomic loci, providing high-resolution insight into chromatin organization</a:t>
            </a:r>
            <a:r>
              <a:rPr lang="en-US" b="0" i="0">
                <a:solidFill>
                  <a:srgbClr val="333333"/>
                </a:solidFill>
                <a:effectLst/>
                <a:latin typeface="Segoe WPC"/>
              </a:rPr>
              <a:t>.</a:t>
            </a:r>
          </a:p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CD9DD8-89B9-4D97-A15A-2E05D7696739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93172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5F9D3-1EDB-81B1-335A-6FF973843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F5E8580-A80A-F90B-E5AD-5E916D79ED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2776424-F970-2ED5-EBA5-3CE877A061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018AC6-9B7C-9FC0-09CA-292461C6A6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CD9DD8-89B9-4D97-A15A-2E05D7696739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419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CD9DD8-89B9-4D97-A15A-2E05D7696739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80318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CD9DD8-89B9-4D97-A15A-2E05D7696739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91229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CD9DD8-89B9-4D97-A15A-2E05D7696739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39822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CD9DD8-89B9-4D97-A15A-2E05D7696739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6262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0999E9-4CAB-4CDC-ACE6-B8AC7196AF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A558740-07D6-46D6-8FF7-7BDC2E7B29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648F53FF-DB6D-40D1-8147-3A65D273DFC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12192000" cy="5335588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r="6"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Textplatzhalter 20">
            <a:extLst>
              <a:ext uri="{FF2B5EF4-FFF2-40B4-BE49-F238E27FC236}">
                <a16:creationId xmlns:a16="http://schemas.microsoft.com/office/drawing/2014/main" id="{3A0FC371-5582-4B28-B83E-7079CB6A38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2869950"/>
            <a:ext cx="5905500" cy="1810638"/>
          </a:xfrm>
          <a:prstGeom prst="rect">
            <a:avLst/>
          </a:prstGeom>
          <a:solidFill>
            <a:schemeClr val="tx2">
              <a:alpha val="70000"/>
            </a:schemeClr>
          </a:solidFill>
        </p:spPr>
        <p:txBody>
          <a:bodyPr lIns="378000" tIns="252000" bIns="144000">
            <a:spAutoFit/>
          </a:bodyPr>
          <a:lstStyle>
            <a:lvl1pPr marL="0" indent="0">
              <a:lnSpc>
                <a:spcPts val="5000"/>
              </a:lnSpc>
              <a:buFont typeface="Arial" panose="020B0604020202020204" pitchFamily="34" charset="0"/>
              <a:buNone/>
              <a:defRPr sz="4800" b="1"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  <a:lvl2pPr marL="0" indent="0">
              <a:lnSpc>
                <a:spcPct val="100000"/>
              </a:lnSpc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 marL="2160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432000" indent="0">
              <a:buNone/>
              <a:defRPr>
                <a:solidFill>
                  <a:schemeClr val="bg1"/>
                </a:solidFill>
              </a:defRPr>
            </a:lvl4pPr>
            <a:lvl5pPr marL="64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 der Folie 48 </a:t>
            </a:r>
            <a:r>
              <a:rPr lang="de-DE" err="1"/>
              <a:t>pt</a:t>
            </a:r>
            <a:endParaRPr lang="de-DE"/>
          </a:p>
          <a:p>
            <a:pPr lvl="0"/>
            <a:r>
              <a:rPr lang="de-DE"/>
              <a:t>und Zeile zwei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63A2941-2C52-41DF-9D75-C0569C0A01B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98165" y="5349875"/>
            <a:ext cx="3449496" cy="1395412"/>
          </a:xfrm>
          <a:prstGeom prst="rect">
            <a:avLst/>
          </a:prstGeom>
        </p:spPr>
      </p:pic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3938CF12-D97C-492A-A9AA-4CC73C7270F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2588" y="6038850"/>
            <a:ext cx="3582987" cy="21980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>
                <a:solidFill>
                  <a:schemeClr val="tx1"/>
                </a:solidFill>
                <a:latin typeface="Source Sans Pro SemiBold" panose="020B0603030403020204" pitchFamily="34" charset="0"/>
                <a:ea typeface="Source Sans Pro SemiBold" panose="020B0603030403020204" pitchFamily="34" charset="0"/>
              </a:defRPr>
            </a:lvl1pPr>
          </a:lstStyle>
          <a:p>
            <a:pPr lvl="0"/>
            <a:r>
              <a:rPr lang="de-DE"/>
              <a:t>Caspar </a:t>
            </a:r>
            <a:r>
              <a:rPr lang="de-DE" err="1"/>
              <a:t>Gross</a:t>
            </a:r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53FFAA6-73C2-4E37-A832-AA0E4AA941F2}"/>
              </a:ext>
            </a:extLst>
          </p:cNvPr>
          <p:cNvSpPr txBox="1"/>
          <p:nvPr userDrawn="1"/>
        </p:nvSpPr>
        <p:spPr>
          <a:xfrm>
            <a:off x="382588" y="6604000"/>
            <a:ext cx="3582987" cy="126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de-DE" sz="600">
                <a:solidFill>
                  <a:schemeClr val="tx1"/>
                </a:solidFill>
                <a:effectLst/>
              </a:rPr>
              <a:t>© UNIVERSITÄTSKLINIKUM</a:t>
            </a:r>
            <a:r>
              <a:rPr lang="de-DE" sz="600" baseline="0">
                <a:solidFill>
                  <a:schemeClr val="tx1"/>
                </a:solidFill>
                <a:effectLst/>
              </a:rPr>
              <a:t> TÜBINGEN.</a:t>
            </a:r>
            <a:endParaRPr lang="de-DE" sz="600">
              <a:solidFill>
                <a:schemeClr val="tx1"/>
              </a:solidFill>
              <a:effectLst/>
            </a:endParaRPr>
          </a:p>
        </p:txBody>
      </p:sp>
      <p:sp>
        <p:nvSpPr>
          <p:cNvPr id="12" name="Datumsplatzhalter 4">
            <a:extLst>
              <a:ext uri="{FF2B5EF4-FFF2-40B4-BE49-F238E27FC236}">
                <a16:creationId xmlns:a16="http://schemas.microsoft.com/office/drawing/2014/main" id="{1F9F153B-4A0D-4D70-92FF-5A8E787BB31F}"/>
              </a:ext>
            </a:extLst>
          </p:cNvPr>
          <p:cNvSpPr txBox="1">
            <a:spLocks/>
          </p:cNvSpPr>
          <p:nvPr userDrawn="1"/>
        </p:nvSpPr>
        <p:spPr>
          <a:xfrm>
            <a:off x="381599" y="6339600"/>
            <a:ext cx="3582987" cy="126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lang="de-DE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26.05.2025, C25 </a:t>
            </a:r>
            <a:r>
              <a:rPr lang="de-DE" err="1"/>
              <a:t>Functional</a:t>
            </a:r>
            <a:r>
              <a:rPr lang="de-DE"/>
              <a:t> and </a:t>
            </a:r>
            <a:r>
              <a:rPr lang="de-DE" err="1"/>
              <a:t>structural</a:t>
            </a:r>
            <a:r>
              <a:rPr lang="de-DE"/>
              <a:t> </a:t>
            </a:r>
            <a:r>
              <a:rPr lang="de-DE" err="1"/>
              <a:t>genomics</a:t>
            </a:r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162D136-70FB-6516-74A9-90069ACF0EC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693916" y="5557459"/>
            <a:ext cx="1707728" cy="962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89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36323B-4416-4FC3-85E9-B69902A68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00" y="1219200"/>
            <a:ext cx="11719420" cy="495776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D454876-334D-4715-9BC4-A70410DC86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65601" y="6096000"/>
            <a:ext cx="905819" cy="634999"/>
          </a:xfrm>
          <a:prstGeom prst="rect">
            <a:avLst/>
          </a:prstGeom>
        </p:spPr>
      </p:pic>
      <p:sp>
        <p:nvSpPr>
          <p:cNvPr id="8" name="Foliennummernplatzhalter 1">
            <a:extLst>
              <a:ext uri="{FF2B5EF4-FFF2-40B4-BE49-F238E27FC236}">
                <a16:creationId xmlns:a16="http://schemas.microsoft.com/office/drawing/2014/main" id="{48E1717E-E3C5-4EB2-8449-501AF07790DA}"/>
              </a:ext>
            </a:extLst>
          </p:cNvPr>
          <p:cNvSpPr txBox="1">
            <a:spLocks/>
          </p:cNvSpPr>
          <p:nvPr userDrawn="1"/>
        </p:nvSpPr>
        <p:spPr>
          <a:xfrm>
            <a:off x="251999" y="6318430"/>
            <a:ext cx="64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lang="de-DE" sz="1600" b="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A3D6B9D-FDB9-409D-A747-E73B4DE87BD0}" type="slidenum">
              <a:rPr lang="de-DE" sz="1600" smtClean="0">
                <a:solidFill>
                  <a:schemeClr val="bg2">
                    <a:lumMod val="50000"/>
                  </a:schemeClr>
                </a:solidFill>
                <a:latin typeface="Bahnschrift SemiBold" panose="020B0502040204020203" pitchFamily="34" charset="0"/>
              </a:rPr>
              <a:pPr algn="ctr"/>
              <a:t>‹Nr.›</a:t>
            </a:fld>
            <a:endParaRPr lang="de-DE" sz="1600">
              <a:solidFill>
                <a:schemeClr val="bg2">
                  <a:lumMod val="5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0D0F6DEC-F40B-4D62-AA42-C1A482C099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42072" y="6411401"/>
            <a:ext cx="1943723" cy="179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1">
                <a:solidFill>
                  <a:schemeClr val="tx2"/>
                </a:solidFill>
                <a:latin typeface="Bahnschrift SemiBold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de-DE"/>
              <a:t>Titel oder Kapitel</a:t>
            </a:r>
          </a:p>
        </p:txBody>
      </p:sp>
      <p:sp>
        <p:nvSpPr>
          <p:cNvPr id="10" name="Titelplatzhalter 1">
            <a:extLst>
              <a:ext uri="{FF2B5EF4-FFF2-40B4-BE49-F238E27FC236}">
                <a16:creationId xmlns:a16="http://schemas.microsoft.com/office/drawing/2014/main" id="{DD70947C-CB6C-43B8-8E8A-DE4F7A67C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99" y="0"/>
            <a:ext cx="11644531" cy="10450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71070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AAF8DC-9242-4928-B767-FDE1B0AA2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Foliennummernplatzhalter 1">
            <a:extLst>
              <a:ext uri="{FF2B5EF4-FFF2-40B4-BE49-F238E27FC236}">
                <a16:creationId xmlns:a16="http://schemas.microsoft.com/office/drawing/2014/main" id="{287EA619-D5AD-4620-81F1-0380A4B7B8EE}"/>
              </a:ext>
            </a:extLst>
          </p:cNvPr>
          <p:cNvSpPr txBox="1">
            <a:spLocks/>
          </p:cNvSpPr>
          <p:nvPr userDrawn="1"/>
        </p:nvSpPr>
        <p:spPr>
          <a:xfrm>
            <a:off x="251999" y="6318430"/>
            <a:ext cx="64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lang="de-DE" sz="1600" b="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A3D6B9D-FDB9-409D-A747-E73B4DE87BD0}" type="slidenum">
              <a:rPr lang="de-DE" sz="1600" smtClean="0">
                <a:solidFill>
                  <a:schemeClr val="bg2">
                    <a:lumMod val="50000"/>
                  </a:schemeClr>
                </a:solidFill>
                <a:latin typeface="Bahnschrift SemiBold" panose="020B0502040204020203" pitchFamily="34" charset="0"/>
              </a:rPr>
              <a:pPr algn="ctr"/>
              <a:t>‹Nr.›</a:t>
            </a:fld>
            <a:endParaRPr lang="de-DE" sz="1600">
              <a:solidFill>
                <a:schemeClr val="bg2">
                  <a:lumMod val="5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6" name="Textplatzhalter 9">
            <a:extLst>
              <a:ext uri="{FF2B5EF4-FFF2-40B4-BE49-F238E27FC236}">
                <a16:creationId xmlns:a16="http://schemas.microsoft.com/office/drawing/2014/main" id="{6590293A-F110-483C-961D-8619AF147D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42072" y="6411401"/>
            <a:ext cx="1943723" cy="179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1">
                <a:solidFill>
                  <a:schemeClr val="tx2"/>
                </a:solidFill>
                <a:latin typeface="Bahnschrift SemiBold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de-DE"/>
              <a:t>Titel oder Kapitel</a:t>
            </a:r>
          </a:p>
        </p:txBody>
      </p:sp>
    </p:spTree>
    <p:extLst>
      <p:ext uri="{BB962C8B-B14F-4D97-AF65-F5344CB8AC3E}">
        <p14:creationId xmlns:p14="http://schemas.microsoft.com/office/powerpoint/2010/main" val="2672065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36323B-4416-4FC3-85E9-B69902A68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999" y="1219200"/>
            <a:ext cx="5683513" cy="495776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D454876-334D-4715-9BC4-A70410DC86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65601" y="6096000"/>
            <a:ext cx="905819" cy="634999"/>
          </a:xfrm>
          <a:prstGeom prst="rect">
            <a:avLst/>
          </a:prstGeom>
        </p:spPr>
      </p:pic>
      <p:sp>
        <p:nvSpPr>
          <p:cNvPr id="8" name="Foliennummernplatzhalter 1">
            <a:extLst>
              <a:ext uri="{FF2B5EF4-FFF2-40B4-BE49-F238E27FC236}">
                <a16:creationId xmlns:a16="http://schemas.microsoft.com/office/drawing/2014/main" id="{48E1717E-E3C5-4EB2-8449-501AF07790DA}"/>
              </a:ext>
            </a:extLst>
          </p:cNvPr>
          <p:cNvSpPr txBox="1">
            <a:spLocks/>
          </p:cNvSpPr>
          <p:nvPr userDrawn="1"/>
        </p:nvSpPr>
        <p:spPr>
          <a:xfrm>
            <a:off x="251999" y="6318430"/>
            <a:ext cx="64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lang="de-DE" sz="1600" b="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A3D6B9D-FDB9-409D-A747-E73B4DE87BD0}" type="slidenum">
              <a:rPr lang="de-DE" sz="1600" smtClean="0">
                <a:solidFill>
                  <a:schemeClr val="bg2">
                    <a:lumMod val="50000"/>
                  </a:schemeClr>
                </a:solidFill>
                <a:latin typeface="Bahnschrift SemiBold" panose="020B0502040204020203" pitchFamily="34" charset="0"/>
              </a:rPr>
              <a:pPr algn="ctr"/>
              <a:t>‹Nr.›</a:t>
            </a:fld>
            <a:endParaRPr lang="de-DE" sz="1600">
              <a:solidFill>
                <a:schemeClr val="bg2">
                  <a:lumMod val="5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0D0F6DEC-F40B-4D62-AA42-C1A482C099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42072" y="6411401"/>
            <a:ext cx="1943723" cy="179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1">
                <a:solidFill>
                  <a:schemeClr val="tx2"/>
                </a:solidFill>
                <a:latin typeface="Bahnschrift SemiBold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de-DE"/>
              <a:t>Titel oder Kapitel</a:t>
            </a:r>
          </a:p>
        </p:txBody>
      </p:sp>
      <p:sp>
        <p:nvSpPr>
          <p:cNvPr id="10" name="Titelplatzhalter 1">
            <a:extLst>
              <a:ext uri="{FF2B5EF4-FFF2-40B4-BE49-F238E27FC236}">
                <a16:creationId xmlns:a16="http://schemas.microsoft.com/office/drawing/2014/main" id="{DD70947C-CB6C-43B8-8E8A-DE4F7A67C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99" y="0"/>
            <a:ext cx="11644531" cy="10450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021A6906-83B1-4C62-83BB-DC1A560CE61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13016" y="1219200"/>
            <a:ext cx="5683513" cy="495776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4221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67130702-7679-4683-AB83-FECB2FA0D8D5}"/>
              </a:ext>
            </a:extLst>
          </p:cNvPr>
          <p:cNvSpPr/>
          <p:nvPr userDrawn="1"/>
        </p:nvSpPr>
        <p:spPr>
          <a:xfrm>
            <a:off x="0" y="1045030"/>
            <a:ext cx="12192000" cy="5131934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36323B-4416-4FC3-85E9-B69902A6852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2000" y="1219200"/>
            <a:ext cx="11719420" cy="473533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>
                    <a:lumMod val="40000"/>
                    <a:lumOff val="60000"/>
                  </a:schemeClr>
                </a:solidFill>
                <a:latin typeface="Fira Mono" panose="020B0509050000020004" pitchFamily="49" charset="0"/>
                <a:ea typeface="Fira Mono" panose="020B0509050000020004" pitchFamily="49" charset="0"/>
              </a:defRPr>
            </a:lvl1pPr>
            <a:lvl2pPr marL="457200" indent="0">
              <a:buNone/>
              <a:defRPr>
                <a:solidFill>
                  <a:schemeClr val="bg2">
                    <a:lumMod val="40000"/>
                    <a:lumOff val="60000"/>
                  </a:schemeClr>
                </a:solidFill>
                <a:latin typeface="Fira Mono" panose="020B0509050000020004" pitchFamily="49" charset="0"/>
                <a:ea typeface="Fira Mono" panose="020B0509050000020004" pitchFamily="49" charset="0"/>
              </a:defRPr>
            </a:lvl2pPr>
            <a:lvl3pPr marL="914400" indent="0">
              <a:buNone/>
              <a:defRPr>
                <a:solidFill>
                  <a:schemeClr val="bg2">
                    <a:lumMod val="40000"/>
                    <a:lumOff val="60000"/>
                  </a:schemeClr>
                </a:solidFill>
                <a:latin typeface="Fira Mono" panose="020B0509050000020004" pitchFamily="49" charset="0"/>
                <a:ea typeface="Fira Mono" panose="020B0509050000020004" pitchFamily="49" charset="0"/>
              </a:defRPr>
            </a:lvl3pPr>
            <a:lvl4pPr marL="1371600" indent="0">
              <a:buNone/>
              <a:defRPr>
                <a:solidFill>
                  <a:schemeClr val="bg2">
                    <a:lumMod val="40000"/>
                    <a:lumOff val="60000"/>
                  </a:schemeClr>
                </a:solidFill>
                <a:latin typeface="Fira Mono" panose="020B0509050000020004" pitchFamily="49" charset="0"/>
                <a:ea typeface="Fira Mono" panose="020B0509050000020004" pitchFamily="49" charset="0"/>
              </a:defRPr>
            </a:lvl4pPr>
            <a:lvl5pPr marL="1828800" indent="0">
              <a:buNone/>
              <a:defRPr>
                <a:solidFill>
                  <a:schemeClr val="bg2">
                    <a:lumMod val="40000"/>
                    <a:lumOff val="60000"/>
                  </a:schemeClr>
                </a:solidFill>
                <a:latin typeface="Fira Mono" panose="020B0509050000020004" pitchFamily="49" charset="0"/>
                <a:ea typeface="Fira Mono" panose="020B0509050000020004" pitchFamily="49" charset="0"/>
              </a:defRPr>
            </a:lvl5pPr>
          </a:lstStyle>
          <a:p>
            <a:pPr lvl="0"/>
            <a:r>
              <a:rPr lang="de-DE" err="1"/>
              <a:t>rule</a:t>
            </a:r>
            <a:r>
              <a:rPr lang="de-DE"/>
              <a:t> </a:t>
            </a:r>
            <a:r>
              <a:rPr lang="de-DE" err="1"/>
              <a:t>map_genome_all</a:t>
            </a:r>
            <a:r>
              <a:rPr lang="de-DE"/>
              <a:t>:</a:t>
            </a:r>
          </a:p>
          <a:p>
            <a:pPr lvl="0"/>
            <a:r>
              <a:rPr lang="de-DE"/>
              <a:t>    </a:t>
            </a:r>
            <a:r>
              <a:rPr lang="de-DE" err="1"/>
              <a:t>input</a:t>
            </a:r>
            <a:r>
              <a:rPr lang="de-DE"/>
              <a:t>: </a:t>
            </a:r>
          </a:p>
          <a:p>
            <a:pPr lvl="0"/>
            <a:r>
              <a:rPr lang="de-DE"/>
              <a:t>        </a:t>
            </a:r>
            <a:r>
              <a:rPr lang="de-DE" err="1"/>
              <a:t>genome</a:t>
            </a:r>
            <a:r>
              <a:rPr lang="de-DE"/>
              <a:t> = </a:t>
            </a:r>
            <a:r>
              <a:rPr lang="de-DE" err="1"/>
              <a:t>config</a:t>
            </a:r>
            <a:r>
              <a:rPr lang="de-DE"/>
              <a:t>['</a:t>
            </a:r>
            <a:r>
              <a:rPr lang="de-DE" err="1"/>
              <a:t>ref</a:t>
            </a:r>
            <a:r>
              <a:rPr lang="de-DE"/>
              <a:t>']['</a:t>
            </a:r>
            <a:r>
              <a:rPr lang="de-DE" err="1"/>
              <a:t>genome</a:t>
            </a:r>
            <a:r>
              <a:rPr lang="de-DE"/>
              <a:t>'],</a:t>
            </a:r>
          </a:p>
          <a:p>
            <a:pPr lvl="0"/>
            <a:r>
              <a:rPr lang="de-DE"/>
              <a:t>        </a:t>
            </a:r>
            <a:r>
              <a:rPr lang="de-DE" err="1"/>
              <a:t>fq</a:t>
            </a:r>
            <a:r>
              <a:rPr lang="de-DE"/>
              <a:t> = "Sample_{sample}/{sample}.fastq.gz"</a:t>
            </a:r>
          </a:p>
          <a:p>
            <a:pPr lvl="0"/>
            <a:r>
              <a:rPr lang="de-DE"/>
              <a:t>    </a:t>
            </a:r>
            <a:r>
              <a:rPr lang="de-DE" err="1"/>
              <a:t>output</a:t>
            </a:r>
            <a:r>
              <a:rPr lang="de-DE"/>
              <a:t>: </a:t>
            </a:r>
          </a:p>
          <a:p>
            <a:pPr lvl="0"/>
            <a:r>
              <a:rPr lang="de-DE"/>
              <a:t>        bam = "Sample_{sample}/{sample}.bam",</a:t>
            </a:r>
          </a:p>
          <a:p>
            <a:pPr lvl="0"/>
            <a:r>
              <a:rPr lang="de-DE"/>
              <a:t>        </a:t>
            </a:r>
            <a:r>
              <a:rPr lang="de-DE" err="1"/>
              <a:t>bai</a:t>
            </a:r>
            <a:r>
              <a:rPr lang="de-DE"/>
              <a:t>= "Sample_{sample}/{sample}.</a:t>
            </a:r>
            <a:r>
              <a:rPr lang="de-DE" err="1"/>
              <a:t>bam.bai</a:t>
            </a:r>
            <a:r>
              <a:rPr lang="de-DE"/>
              <a:t>"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D454876-334D-4715-9BC4-A70410DC86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65601" y="6096000"/>
            <a:ext cx="905819" cy="634999"/>
          </a:xfrm>
          <a:prstGeom prst="rect">
            <a:avLst/>
          </a:prstGeom>
        </p:spPr>
      </p:pic>
      <p:sp>
        <p:nvSpPr>
          <p:cNvPr id="8" name="Foliennummernplatzhalter 1">
            <a:extLst>
              <a:ext uri="{FF2B5EF4-FFF2-40B4-BE49-F238E27FC236}">
                <a16:creationId xmlns:a16="http://schemas.microsoft.com/office/drawing/2014/main" id="{48E1717E-E3C5-4EB2-8449-501AF07790DA}"/>
              </a:ext>
            </a:extLst>
          </p:cNvPr>
          <p:cNvSpPr txBox="1">
            <a:spLocks/>
          </p:cNvSpPr>
          <p:nvPr userDrawn="1"/>
        </p:nvSpPr>
        <p:spPr>
          <a:xfrm>
            <a:off x="251999" y="6318430"/>
            <a:ext cx="64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lang="de-DE" sz="1600" b="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A3D6B9D-FDB9-409D-A747-E73B4DE87BD0}" type="slidenum">
              <a:rPr lang="de-DE" sz="1600" smtClean="0">
                <a:solidFill>
                  <a:schemeClr val="bg2">
                    <a:lumMod val="50000"/>
                  </a:schemeClr>
                </a:solidFill>
                <a:latin typeface="Bahnschrift SemiBold" panose="020B0502040204020203" pitchFamily="34" charset="0"/>
              </a:rPr>
              <a:pPr algn="ctr"/>
              <a:t>‹Nr.›</a:t>
            </a:fld>
            <a:endParaRPr lang="de-DE" sz="1600">
              <a:solidFill>
                <a:schemeClr val="bg2">
                  <a:lumMod val="5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0D0F6DEC-F40B-4D62-AA42-C1A482C099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42072" y="6411401"/>
            <a:ext cx="1943723" cy="179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1">
                <a:solidFill>
                  <a:schemeClr val="tx2"/>
                </a:solidFill>
                <a:latin typeface="Bahnschrift SemiBold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de-DE"/>
              <a:t>Titel oder Kapitel</a:t>
            </a:r>
          </a:p>
        </p:txBody>
      </p:sp>
      <p:sp>
        <p:nvSpPr>
          <p:cNvPr id="10" name="Titelplatzhalter 1">
            <a:extLst>
              <a:ext uri="{FF2B5EF4-FFF2-40B4-BE49-F238E27FC236}">
                <a16:creationId xmlns:a16="http://schemas.microsoft.com/office/drawing/2014/main" id="{DD70947C-CB6C-43B8-8E8A-DE4F7A67C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99" y="0"/>
            <a:ext cx="11644531" cy="10450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14057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A_Text-/ Bil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1F6AA92C-44AB-42CC-BBEC-9D0DE503936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" y="0"/>
            <a:ext cx="12192000" cy="6096000"/>
          </a:xfrm>
          <a:prstGeom prst="rect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r="6"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7" name="Textplatzhalter 20">
            <a:extLst>
              <a:ext uri="{FF2B5EF4-FFF2-40B4-BE49-F238E27FC236}">
                <a16:creationId xmlns:a16="http://schemas.microsoft.com/office/drawing/2014/main" id="{2B2367C0-1AEF-4135-8057-FD1D58C8E7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67415"/>
            <a:ext cx="3629608" cy="494585"/>
          </a:xfrm>
          <a:prstGeom prst="rect">
            <a:avLst/>
          </a:prstGeom>
          <a:solidFill>
            <a:schemeClr val="tx2">
              <a:alpha val="70000"/>
            </a:schemeClr>
          </a:solidFill>
        </p:spPr>
        <p:txBody>
          <a:bodyPr lIns="378000" tIns="10800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 b="1">
                <a:solidFill>
                  <a:schemeClr val="bg2">
                    <a:lumMod val="20000"/>
                    <a:lumOff val="80000"/>
                  </a:schemeClr>
                </a:solidFill>
                <a:latin typeface="Source Sans Pro SemiBold" panose="020B0603030403020204" pitchFamily="34" charset="0"/>
                <a:ea typeface="Source Sans Pro SemiBold" panose="020B0603030403020204" pitchFamily="34" charset="0"/>
              </a:defRPr>
            </a:lvl1pPr>
            <a:lvl2pPr marL="0" indent="0">
              <a:lnSpc>
                <a:spcPct val="100000"/>
              </a:lnSpc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 marL="2160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432000" indent="0">
              <a:buNone/>
              <a:defRPr>
                <a:solidFill>
                  <a:schemeClr val="bg1"/>
                </a:solidFill>
              </a:defRPr>
            </a:lvl4pPr>
            <a:lvl5pPr marL="64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Bildbeschriftung einer Bilderfolie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FEF8E17-D11A-4DCE-9C36-B9F344D2AB1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65601" y="6096000"/>
            <a:ext cx="905819" cy="634999"/>
          </a:xfrm>
          <a:prstGeom prst="rect">
            <a:avLst/>
          </a:prstGeom>
        </p:spPr>
      </p:pic>
      <p:sp>
        <p:nvSpPr>
          <p:cNvPr id="8" name="Foliennummernplatzhalter 1">
            <a:extLst>
              <a:ext uri="{FF2B5EF4-FFF2-40B4-BE49-F238E27FC236}">
                <a16:creationId xmlns:a16="http://schemas.microsoft.com/office/drawing/2014/main" id="{95541905-FE64-4C18-B2CB-0327F087E5F0}"/>
              </a:ext>
            </a:extLst>
          </p:cNvPr>
          <p:cNvSpPr txBox="1">
            <a:spLocks/>
          </p:cNvSpPr>
          <p:nvPr userDrawn="1"/>
        </p:nvSpPr>
        <p:spPr>
          <a:xfrm>
            <a:off x="251999" y="6318430"/>
            <a:ext cx="64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lang="de-DE" sz="1600" b="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A3D6B9D-FDB9-409D-A747-E73B4DE87BD0}" type="slidenum">
              <a:rPr lang="de-DE" sz="1600" smtClean="0">
                <a:solidFill>
                  <a:schemeClr val="bg2">
                    <a:lumMod val="50000"/>
                  </a:schemeClr>
                </a:solidFill>
                <a:latin typeface="Bahnschrift SemiBold" panose="020B0502040204020203" pitchFamily="34" charset="0"/>
              </a:rPr>
              <a:pPr algn="ctr"/>
              <a:t>‹Nr.›</a:t>
            </a:fld>
            <a:endParaRPr lang="de-DE" sz="1600">
              <a:solidFill>
                <a:schemeClr val="bg2">
                  <a:lumMod val="5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8BAB32AF-EDDE-4B43-B7F9-BB95ACA1563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42072" y="6411401"/>
            <a:ext cx="1943723" cy="179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1">
                <a:solidFill>
                  <a:schemeClr val="tx2"/>
                </a:solidFill>
                <a:latin typeface="Bahnschrift SemiBold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de-DE"/>
              <a:t>Titel oder Kapitel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15874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C_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4">
            <a:extLst>
              <a:ext uri="{FF2B5EF4-FFF2-40B4-BE49-F238E27FC236}">
                <a16:creationId xmlns:a16="http://schemas.microsoft.com/office/drawing/2014/main" id="{00F514EB-99C2-49D8-BE98-F9FF5B3823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587" y="3155743"/>
            <a:ext cx="11588833" cy="2557096"/>
          </a:xfrm>
          <a:prstGeom prst="rect">
            <a:avLst/>
          </a:prstGeom>
        </p:spPr>
        <p:txBody>
          <a:bodyPr lIns="0" tIns="0" rIns="0" bIns="0" numCol="1" spcCol="36000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216000" indent="0">
              <a:buFont typeface="Arial" panose="020B0604020202020204" pitchFamily="34" charset="0"/>
              <a:buNone/>
              <a:defRPr/>
            </a:lvl3pPr>
            <a:lvl4pPr marL="432000" indent="0">
              <a:buNone/>
              <a:defRPr/>
            </a:lvl4pPr>
            <a:lvl5pPr marL="648000" indent="0">
              <a:buNone/>
              <a:defRPr/>
            </a:lvl5pPr>
          </a:lstStyle>
          <a:p>
            <a:pPr lvl="0"/>
            <a:r>
              <a:rPr lang="de-DE" err="1"/>
              <a:t>Subline</a:t>
            </a:r>
            <a:r>
              <a:rPr lang="de-DE"/>
              <a:t> 24 </a:t>
            </a:r>
            <a:r>
              <a:rPr lang="de-DE" err="1"/>
              <a:t>pt</a:t>
            </a:r>
            <a:r>
              <a:rPr lang="de-DE"/>
              <a:t> – als bekanntester Blindtext gilt der Text „</a:t>
            </a:r>
            <a:r>
              <a:rPr lang="de-DE" err="1"/>
              <a:t>Lorem</a:t>
            </a:r>
            <a:r>
              <a:rPr lang="de-DE"/>
              <a:t> </a:t>
            </a:r>
            <a:r>
              <a:rPr lang="de-DE" err="1"/>
              <a:t>ipsum</a:t>
            </a:r>
            <a:r>
              <a:rPr lang="de-DE"/>
              <a:t>“, der seinen Ursprung im 16. Jahrhundert haben soll. </a:t>
            </a:r>
            <a:r>
              <a:rPr lang="de-DE" err="1"/>
              <a:t>Lorem</a:t>
            </a:r>
            <a:r>
              <a:rPr lang="de-DE"/>
              <a:t> </a:t>
            </a:r>
            <a:r>
              <a:rPr lang="de-DE" err="1"/>
              <a:t>ipsum</a:t>
            </a:r>
            <a:r>
              <a:rPr lang="de-DE"/>
              <a:t> ist in einer pseudo-lateinischen Sprache verfasst, die ungefähr dem „natürlichen“ Latein entspricht. In Ihm finden sich eine Reihe realer lateinischer Wörter.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90E7B514-C5BD-4DBF-A1C1-6A6DE08E3D7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044825"/>
          </a:xfrm>
          <a:prstGeom prst="rect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r="6"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0308BB0-9753-45FA-9712-B1A0B0031FE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65601" y="6096000"/>
            <a:ext cx="905819" cy="634999"/>
          </a:xfrm>
          <a:prstGeom prst="rect">
            <a:avLst/>
          </a:prstGeom>
        </p:spPr>
      </p:pic>
      <p:sp>
        <p:nvSpPr>
          <p:cNvPr id="11" name="Textplatzhalter 20">
            <a:extLst>
              <a:ext uri="{FF2B5EF4-FFF2-40B4-BE49-F238E27FC236}">
                <a16:creationId xmlns:a16="http://schemas.microsoft.com/office/drawing/2014/main" id="{97303098-0CE6-4499-AC50-95874CD4F9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890926"/>
            <a:ext cx="5905500" cy="1810638"/>
          </a:xfrm>
          <a:prstGeom prst="rect">
            <a:avLst/>
          </a:prstGeom>
          <a:solidFill>
            <a:srgbClr val="D6CBAC">
              <a:alpha val="47843"/>
            </a:srgbClr>
          </a:solidFill>
        </p:spPr>
        <p:txBody>
          <a:bodyPr lIns="378000" tIns="252000" bIns="144000">
            <a:spAutoFit/>
          </a:bodyPr>
          <a:lstStyle>
            <a:lvl1pPr marL="0" indent="0">
              <a:lnSpc>
                <a:spcPts val="5000"/>
              </a:lnSpc>
              <a:buFont typeface="Arial" panose="020B0604020202020204" pitchFamily="34" charset="0"/>
              <a:buNone/>
              <a:defRPr sz="4800" b="1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 marL="2160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432000" indent="0">
              <a:buNone/>
              <a:defRPr>
                <a:solidFill>
                  <a:schemeClr val="bg1"/>
                </a:solidFill>
              </a:defRPr>
            </a:lvl4pPr>
            <a:lvl5pPr marL="64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 der Folie 48 </a:t>
            </a:r>
            <a:r>
              <a:rPr lang="de-DE" err="1"/>
              <a:t>pt</a:t>
            </a:r>
            <a:endParaRPr lang="de-DE"/>
          </a:p>
          <a:p>
            <a:pPr lvl="0"/>
            <a:r>
              <a:rPr lang="de-DE"/>
              <a:t>und Zeile zwei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ACEC8142-F3DA-4CDB-8CB5-3AD5C64F73E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65601" y="6096000"/>
            <a:ext cx="905819" cy="634999"/>
          </a:xfrm>
          <a:prstGeom prst="rect">
            <a:avLst/>
          </a:prstGeom>
        </p:spPr>
      </p:pic>
      <p:sp>
        <p:nvSpPr>
          <p:cNvPr id="13" name="Foliennummernplatzhalter 1">
            <a:extLst>
              <a:ext uri="{FF2B5EF4-FFF2-40B4-BE49-F238E27FC236}">
                <a16:creationId xmlns:a16="http://schemas.microsoft.com/office/drawing/2014/main" id="{71654612-BC5F-422A-9EA9-97AF62AC51E1}"/>
              </a:ext>
            </a:extLst>
          </p:cNvPr>
          <p:cNvSpPr txBox="1">
            <a:spLocks/>
          </p:cNvSpPr>
          <p:nvPr userDrawn="1"/>
        </p:nvSpPr>
        <p:spPr>
          <a:xfrm>
            <a:off x="251999" y="6318430"/>
            <a:ext cx="64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lang="de-DE" sz="1600" b="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A3D6B9D-FDB9-409D-A747-E73B4DE87BD0}" type="slidenum">
              <a:rPr lang="de-DE" sz="1600" smtClean="0">
                <a:solidFill>
                  <a:schemeClr val="bg2">
                    <a:lumMod val="50000"/>
                  </a:schemeClr>
                </a:solidFill>
                <a:latin typeface="Bahnschrift SemiBold" panose="020B0502040204020203" pitchFamily="34" charset="0"/>
              </a:rPr>
              <a:pPr algn="ctr"/>
              <a:t>‹Nr.›</a:t>
            </a:fld>
            <a:endParaRPr lang="de-DE" sz="1600">
              <a:solidFill>
                <a:schemeClr val="bg2">
                  <a:lumMod val="5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2AA70ACB-7D05-485A-813D-91A5B166A1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42072" y="6411401"/>
            <a:ext cx="1943723" cy="179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1">
                <a:solidFill>
                  <a:schemeClr val="tx2"/>
                </a:solidFill>
                <a:latin typeface="Bahnschrift SemiBold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de-DE"/>
              <a:t>Titel oder Kapitel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5201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8DF968F-4F4A-475A-A376-61B0001BB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99" y="0"/>
            <a:ext cx="11644531" cy="10450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4CE9F9D-BD5E-4917-80B3-9983C3B61ED9}"/>
              </a:ext>
            </a:extLst>
          </p:cNvPr>
          <p:cNvSpPr/>
          <p:nvPr userDrawn="1"/>
        </p:nvSpPr>
        <p:spPr>
          <a:xfrm>
            <a:off x="0" y="6731000"/>
            <a:ext cx="12191999" cy="127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2490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6" r:id="rId3"/>
    <p:sldLayoutId id="2147483658" r:id="rId4"/>
    <p:sldLayoutId id="2147483659" r:id="rId5"/>
    <p:sldLayoutId id="2147483653" r:id="rId6"/>
    <p:sldLayoutId id="2147483654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Source Sans Pro SemiBold" panose="020B0603030403020204" pitchFamily="34" charset="0"/>
          <a:ea typeface="Source Sans Pro SemiBold" panose="020B060303040302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hyperlink" Target="https://a.storyblok.com/f/196663/2736df3ca2/plant-pore-c-workflow.pdf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39.png"/><Relationship Id="rId3" Type="http://schemas.openxmlformats.org/officeDocument/2006/relationships/image" Target="../media/image30.png"/><Relationship Id="rId7" Type="http://schemas.openxmlformats.org/officeDocument/2006/relationships/image" Target="../media/image34.jpe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jpeg"/><Relationship Id="rId11" Type="http://schemas.openxmlformats.org/officeDocument/2006/relationships/image" Target="../media/image37.png"/><Relationship Id="rId5" Type="http://schemas.openxmlformats.org/officeDocument/2006/relationships/image" Target="../media/image32.jpe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31.jpeg"/><Relationship Id="rId9" Type="http://schemas.openxmlformats.org/officeDocument/2006/relationships/image" Target="../media/image8.tiff"/><Relationship Id="rId1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259F97-CD10-4D33-89BB-6219D888D5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CF9AE4A-28E4-49A1-B6D7-65CB468703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DDBD2650-A748-4E63-92A7-1B61C5CC536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E18EC46-E9D5-47BA-A49B-85B4B502B88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2869950"/>
            <a:ext cx="5403850" cy="1682398"/>
          </a:xfrm>
        </p:spPr>
        <p:txBody>
          <a:bodyPr/>
          <a:lstStyle/>
          <a:p>
            <a:r>
              <a:rPr lang="de-DE" dirty="0" err="1"/>
              <a:t>Nanopore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T2T </a:t>
            </a:r>
            <a:r>
              <a:rPr lang="de-DE" dirty="0" err="1"/>
              <a:t>Assemblies</a:t>
            </a:r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BCC45E8-3740-4292-A0C8-DC053318A3D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2588" y="5671752"/>
            <a:ext cx="3582987" cy="586908"/>
          </a:xfrm>
        </p:spPr>
        <p:txBody>
          <a:bodyPr/>
          <a:lstStyle/>
          <a:p>
            <a:r>
              <a:rPr lang="de-DE"/>
              <a:t>ESHG 2025, Milano</a:t>
            </a:r>
            <a:br>
              <a:rPr lang="de-DE"/>
            </a:br>
            <a:r>
              <a:rPr lang="de-DE"/>
              <a:t>Caspar </a:t>
            </a:r>
            <a:r>
              <a:rPr lang="de-DE" err="1"/>
              <a:t>Gross</a:t>
            </a:r>
            <a:br>
              <a:rPr lang="de-DE"/>
            </a:b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0500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9BDF7E6-ACD4-6345-8FDF-9C6442EC3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999" y="1219200"/>
            <a:ext cx="4452547" cy="4957764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de-DE" dirty="0">
                <a:latin typeface="Source Sans Pro"/>
                <a:ea typeface="Source Sans Pro"/>
              </a:rPr>
              <a:t>28 Institutes </a:t>
            </a:r>
            <a:r>
              <a:rPr lang="de-DE" dirty="0" err="1">
                <a:latin typeface="Source Sans Pro"/>
                <a:ea typeface="Source Sans Pro"/>
              </a:rPr>
              <a:t>from</a:t>
            </a:r>
            <a:r>
              <a:rPr lang="de-DE" dirty="0">
                <a:latin typeface="Source Sans Pro"/>
                <a:ea typeface="Source Sans Pro"/>
              </a:rPr>
              <a:t> Europe </a:t>
            </a:r>
            <a:br>
              <a:rPr lang="de-DE" dirty="0"/>
            </a:br>
            <a:r>
              <a:rPr lang="de-DE" dirty="0" err="1">
                <a:latin typeface="Source Sans Pro"/>
                <a:ea typeface="Source Sans Pro"/>
              </a:rPr>
              <a:t>Sequencing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goal</a:t>
            </a:r>
            <a:r>
              <a:rPr lang="de-DE" dirty="0">
                <a:latin typeface="Source Sans Pro"/>
                <a:ea typeface="Source Sans Pro"/>
              </a:rPr>
              <a:t>: 500 000 </a:t>
            </a:r>
            <a:r>
              <a:rPr lang="de-DE" dirty="0" err="1">
                <a:latin typeface="Source Sans Pro"/>
                <a:ea typeface="Source Sans Pro"/>
              </a:rPr>
              <a:t>genomes</a:t>
            </a:r>
            <a:endParaRPr lang="de-DE" dirty="0">
              <a:latin typeface="Source Sans Pro"/>
              <a:ea typeface="Source Sans Pro"/>
            </a:endParaRP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>
                <a:latin typeface="Source Sans Pro"/>
                <a:ea typeface="Source Sans Pro"/>
              </a:rPr>
              <a:t>At Tübingen University Hospital :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de-DE" dirty="0">
                <a:latin typeface="Source Sans Pro"/>
                <a:ea typeface="Source Sans Pro"/>
              </a:rPr>
              <a:t>Planned 20 000 </a:t>
            </a:r>
            <a:r>
              <a:rPr lang="de-DE" dirty="0" err="1">
                <a:latin typeface="Source Sans Pro"/>
                <a:ea typeface="Source Sans Pro"/>
              </a:rPr>
              <a:t>genomes</a:t>
            </a:r>
            <a:endParaRPr lang="de-DE" dirty="0">
              <a:latin typeface="Source Sans Pro"/>
              <a:ea typeface="Source Sans Pro"/>
            </a:endParaRP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de-DE" dirty="0">
                <a:latin typeface="Source Sans Pro"/>
                <a:ea typeface="Source Sans Pro"/>
              </a:rPr>
              <a:t>Twin Study (n = 400 </a:t>
            </a:r>
            <a:r>
              <a:rPr lang="de-DE" dirty="0" err="1">
                <a:latin typeface="Source Sans Pro"/>
                <a:ea typeface="Source Sans Pro"/>
              </a:rPr>
              <a:t>pairs</a:t>
            </a:r>
            <a:r>
              <a:rPr lang="de-DE" dirty="0">
                <a:latin typeface="Source Sans Pro"/>
                <a:ea typeface="Source Sans Pro"/>
              </a:rPr>
              <a:t>) WGS-LR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de-DE" b="1" dirty="0">
                <a:latin typeface="Source Sans Pro"/>
                <a:ea typeface="Source Sans Pro"/>
              </a:rPr>
              <a:t>23 T2T </a:t>
            </a:r>
            <a:r>
              <a:rPr lang="de-DE" b="1" dirty="0" err="1">
                <a:latin typeface="Source Sans Pro"/>
                <a:ea typeface="Source Sans Pro"/>
              </a:rPr>
              <a:t>Genomes</a:t>
            </a:r>
            <a:r>
              <a:rPr lang="de-DE" b="1" dirty="0">
                <a:latin typeface="Source Sans Pro"/>
                <a:ea typeface="Source Sans Pro"/>
              </a:rPr>
              <a:t> </a:t>
            </a:r>
            <a:endParaRPr lang="de-DE" b="1" dirty="0"/>
          </a:p>
          <a:p>
            <a:pPr>
              <a:buFont typeface="Calibri"/>
              <a:buChar char="-"/>
            </a:pPr>
            <a:endParaRPr lang="de-DE" dirty="0"/>
          </a:p>
          <a:p>
            <a:pPr marL="0" indent="0">
              <a:buNone/>
            </a:pPr>
            <a:r>
              <a:rPr lang="de-DE" dirty="0">
                <a:latin typeface="Source Sans Pro"/>
                <a:ea typeface="Source Sans Pro"/>
              </a:rPr>
              <a:t>T2T </a:t>
            </a:r>
            <a:r>
              <a:rPr lang="de-DE" dirty="0" err="1">
                <a:latin typeface="Source Sans Pro"/>
                <a:ea typeface="Source Sans Pro"/>
              </a:rPr>
              <a:t>genomes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sampled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mainly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from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institute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members</a:t>
            </a:r>
            <a:r>
              <a:rPr lang="de-DE" dirty="0">
                <a:latin typeface="Source Sans Pro"/>
                <a:ea typeface="Source Sans Pro"/>
              </a:rPr>
              <a:t>, </a:t>
            </a:r>
            <a:r>
              <a:rPr lang="de-DE" dirty="0" err="1">
                <a:latin typeface="Source Sans Pro"/>
                <a:ea typeface="Source Sans Pro"/>
              </a:rPr>
              <a:t>aiming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for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broad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ethnic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background</a:t>
            </a:r>
            <a:r>
              <a:rPr lang="de-DE" dirty="0">
                <a:latin typeface="Source Sans Pro"/>
                <a:ea typeface="Source Sans Pro"/>
              </a:rPr>
              <a:t>. 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>
              <a:buFont typeface="Calibri"/>
              <a:buChar char="-"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>
              <a:buFont typeface="Calibri" panose="020B0604020202020204" pitchFamily="34" charset="0"/>
              <a:buChar char="-"/>
            </a:pP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2917520-C27B-BF81-77B0-2CDD9FAA3C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9DAB72AB-44AE-169E-B4CB-17909CC3A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T2T </a:t>
            </a:r>
            <a:r>
              <a:rPr lang="de-DE" err="1"/>
              <a:t>Assemblies</a:t>
            </a:r>
            <a:r>
              <a:rPr lang="de-DE"/>
              <a:t> </a:t>
            </a:r>
            <a:r>
              <a:rPr lang="de-DE" err="1"/>
              <a:t>as</a:t>
            </a:r>
            <a:r>
              <a:rPr lang="de-DE"/>
              <a:t> </a:t>
            </a:r>
            <a:r>
              <a:rPr lang="de-DE" err="1"/>
              <a:t>part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Genomes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Europe</a:t>
            </a:r>
          </a:p>
        </p:txBody>
      </p:sp>
      <p:pic>
        <p:nvPicPr>
          <p:cNvPr id="5" name="Picture 18" descr="A logo with blue dots and dots&#10;&#10;AI-generated content may be incorrect.">
            <a:extLst>
              <a:ext uri="{FF2B5EF4-FFF2-40B4-BE49-F238E27FC236}">
                <a16:creationId xmlns:a16="http://schemas.microsoft.com/office/drawing/2014/main" id="{3BFD6BF9-8653-C574-DD15-09430B5D33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97" t="9884" r="10232" b="14016"/>
          <a:stretch/>
        </p:blipFill>
        <p:spPr>
          <a:xfrm>
            <a:off x="8323260" y="5600445"/>
            <a:ext cx="1809378" cy="1040877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082FE321-92E4-3969-AF7E-B010026E1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4841" y="5639493"/>
            <a:ext cx="1707728" cy="96278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43169EF2-FCF2-0499-C018-EDCD294036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452" y="1332483"/>
            <a:ext cx="6597616" cy="4019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438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A04026C-F5CD-A274-111D-EBFC3F3BDB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>
              <a:latin typeface="+mn-lt"/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0AD9D157-2632-A2AD-F070-53BDCDA6A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Source Sans Pro"/>
                <a:ea typeface="Source Sans Pro SemiBold"/>
              </a:rPr>
              <a:t>Different </a:t>
            </a:r>
            <a:r>
              <a:rPr lang="de-DE" err="1">
                <a:latin typeface="Source Sans Pro"/>
                <a:ea typeface="Source Sans Pro SemiBold"/>
              </a:rPr>
              <a:t>flavours</a:t>
            </a:r>
            <a:r>
              <a:rPr lang="de-DE">
                <a:latin typeface="Source Sans Pro"/>
                <a:ea typeface="Source Sans Pro SemiBold"/>
              </a:rPr>
              <a:t> </a:t>
            </a:r>
            <a:r>
              <a:rPr lang="de-DE" err="1">
                <a:latin typeface="Source Sans Pro"/>
                <a:ea typeface="Source Sans Pro SemiBold"/>
              </a:rPr>
              <a:t>of</a:t>
            </a:r>
            <a:r>
              <a:rPr lang="de-DE">
                <a:latin typeface="Source Sans Pro"/>
                <a:ea typeface="Source Sans Pro SemiBold"/>
              </a:rPr>
              <a:t> ONT </a:t>
            </a:r>
            <a:r>
              <a:rPr lang="de-DE" err="1">
                <a:latin typeface="Source Sans Pro"/>
                <a:ea typeface="Source Sans Pro SemiBold"/>
              </a:rPr>
              <a:t>sequencing</a:t>
            </a:r>
            <a:r>
              <a:rPr lang="de-DE">
                <a:latin typeface="Source Sans Pro"/>
                <a:ea typeface="Source Sans Pro SemiBold"/>
              </a:rPr>
              <a:t> </a:t>
            </a:r>
            <a:r>
              <a:rPr lang="de-DE" err="1">
                <a:latin typeface="Source Sans Pro"/>
                <a:ea typeface="Source Sans Pro SemiBold"/>
              </a:rPr>
              <a:t>data</a:t>
            </a:r>
            <a:endParaRPr lang="de-DE" err="1">
              <a:latin typeface="Source Sans Pro"/>
            </a:endParaRP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B0C4F739-2556-1A6A-F969-B3AC44A37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662" y="2328862"/>
            <a:ext cx="9972675" cy="2200275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DD20C1C4-5138-F613-748A-55926831C38D}"/>
              </a:ext>
            </a:extLst>
          </p:cNvPr>
          <p:cNvSpPr txBox="1"/>
          <p:nvPr/>
        </p:nvSpPr>
        <p:spPr>
          <a:xfrm>
            <a:off x="3935584" y="2673632"/>
            <a:ext cx="1966008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dirty="0">
                <a:latin typeface="Source Sans Pro Black"/>
                <a:ea typeface="Source Sans Pro"/>
              </a:rPr>
              <a:t>Ultra Long (UL)</a:t>
            </a:r>
            <a:br>
              <a:rPr lang="de-DE" dirty="0">
                <a:latin typeface="Source Sans Pro Black"/>
                <a:ea typeface="Source Sans Pro"/>
              </a:rPr>
            </a:br>
            <a:endParaRPr lang="de-DE" dirty="0">
              <a:latin typeface="Source Sans Pro"/>
              <a:ea typeface="Source Sans Pro"/>
            </a:endParaRPr>
          </a:p>
          <a:p>
            <a:pPr algn="ctr"/>
            <a:r>
              <a:rPr lang="de-DE" b="1" dirty="0">
                <a:latin typeface="Source Sans Pro"/>
                <a:ea typeface="Source Sans Pro"/>
              </a:rPr>
              <a:t>Span </a:t>
            </a:r>
            <a:r>
              <a:rPr lang="de-DE" b="1" dirty="0" err="1">
                <a:latin typeface="Source Sans Pro"/>
                <a:ea typeface="Source Sans Pro"/>
              </a:rPr>
              <a:t>difficult</a:t>
            </a:r>
            <a:r>
              <a:rPr lang="de-DE" b="1" dirty="0">
                <a:latin typeface="Source Sans Pro"/>
                <a:ea typeface="Source Sans Pro"/>
              </a:rPr>
              <a:t> </a:t>
            </a:r>
            <a:r>
              <a:rPr lang="de-DE" b="1" dirty="0" err="1">
                <a:latin typeface="Source Sans Pro"/>
                <a:ea typeface="Source Sans Pro"/>
              </a:rPr>
              <a:t>regions</a:t>
            </a:r>
            <a:br>
              <a:rPr lang="de-DE" b="1" dirty="0">
                <a:latin typeface="Source Sans Pro Black"/>
                <a:ea typeface="Source Sans Pro"/>
              </a:rPr>
            </a:br>
            <a:endParaRPr lang="de-DE" b="1" dirty="0">
              <a:latin typeface="Source Sans Pro Black"/>
              <a:ea typeface="Source Sans Pro"/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44A95E1B-B3C4-C3C8-DF51-AD22FF07C406}"/>
              </a:ext>
            </a:extLst>
          </p:cNvPr>
          <p:cNvSpPr txBox="1"/>
          <p:nvPr/>
        </p:nvSpPr>
        <p:spPr>
          <a:xfrm>
            <a:off x="1364981" y="2673632"/>
            <a:ext cx="2057815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dirty="0">
                <a:latin typeface="Source Sans Pro Black"/>
                <a:ea typeface="Source Sans Pro"/>
              </a:rPr>
              <a:t>High </a:t>
            </a:r>
            <a:r>
              <a:rPr lang="de-DE" dirty="0" err="1">
                <a:latin typeface="Source Sans Pro Black"/>
                <a:ea typeface="Source Sans Pro"/>
              </a:rPr>
              <a:t>quality</a:t>
            </a:r>
            <a:r>
              <a:rPr lang="de-DE" dirty="0">
                <a:latin typeface="Source Sans Pro Black"/>
                <a:ea typeface="Source Sans Pro"/>
              </a:rPr>
              <a:t> (HQ)</a:t>
            </a:r>
            <a:br>
              <a:rPr lang="de-DE" dirty="0">
                <a:latin typeface="Source Sans Pro Black"/>
                <a:ea typeface="Source Sans Pro"/>
              </a:rPr>
            </a:br>
            <a:br>
              <a:rPr lang="de-DE" dirty="0">
                <a:latin typeface="Source Sans Pro Black"/>
                <a:ea typeface="Source Sans Pro"/>
              </a:rPr>
            </a:br>
            <a:r>
              <a:rPr lang="de-DE" dirty="0" err="1">
                <a:latin typeface="Source Sans Pro"/>
                <a:ea typeface="Source Sans Pro"/>
              </a:rPr>
              <a:t>Accurate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sequences</a:t>
            </a:r>
            <a:br>
              <a:rPr lang="de-DE" dirty="0">
                <a:latin typeface="Source Sans Pro Black"/>
                <a:ea typeface="Source Sans Pro"/>
              </a:rPr>
            </a:br>
            <a:endParaRPr lang="de-DE" dirty="0">
              <a:latin typeface="Source Sans Pro Black"/>
              <a:ea typeface="Source Sans Pro"/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39857023-7C9B-0532-7130-F96CD0F947A9}"/>
              </a:ext>
            </a:extLst>
          </p:cNvPr>
          <p:cNvSpPr txBox="1"/>
          <p:nvPr/>
        </p:nvSpPr>
        <p:spPr>
          <a:xfrm>
            <a:off x="6460283" y="2673632"/>
            <a:ext cx="1966008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dirty="0">
                <a:latin typeface="Source Sans Pro Black"/>
                <a:ea typeface="Source Sans Pro"/>
              </a:rPr>
              <a:t>Pore-C</a:t>
            </a:r>
          </a:p>
          <a:p>
            <a:pPr algn="ctr"/>
            <a:endParaRPr lang="de-DE" dirty="0">
              <a:ea typeface="Source Sans Pro"/>
            </a:endParaRPr>
          </a:p>
          <a:p>
            <a:pPr algn="ctr"/>
            <a:r>
              <a:rPr lang="de-DE" dirty="0">
                <a:ea typeface="Source Sans Pro"/>
              </a:rPr>
              <a:t>High </a:t>
            </a:r>
            <a:r>
              <a:rPr lang="de-DE" dirty="0" err="1">
                <a:ea typeface="Source Sans Pro"/>
              </a:rPr>
              <a:t>order</a:t>
            </a:r>
            <a:r>
              <a:rPr lang="de-DE" dirty="0">
                <a:ea typeface="Source Sans Pro"/>
              </a:rPr>
              <a:t> DNA </a:t>
            </a:r>
            <a:r>
              <a:rPr lang="de-DE" dirty="0" err="1">
                <a:ea typeface="Source Sans Pro"/>
              </a:rPr>
              <a:t>structure</a:t>
            </a:r>
            <a:r>
              <a:rPr lang="de-DE" dirty="0">
                <a:ea typeface="Source Sans Pro"/>
              </a:rPr>
              <a:t> </a:t>
            </a:r>
            <a:br>
              <a:rPr lang="de-DE" b="1" dirty="0">
                <a:ea typeface="Source Sans Pro"/>
              </a:rPr>
            </a:br>
            <a:br>
              <a:rPr lang="de-DE" b="1" dirty="0">
                <a:ea typeface="Source Sans Pro"/>
              </a:rPr>
            </a:br>
            <a:br>
              <a:rPr lang="de-DE" b="1" dirty="0">
                <a:ea typeface="Source Sans Pro"/>
              </a:rPr>
            </a:br>
            <a:br>
              <a:rPr lang="de-DE" b="1" dirty="0">
                <a:ea typeface="Source Sans Pro"/>
              </a:rPr>
            </a:br>
            <a:endParaRPr lang="de-DE" b="1" dirty="0">
              <a:ea typeface="Source Sans Pro"/>
            </a:endParaRPr>
          </a:p>
        </p:txBody>
      </p:sp>
      <p:sp>
        <p:nvSpPr>
          <p:cNvPr id="28" name="Textfeld 24">
            <a:extLst>
              <a:ext uri="{FF2B5EF4-FFF2-40B4-BE49-F238E27FC236}">
                <a16:creationId xmlns:a16="http://schemas.microsoft.com/office/drawing/2014/main" id="{DD20C1C4-5138-F613-748A-55926831C38D}"/>
              </a:ext>
            </a:extLst>
          </p:cNvPr>
          <p:cNvSpPr txBox="1"/>
          <p:nvPr/>
        </p:nvSpPr>
        <p:spPr>
          <a:xfrm>
            <a:off x="8929898" y="2673632"/>
            <a:ext cx="1966008" cy="147732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>
                <a:latin typeface="Source Sans Pro Black"/>
                <a:ea typeface="Source Sans Pro"/>
              </a:rPr>
              <a:t>Assembly </a:t>
            </a:r>
            <a:r>
              <a:rPr lang="de-DE" err="1">
                <a:latin typeface="Source Sans Pro Black"/>
                <a:ea typeface="Source Sans Pro"/>
              </a:rPr>
              <a:t>Polishing</a:t>
            </a:r>
            <a:r>
              <a:rPr lang="de-DE">
                <a:latin typeface="Source Sans Pro Black"/>
                <a:ea typeface="Source Sans Pro"/>
              </a:rPr>
              <a:t> Kit</a:t>
            </a:r>
          </a:p>
          <a:p>
            <a:pPr algn="ctr"/>
            <a:endParaRPr lang="de-DE">
              <a:latin typeface="Source Sans Pro Black"/>
              <a:ea typeface="Source Sans Pro"/>
            </a:endParaRPr>
          </a:p>
          <a:p>
            <a:pPr algn="ctr"/>
            <a:r>
              <a:rPr lang="de-DE" err="1">
                <a:latin typeface="Source Sans Pro"/>
                <a:ea typeface="Source Sans Pro"/>
              </a:rPr>
              <a:t>Improve</a:t>
            </a:r>
            <a:r>
              <a:rPr lang="de-DE">
                <a:latin typeface="Source Sans Pro"/>
                <a:ea typeface="Source Sans Pro"/>
              </a:rPr>
              <a:t> </a:t>
            </a:r>
            <a:r>
              <a:rPr lang="de-DE" err="1">
                <a:latin typeface="Source Sans Pro"/>
                <a:ea typeface="Source Sans Pro"/>
              </a:rPr>
              <a:t>base</a:t>
            </a:r>
            <a:r>
              <a:rPr lang="de-DE">
                <a:latin typeface="Source Sans Pro"/>
                <a:ea typeface="Source Sans Pro"/>
              </a:rPr>
              <a:t> </a:t>
            </a:r>
            <a:r>
              <a:rPr lang="de-DE" err="1">
                <a:latin typeface="Source Sans Pro"/>
                <a:ea typeface="Source Sans Pro"/>
              </a:rPr>
              <a:t>level</a:t>
            </a:r>
            <a:r>
              <a:rPr lang="de-DE">
                <a:latin typeface="Source Sans Pro"/>
                <a:ea typeface="Source Sans Pro"/>
              </a:rPr>
              <a:t> </a:t>
            </a:r>
            <a:r>
              <a:rPr lang="de-DE" err="1">
                <a:latin typeface="Source Sans Pro"/>
                <a:ea typeface="Source Sans Pro"/>
              </a:rPr>
              <a:t>accuracy</a:t>
            </a:r>
            <a:endParaRPr lang="de-DE" err="1"/>
          </a:p>
        </p:txBody>
      </p:sp>
    </p:spTree>
    <p:extLst>
      <p:ext uri="{BB962C8B-B14F-4D97-AF65-F5344CB8AC3E}">
        <p14:creationId xmlns:p14="http://schemas.microsoft.com/office/powerpoint/2010/main" val="1024005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0F5F82-0F21-1AA3-0627-FE889FBFFD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649CEE5-E7D0-1FB7-4B65-74D74912F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ource Sans Pro SemiBold"/>
                <a:ea typeface="Source Sans Pro SemiBold"/>
              </a:rPr>
              <a:t>HQ Data </a:t>
            </a:r>
            <a:r>
              <a:rPr lang="de-DE" dirty="0" err="1">
                <a:latin typeface="Source Sans Pro SemiBold"/>
                <a:ea typeface="Source Sans Pro SemiBold"/>
              </a:rPr>
              <a:t>generated</a:t>
            </a:r>
            <a:r>
              <a:rPr lang="de-DE" dirty="0">
                <a:latin typeface="Source Sans Pro SemiBold"/>
                <a:ea typeface="Source Sans Pro SemiBold"/>
              </a:rPr>
              <a:t> </a:t>
            </a:r>
            <a:r>
              <a:rPr lang="de-DE" dirty="0" err="1">
                <a:latin typeface="Source Sans Pro SemiBold"/>
                <a:ea typeface="Source Sans Pro SemiBold"/>
              </a:rPr>
              <a:t>from</a:t>
            </a:r>
            <a:r>
              <a:rPr lang="de-DE" dirty="0">
                <a:latin typeface="Source Sans Pro SemiBold"/>
                <a:ea typeface="Source Sans Pro SemiBold"/>
              </a:rPr>
              <a:t> ONT </a:t>
            </a:r>
            <a:r>
              <a:rPr lang="de-DE" dirty="0" err="1">
                <a:latin typeface="Source Sans Pro SemiBold"/>
                <a:ea typeface="Source Sans Pro SemiBold"/>
              </a:rPr>
              <a:t>reads</a:t>
            </a:r>
            <a:r>
              <a:rPr lang="de-DE" dirty="0">
                <a:latin typeface="Source Sans Pro SemiBold"/>
                <a:ea typeface="Source Sans Pro SemiBold"/>
              </a:rPr>
              <a:t> </a:t>
            </a:r>
            <a:endParaRPr lang="de-DE" dirty="0" err="1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29F7133E-1739-E591-AEF7-D93D47A3F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099" y="1541172"/>
            <a:ext cx="4806336" cy="4957764"/>
          </a:xfrm>
        </p:spPr>
        <p:txBody>
          <a:bodyPr lIns="91440" tIns="45720" rIns="91440" bIns="45720" anchor="t"/>
          <a:lstStyle/>
          <a:p>
            <a:r>
              <a:rPr lang="de-DE" dirty="0">
                <a:latin typeface="Source Sans Pro"/>
                <a:ea typeface="Source Sans Pro"/>
              </a:rPr>
              <a:t>Looking </a:t>
            </a:r>
            <a:r>
              <a:rPr lang="de-DE" dirty="0" err="1">
                <a:latin typeface="Source Sans Pro"/>
                <a:ea typeface="Source Sans Pro"/>
              </a:rPr>
              <a:t>for</a:t>
            </a:r>
            <a:r>
              <a:rPr lang="de-DE" dirty="0">
                <a:latin typeface="Source Sans Pro"/>
                <a:ea typeface="Source Sans Pro"/>
              </a:rPr>
              <a:t> High </a:t>
            </a:r>
            <a:r>
              <a:rPr lang="de-DE" dirty="0" err="1">
                <a:latin typeface="Source Sans Pro"/>
                <a:ea typeface="Source Sans Pro"/>
              </a:rPr>
              <a:t>accuracy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reads</a:t>
            </a:r>
            <a:r>
              <a:rPr lang="de-DE" dirty="0">
                <a:latin typeface="Source Sans Pro"/>
                <a:ea typeface="Source Sans Pro"/>
              </a:rPr>
              <a:t> &gt;Q30, </a:t>
            </a:r>
            <a:r>
              <a:rPr lang="de-DE" dirty="0" err="1">
                <a:latin typeface="Source Sans Pro"/>
                <a:ea typeface="Source Sans Pro"/>
              </a:rPr>
              <a:t>equivalent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to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PacBio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Hifi</a:t>
            </a:r>
            <a:endParaRPr lang="de-DE" dirty="0">
              <a:latin typeface="Source Sans Pro"/>
              <a:ea typeface="Source Sans Pro"/>
            </a:endParaRPr>
          </a:p>
          <a:p>
            <a:endParaRPr lang="de-DE" dirty="0">
              <a:latin typeface="Source Sans Pro"/>
              <a:ea typeface="Source Sans Pro"/>
            </a:endParaRPr>
          </a:p>
          <a:p>
            <a:pPr marL="0" indent="0">
              <a:buNone/>
            </a:pPr>
            <a:r>
              <a:rPr lang="de-DE" dirty="0">
                <a:latin typeface="Source Sans Pro"/>
                <a:ea typeface="Source Sans Pro"/>
              </a:rPr>
              <a:t>Old </a:t>
            </a:r>
            <a:r>
              <a:rPr lang="de-DE" dirty="0" err="1">
                <a:latin typeface="Source Sans Pro"/>
                <a:ea typeface="Source Sans Pro"/>
              </a:rPr>
              <a:t>approach</a:t>
            </a:r>
            <a:r>
              <a:rPr lang="de-DE" dirty="0">
                <a:latin typeface="Source Sans Pro"/>
                <a:ea typeface="Source Sans Pro"/>
              </a:rPr>
              <a:t> (2 </a:t>
            </a:r>
            <a:r>
              <a:rPr lang="de-DE" dirty="0" err="1">
                <a:latin typeface="Source Sans Pro"/>
                <a:ea typeface="Source Sans Pro"/>
              </a:rPr>
              <a:t>years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ago</a:t>
            </a:r>
            <a:r>
              <a:rPr lang="de-DE" dirty="0">
                <a:latin typeface="Source Sans Pro"/>
                <a:ea typeface="Source Sans Pro"/>
              </a:rPr>
              <a:t>): </a:t>
            </a:r>
            <a:r>
              <a:rPr lang="de-DE" dirty="0">
                <a:latin typeface="Source Sans Pro Black"/>
                <a:ea typeface="Source Sans Pro"/>
              </a:rPr>
              <a:t>Duplex</a:t>
            </a:r>
          </a:p>
          <a:p>
            <a:pPr marL="0" indent="0">
              <a:buNone/>
            </a:pPr>
            <a:r>
              <a:rPr lang="de-DE" dirty="0">
                <a:latin typeface="Source Sans Pro"/>
                <a:ea typeface="Source Sans Pro"/>
              </a:rPr>
              <a:t>New </a:t>
            </a:r>
            <a:r>
              <a:rPr lang="de-DE" dirty="0" err="1">
                <a:latin typeface="Source Sans Pro"/>
                <a:ea typeface="Source Sans Pro"/>
              </a:rPr>
              <a:t>approach</a:t>
            </a:r>
            <a:r>
              <a:rPr lang="de-DE" dirty="0">
                <a:latin typeface="Source Sans Pro"/>
                <a:ea typeface="Source Sans Pro"/>
              </a:rPr>
              <a:t>: </a:t>
            </a:r>
            <a:r>
              <a:rPr lang="de-DE" dirty="0">
                <a:latin typeface="Source Sans Pro Black"/>
                <a:ea typeface="Source Sans Pro"/>
              </a:rPr>
              <a:t>HERRO</a:t>
            </a:r>
            <a:r>
              <a:rPr lang="de-DE" dirty="0">
                <a:latin typeface="Source Sans Pro"/>
                <a:ea typeface="Source Sans Pro"/>
              </a:rPr>
              <a:t> Error </a:t>
            </a:r>
            <a:r>
              <a:rPr lang="de-DE" dirty="0" err="1">
                <a:latin typeface="Source Sans Pro"/>
                <a:ea typeface="Source Sans Pro"/>
              </a:rPr>
              <a:t>Correction</a:t>
            </a:r>
            <a:endParaRPr lang="de-DE" dirty="0">
              <a:latin typeface="Source Sans Pro"/>
              <a:ea typeface="Source Sans Pro"/>
            </a:endParaRPr>
          </a:p>
          <a:p>
            <a:pPr marL="0" indent="0">
              <a:buNone/>
            </a:pPr>
            <a:endParaRPr lang="de-DE" dirty="0">
              <a:latin typeface="Source Sans Pro"/>
              <a:ea typeface="Source Sans Pro"/>
            </a:endParaRPr>
          </a:p>
          <a:p>
            <a:pPr marL="0" indent="0">
              <a:buNone/>
            </a:pPr>
            <a:r>
              <a:rPr lang="de-DE" dirty="0">
                <a:latin typeface="Source Sans Pro"/>
                <a:ea typeface="Source Sans Pro"/>
              </a:rPr>
              <a:t>Benefits:</a:t>
            </a:r>
          </a:p>
          <a:p>
            <a:pPr marL="342900" indent="-342900"/>
            <a:r>
              <a:rPr lang="de-DE" dirty="0" err="1">
                <a:latin typeface="Source Sans Pro"/>
                <a:ea typeface="Source Sans Pro"/>
              </a:rPr>
              <a:t>Sequence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only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once</a:t>
            </a:r>
            <a:r>
              <a:rPr lang="de-DE" dirty="0">
                <a:latin typeface="Source Sans Pro"/>
                <a:ea typeface="Source Sans Pro"/>
              </a:rPr>
              <a:t> (~80% </a:t>
            </a:r>
            <a:r>
              <a:rPr lang="de-DE" dirty="0" err="1">
                <a:latin typeface="Source Sans Pro"/>
                <a:ea typeface="Source Sans Pro"/>
              </a:rPr>
              <a:t>conversion</a:t>
            </a:r>
            <a:r>
              <a:rPr lang="de-DE" dirty="0">
                <a:latin typeface="Source Sans Pro"/>
                <a:ea typeface="Source Sans Pro"/>
              </a:rPr>
              <a:t>)</a:t>
            </a:r>
            <a:endParaRPr lang="de-DE" dirty="0"/>
          </a:p>
          <a:p>
            <a:pPr marL="342900" indent="-342900"/>
            <a:r>
              <a:rPr lang="de-DE" dirty="0" err="1">
                <a:latin typeface="Source Sans Pro"/>
                <a:ea typeface="Source Sans Pro"/>
              </a:rPr>
              <a:t>Implemented</a:t>
            </a:r>
            <a:r>
              <a:rPr lang="de-DE" dirty="0">
                <a:latin typeface="Source Sans Pro"/>
                <a:ea typeface="Source Sans Pro"/>
              </a:rPr>
              <a:t> in Dorado</a:t>
            </a:r>
          </a:p>
          <a:p>
            <a:pPr marL="342900" indent="-342900"/>
            <a:r>
              <a:rPr lang="de-DE" dirty="0">
                <a:latin typeface="Source Sans Pro"/>
                <a:ea typeface="Source Sans Pro"/>
              </a:rPr>
              <a:t>Very </a:t>
            </a:r>
            <a:r>
              <a:rPr lang="de-DE" dirty="0" err="1">
                <a:latin typeface="Source Sans Pro"/>
                <a:ea typeface="Source Sans Pro"/>
              </a:rPr>
              <a:t>long</a:t>
            </a:r>
            <a:endParaRPr lang="de-DE" dirty="0">
              <a:latin typeface="Source Sans Pro"/>
              <a:ea typeface="Source Sans Pro"/>
            </a:endParaRPr>
          </a:p>
        </p:txBody>
      </p:sp>
      <p:sp>
        <p:nvSpPr>
          <p:cNvPr id="5" name="Inhaltsplatzhalter 8">
            <a:extLst>
              <a:ext uri="{FF2B5EF4-FFF2-40B4-BE49-F238E27FC236}">
                <a16:creationId xmlns:a16="http://schemas.microsoft.com/office/drawing/2014/main" id="{CD95C43E-B4EE-9CF9-596B-7EB0324C5948}"/>
              </a:ext>
            </a:extLst>
          </p:cNvPr>
          <p:cNvSpPr txBox="1">
            <a:spLocks/>
          </p:cNvSpPr>
          <p:nvPr/>
        </p:nvSpPr>
        <p:spPr>
          <a:xfrm>
            <a:off x="6563925" y="1539113"/>
            <a:ext cx="4806336" cy="495776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i="1" dirty="0">
                <a:latin typeface="Source Sans Pro"/>
                <a:ea typeface="Source Sans Pro"/>
              </a:rPr>
              <a:t>Dorado </a:t>
            </a:r>
            <a:r>
              <a:rPr lang="de-DE" i="1" dirty="0" err="1">
                <a:latin typeface="Source Sans Pro"/>
                <a:ea typeface="Source Sans Pro"/>
              </a:rPr>
              <a:t>Correct</a:t>
            </a:r>
            <a:r>
              <a:rPr lang="de-DE" dirty="0">
                <a:latin typeface="Source Sans Pro"/>
                <a:ea typeface="Source Sans Pro"/>
              </a:rPr>
              <a:t>  </a:t>
            </a:r>
            <a:r>
              <a:rPr lang="de-DE" dirty="0" err="1">
                <a:latin typeface="Source Sans Pro"/>
                <a:ea typeface="Source Sans Pro"/>
              </a:rPr>
              <a:t>is</a:t>
            </a:r>
            <a:r>
              <a:rPr lang="de-DE" dirty="0">
                <a:latin typeface="Source Sans Pro"/>
                <a:ea typeface="Source Sans Pro"/>
              </a:rPr>
              <a:t> a </a:t>
            </a:r>
            <a:r>
              <a:rPr lang="de-DE" dirty="0" err="1">
                <a:latin typeface="Source Sans Pro"/>
                <a:ea typeface="Source Sans Pro"/>
              </a:rPr>
              <a:t>two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step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approach</a:t>
            </a:r>
            <a:r>
              <a:rPr lang="de-DE" dirty="0">
                <a:latin typeface="Source Sans Pro"/>
                <a:ea typeface="Source Sans Pro"/>
              </a:rPr>
              <a:t>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e-DE" err="1">
                <a:latin typeface="Source Sans Pro"/>
                <a:ea typeface="Source Sans Pro"/>
              </a:rPr>
              <a:t>Overlap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err="1">
                <a:latin typeface="Source Sans Pro"/>
                <a:ea typeface="Source Sans Pro"/>
              </a:rPr>
              <a:t>mapping</a:t>
            </a:r>
            <a:r>
              <a:rPr lang="de-DE" dirty="0">
                <a:latin typeface="Source Sans Pro"/>
                <a:ea typeface="Source Sans Pro"/>
              </a:rPr>
              <a:t> (minimap2)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e-DE" err="1">
                <a:latin typeface="Source Sans Pro"/>
                <a:ea typeface="Source Sans Pro"/>
              </a:rPr>
              <a:t>Inference</a:t>
            </a:r>
            <a:r>
              <a:rPr lang="de-DE" dirty="0">
                <a:latin typeface="Source Sans Pro"/>
                <a:ea typeface="Source Sans Pro"/>
              </a:rPr>
              <a:t> CNN + </a:t>
            </a:r>
            <a:r>
              <a:rPr lang="de-DE" err="1">
                <a:latin typeface="Source Sans Pro"/>
                <a:ea typeface="Source Sans Pro"/>
              </a:rPr>
              <a:t>TransformerEncoder</a:t>
            </a:r>
            <a:endParaRPr lang="de-DE">
              <a:latin typeface="Source Sans Pro"/>
              <a:ea typeface="Source Sans Pro"/>
            </a:endParaRPr>
          </a:p>
          <a:p>
            <a:r>
              <a:rPr lang="de-DE" err="1">
                <a:latin typeface="Source Sans Pro"/>
                <a:ea typeface="Source Sans Pro"/>
              </a:rPr>
              <a:t>Runtime</a:t>
            </a:r>
            <a:endParaRPr lang="de-DE">
              <a:latin typeface="Source Sans Pro"/>
              <a:ea typeface="Source Sans Pro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de-DE" dirty="0">
                <a:latin typeface="Source Sans Pro"/>
                <a:ea typeface="Source Sans Pro"/>
              </a:rPr>
              <a:t>Mapping: 6-28h @ 60 CPU Threads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e-DE" err="1">
                <a:latin typeface="Source Sans Pro"/>
                <a:ea typeface="Source Sans Pro"/>
              </a:rPr>
              <a:t>Inference</a:t>
            </a:r>
            <a:r>
              <a:rPr lang="de-DE" dirty="0">
                <a:latin typeface="Source Sans Pro"/>
                <a:ea typeface="Source Sans Pro"/>
              </a:rPr>
              <a:t>: 6-24h @ 2xH100 GPU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77142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BCA005F-8D1F-854A-8F2A-5B0DF3EBA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00" y="1895341"/>
            <a:ext cx="4254592" cy="3136904"/>
          </a:xfrm>
        </p:spPr>
        <p:txBody>
          <a:bodyPr lIns="91440" tIns="45720" rIns="91440" bIns="45720" anchor="t"/>
          <a:lstStyle/>
          <a:p>
            <a:r>
              <a:rPr lang="de-DE" dirty="0">
                <a:latin typeface="Source Sans Pro"/>
                <a:ea typeface="Source Sans Pro"/>
              </a:rPr>
              <a:t>Ultra High </a:t>
            </a:r>
            <a:r>
              <a:rPr lang="de-DE" dirty="0" err="1">
                <a:latin typeface="Source Sans Pro"/>
                <a:ea typeface="Source Sans Pro"/>
              </a:rPr>
              <a:t>Molecular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Weight</a:t>
            </a:r>
            <a:r>
              <a:rPr lang="de-DE" dirty="0">
                <a:latin typeface="Source Sans Pro"/>
                <a:ea typeface="Source Sans Pro"/>
              </a:rPr>
              <a:t> (UHMW) </a:t>
            </a:r>
            <a:r>
              <a:rPr lang="de-DE" dirty="0" err="1">
                <a:latin typeface="Source Sans Pro"/>
                <a:ea typeface="Source Sans Pro"/>
              </a:rPr>
              <a:t>Extraction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from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fresh</a:t>
            </a:r>
            <a:r>
              <a:rPr lang="de-DE" dirty="0">
                <a:latin typeface="Source Sans Pro"/>
                <a:ea typeface="Source Sans Pro"/>
              </a:rPr>
              <a:t> EDTA </a:t>
            </a:r>
            <a:r>
              <a:rPr lang="de-DE" dirty="0" err="1">
                <a:latin typeface="Source Sans Pro"/>
                <a:ea typeface="Source Sans Pro"/>
              </a:rPr>
              <a:t>blood</a:t>
            </a:r>
            <a:r>
              <a:rPr lang="de-DE" dirty="0">
                <a:latin typeface="Source Sans Pro"/>
                <a:ea typeface="Source Sans Pro"/>
              </a:rPr>
              <a:t>.  </a:t>
            </a:r>
          </a:p>
          <a:p>
            <a:r>
              <a:rPr lang="de-DE" dirty="0" err="1">
                <a:latin typeface="Source Sans Pro"/>
                <a:ea typeface="Source Sans Pro"/>
              </a:rPr>
              <a:t>Tradeoff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between</a:t>
            </a:r>
            <a:r>
              <a:rPr lang="de-DE" dirty="0">
                <a:latin typeface="Source Sans Pro"/>
                <a:ea typeface="Source Sans Pro"/>
              </a:rPr>
              <a:t> N50 and </a:t>
            </a:r>
            <a:r>
              <a:rPr lang="de-DE" dirty="0" err="1">
                <a:latin typeface="Source Sans Pro"/>
                <a:ea typeface="Source Sans Pro"/>
              </a:rPr>
              <a:t>Yield</a:t>
            </a:r>
            <a:endParaRPr lang="de-DE" dirty="0">
              <a:latin typeface="Source Sans Pro"/>
              <a:ea typeface="Source Sans Pro"/>
            </a:endParaRPr>
          </a:p>
          <a:p>
            <a:r>
              <a:rPr lang="de-DE" dirty="0" err="1">
                <a:latin typeface="Source Sans Pro"/>
                <a:ea typeface="Source Sans Pro"/>
              </a:rPr>
              <a:t>Challenging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handling</a:t>
            </a:r>
            <a:r>
              <a:rPr lang="de-DE" dirty="0">
                <a:latin typeface="Source Sans Pro"/>
                <a:ea typeface="Source Sans Pro"/>
              </a:rPr>
              <a:t> in Lab</a:t>
            </a:r>
            <a:endParaRPr lang="de-DE" dirty="0"/>
          </a:p>
          <a:p>
            <a:r>
              <a:rPr lang="de-DE" dirty="0">
                <a:latin typeface="Source Sans Pro"/>
                <a:ea typeface="Source Sans Pro"/>
              </a:rPr>
              <a:t>SUP </a:t>
            </a:r>
            <a:r>
              <a:rPr lang="de-DE" dirty="0" err="1">
                <a:latin typeface="Source Sans Pro"/>
                <a:ea typeface="Source Sans Pro"/>
              </a:rPr>
              <a:t>Basecalling</a:t>
            </a:r>
            <a:r>
              <a:rPr lang="de-DE" dirty="0">
                <a:latin typeface="Source Sans Pro"/>
                <a:ea typeface="Source Sans Pro"/>
              </a:rPr>
              <a:t> 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DD3C547-9484-2C75-68A9-0369B5716D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13137FC-842E-7DDD-E4E1-FF06888C0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>
                <a:latin typeface="Source Sans Pro SemiBold"/>
                <a:ea typeface="Source Sans Pro SemiBold"/>
              </a:rPr>
              <a:t>Ultralong</a:t>
            </a:r>
            <a:r>
              <a:rPr lang="de-DE">
                <a:latin typeface="Source Sans Pro SemiBold"/>
                <a:ea typeface="Source Sans Pro SemiBold"/>
              </a:rPr>
              <a:t> ONT </a:t>
            </a:r>
            <a:r>
              <a:rPr lang="de-DE" err="1">
                <a:latin typeface="Source Sans Pro SemiBold"/>
                <a:ea typeface="Source Sans Pro SemiBold"/>
              </a:rPr>
              <a:t>Sequencing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5381642-0743-2921-7FE7-9A475CEEA1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44" y="1612896"/>
            <a:ext cx="4705356" cy="313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462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4CF1551C-4060-CCA7-308F-972EB5933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2600" y="4449479"/>
            <a:ext cx="6343879" cy="1665571"/>
          </a:xfrm>
        </p:spPr>
        <p:txBody>
          <a:bodyPr lIns="91440" tIns="45720" rIns="91440" bIns="45720" anchor="t"/>
          <a:lstStyle/>
          <a:p>
            <a:pPr>
              <a:buFont typeface="Calibri"/>
              <a:buChar char="-"/>
            </a:pPr>
            <a:r>
              <a:rPr lang="en-US">
                <a:solidFill>
                  <a:srgbClr val="333333"/>
                </a:solidFill>
                <a:latin typeface="Segoe WPC"/>
                <a:ea typeface="Source Sans Pro"/>
              </a:rPr>
              <a:t>Chromatin Conformation Capture, equivalent Hi-C</a:t>
            </a:r>
          </a:p>
          <a:p>
            <a:pPr>
              <a:buFont typeface="Calibri"/>
              <a:buChar char="-"/>
            </a:pPr>
            <a:r>
              <a:rPr lang="en-US">
                <a:solidFill>
                  <a:srgbClr val="333333"/>
                </a:solidFill>
                <a:latin typeface="Segoe WPC"/>
                <a:ea typeface="Source Sans Pro"/>
              </a:rPr>
              <a:t>3 Day protocol for cross-linking</a:t>
            </a:r>
            <a:endParaRPr lang="en-US">
              <a:solidFill>
                <a:srgbClr val="333333"/>
              </a:solidFill>
              <a:latin typeface="Segoe WPC"/>
            </a:endParaRPr>
          </a:p>
          <a:p>
            <a:pPr>
              <a:buFont typeface="Calibri"/>
              <a:buChar char="-"/>
            </a:pPr>
            <a:r>
              <a:rPr lang="en-US">
                <a:solidFill>
                  <a:srgbClr val="333333"/>
                </a:solidFill>
                <a:latin typeface="Segoe WPC"/>
                <a:ea typeface="Source Sans Pro"/>
              </a:rPr>
              <a:t>"Standard" LSK library prep and sequencing</a:t>
            </a:r>
            <a:endParaRPr lang="en-US">
              <a:solidFill>
                <a:srgbClr val="333333"/>
              </a:solidFill>
              <a:latin typeface="Segoe WPC"/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en-US">
                <a:solidFill>
                  <a:srgbClr val="333333"/>
                </a:solidFill>
                <a:latin typeface="Segoe WPC"/>
                <a:ea typeface="Source Sans Pro"/>
              </a:rPr>
              <a:t>7ml EDTA Blood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>
                <a:solidFill>
                  <a:srgbClr val="333333"/>
                </a:solidFill>
                <a:latin typeface="Segoe WPC"/>
                <a:ea typeface="Source Sans Pro"/>
              </a:rPr>
              <a:t>SUP </a:t>
            </a:r>
            <a:r>
              <a:rPr lang="en-US" err="1">
                <a:solidFill>
                  <a:srgbClr val="333333"/>
                </a:solidFill>
                <a:latin typeface="Segoe WPC"/>
                <a:ea typeface="Source Sans Pro"/>
              </a:rPr>
              <a:t>basecalling</a:t>
            </a:r>
            <a:endParaRPr lang="en-US">
              <a:solidFill>
                <a:srgbClr val="333333"/>
              </a:solidFill>
              <a:latin typeface="Segoe WPC"/>
              <a:ea typeface="Source Sans Pro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B1601E2-92CA-5CF0-3DDA-7CDC978538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341669A6-F857-3F50-2FFC-D1D768973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Pore-C  </a:t>
            </a:r>
            <a:r>
              <a:rPr lang="de-DE" err="1"/>
              <a:t>sequencing</a:t>
            </a:r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1380ADC-ED44-605C-AC9E-D09A675A1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59" y="1218469"/>
            <a:ext cx="3392438" cy="4421061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909D10AC-1395-4D8E-509C-81ED16A2495F}"/>
              </a:ext>
            </a:extLst>
          </p:cNvPr>
          <p:cNvSpPr txBox="1"/>
          <p:nvPr/>
        </p:nvSpPr>
        <p:spPr>
          <a:xfrm>
            <a:off x="606410" y="5639530"/>
            <a:ext cx="3318090" cy="346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>
                <a:latin typeface="Fira Code" pitchFamily="1" charset="0"/>
                <a:ea typeface="Fira Code" pitchFamily="1" charset="0"/>
                <a:cs typeface="Fira Code" pitchFamily="1" charset="0"/>
                <a:hlinkClick r:id="rId4"/>
              </a:rPr>
              <a:t>https://nanoporetech.com/sites/default/files/s3/literature/plant-pore-c-workflow.pdf</a:t>
            </a:r>
            <a:endParaRPr lang="de-DE" sz="800">
              <a:latin typeface="Fira Code" pitchFamily="1" charset="0"/>
              <a:ea typeface="Fira Code" pitchFamily="1" charset="0"/>
              <a:cs typeface="Fira Code" pitchFamily="1" charset="0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9125D2CB-2057-CF8C-580A-4DED2E978B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3170" y="364116"/>
            <a:ext cx="2362293" cy="2082732"/>
          </a:xfrm>
          <a:prstGeom prst="rect">
            <a:avLst/>
          </a:prstGeom>
        </p:spPr>
      </p:pic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25F11DA5-D441-E5C2-12F7-AD73C0CA06B5}"/>
              </a:ext>
            </a:extLst>
          </p:cNvPr>
          <p:cNvGrpSpPr/>
          <p:nvPr/>
        </p:nvGrpSpPr>
        <p:grpSpPr>
          <a:xfrm>
            <a:off x="4614138" y="367055"/>
            <a:ext cx="4216414" cy="3630386"/>
            <a:chOff x="2856598" y="4539635"/>
            <a:chExt cx="2504575" cy="2156471"/>
          </a:xfrm>
        </p:grpSpPr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99B9CCBF-29B7-846B-0E79-8852B95286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43363"/>
            <a:stretch/>
          </p:blipFill>
          <p:spPr>
            <a:xfrm>
              <a:off x="2856598" y="4539635"/>
              <a:ext cx="2101165" cy="2156471"/>
            </a:xfrm>
            <a:prstGeom prst="rect">
              <a:avLst/>
            </a:prstGeom>
          </p:spPr>
        </p:pic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1245BFAA-B2B5-0E64-2BB0-994F5F8C34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85731"/>
            <a:stretch/>
          </p:blipFill>
          <p:spPr>
            <a:xfrm>
              <a:off x="4831813" y="4539635"/>
              <a:ext cx="529360" cy="21564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79159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06258D9-752D-A857-0572-E74CC0C38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00" y="1219200"/>
            <a:ext cx="6183445" cy="4957764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de-DE" b="1">
                <a:latin typeface="Source Sans Pro"/>
                <a:ea typeface="Source Sans Pro"/>
              </a:rPr>
              <a:t>Basic Idea:</a:t>
            </a:r>
            <a:endParaRPr lang="de-DE" b="1"/>
          </a:p>
          <a:p>
            <a:pPr marL="457200" lvl="1" indent="0">
              <a:buNone/>
            </a:pPr>
            <a:r>
              <a:rPr lang="de-DE">
                <a:latin typeface="Source Sans Pro"/>
                <a:ea typeface="Source Sans Pro"/>
              </a:rPr>
              <a:t>1) </a:t>
            </a:r>
            <a:r>
              <a:rPr lang="de-DE" err="1">
                <a:latin typeface="Source Sans Pro"/>
                <a:ea typeface="Source Sans Pro"/>
              </a:rPr>
              <a:t>Introduce</a:t>
            </a:r>
            <a:r>
              <a:rPr lang="de-DE">
                <a:latin typeface="Source Sans Pro"/>
                <a:ea typeface="Source Sans Pro"/>
              </a:rPr>
              <a:t> </a:t>
            </a:r>
            <a:r>
              <a:rPr lang="de-DE" err="1">
                <a:latin typeface="Source Sans Pro"/>
                <a:ea typeface="Source Sans Pro"/>
              </a:rPr>
              <a:t>random</a:t>
            </a:r>
            <a:r>
              <a:rPr lang="de-DE">
                <a:latin typeface="Source Sans Pro"/>
                <a:ea typeface="Source Sans Pro"/>
              </a:rPr>
              <a:t> </a:t>
            </a:r>
            <a:r>
              <a:rPr lang="de-DE" err="1">
                <a:latin typeface="Source Sans Pro"/>
                <a:ea typeface="Source Sans Pro"/>
              </a:rPr>
              <a:t>errors</a:t>
            </a:r>
            <a:r>
              <a:rPr lang="de-DE">
                <a:latin typeface="Source Sans Pro"/>
                <a:ea typeface="Source Sans Pro"/>
              </a:rPr>
              <a:t> </a:t>
            </a:r>
            <a:r>
              <a:rPr lang="de-DE" err="1">
                <a:latin typeface="Source Sans Pro"/>
                <a:ea typeface="Source Sans Pro"/>
              </a:rPr>
              <a:t>during</a:t>
            </a:r>
            <a:r>
              <a:rPr lang="de-DE">
                <a:latin typeface="Source Sans Pro"/>
                <a:ea typeface="Source Sans Pro"/>
              </a:rPr>
              <a:t> Library </a:t>
            </a:r>
            <a:r>
              <a:rPr lang="de-DE" err="1">
                <a:latin typeface="Source Sans Pro"/>
                <a:ea typeface="Source Sans Pro"/>
              </a:rPr>
              <a:t>Prep</a:t>
            </a:r>
            <a:r>
              <a:rPr lang="de-DE">
                <a:latin typeface="Source Sans Pro"/>
                <a:ea typeface="Source Sans Pro"/>
              </a:rPr>
              <a:t>. Break </a:t>
            </a:r>
            <a:r>
              <a:rPr lang="de-DE" err="1">
                <a:latin typeface="Source Sans Pro"/>
                <a:ea typeface="Source Sans Pro"/>
              </a:rPr>
              <a:t>up</a:t>
            </a:r>
            <a:r>
              <a:rPr lang="de-DE">
                <a:latin typeface="Source Sans Pro"/>
                <a:ea typeface="Source Sans Pro"/>
              </a:rPr>
              <a:t> homopolymer </a:t>
            </a:r>
            <a:r>
              <a:rPr lang="de-DE" err="1">
                <a:latin typeface="Source Sans Pro"/>
                <a:ea typeface="Source Sans Pro"/>
              </a:rPr>
              <a:t>stretches</a:t>
            </a:r>
            <a:r>
              <a:rPr lang="de-DE">
                <a:latin typeface="Source Sans Pro"/>
                <a:ea typeface="Source Sans Pro"/>
              </a:rPr>
              <a:t>.</a:t>
            </a:r>
            <a:br>
              <a:rPr lang="de-DE">
                <a:latin typeface="Source Sans Pro"/>
                <a:ea typeface="Source Sans Pro"/>
              </a:rPr>
            </a:br>
            <a:r>
              <a:rPr lang="de-DE">
                <a:latin typeface="Source Sans Pro"/>
                <a:ea typeface="Source Sans Pro"/>
              </a:rPr>
              <a:t>2) Normal </a:t>
            </a:r>
            <a:r>
              <a:rPr lang="de-DE" err="1">
                <a:latin typeface="Source Sans Pro"/>
                <a:ea typeface="Source Sans Pro"/>
              </a:rPr>
              <a:t>sequencing</a:t>
            </a:r>
            <a:br>
              <a:rPr lang="de-DE">
                <a:latin typeface="Source Sans Pro"/>
                <a:ea typeface="Source Sans Pro"/>
              </a:rPr>
            </a:br>
            <a:r>
              <a:rPr lang="de-DE">
                <a:latin typeface="Source Sans Pro"/>
                <a:ea typeface="Source Sans Pro"/>
              </a:rPr>
              <a:t>3) </a:t>
            </a:r>
            <a:r>
              <a:rPr lang="de-DE" err="1">
                <a:latin typeface="Source Sans Pro"/>
                <a:ea typeface="Source Sans Pro"/>
              </a:rPr>
              <a:t>Align</a:t>
            </a:r>
            <a:r>
              <a:rPr lang="de-DE">
                <a:latin typeface="Source Sans Pro"/>
                <a:ea typeface="Source Sans Pro"/>
              </a:rPr>
              <a:t> </a:t>
            </a:r>
            <a:r>
              <a:rPr lang="de-DE" err="1">
                <a:latin typeface="Source Sans Pro"/>
                <a:ea typeface="Source Sans Pro"/>
              </a:rPr>
              <a:t>to</a:t>
            </a:r>
            <a:r>
              <a:rPr lang="de-DE">
                <a:latin typeface="Source Sans Pro"/>
                <a:ea typeface="Source Sans Pro"/>
              </a:rPr>
              <a:t> </a:t>
            </a:r>
            <a:r>
              <a:rPr lang="de-DE" err="1">
                <a:latin typeface="Source Sans Pro"/>
                <a:ea typeface="Source Sans Pro"/>
              </a:rPr>
              <a:t>assembly</a:t>
            </a:r>
            <a:br>
              <a:rPr lang="de-DE">
                <a:latin typeface="Source Sans Pro"/>
                <a:ea typeface="Source Sans Pro"/>
              </a:rPr>
            </a:br>
            <a:r>
              <a:rPr lang="de-DE">
                <a:latin typeface="Source Sans Pro"/>
                <a:ea typeface="Source Sans Pro"/>
              </a:rPr>
              <a:t>4) Use </a:t>
            </a:r>
            <a:r>
              <a:rPr lang="de-DE" err="1">
                <a:latin typeface="Source Sans Pro"/>
                <a:ea typeface="Source Sans Pro"/>
              </a:rPr>
              <a:t>special</a:t>
            </a:r>
            <a:r>
              <a:rPr lang="de-DE">
                <a:latin typeface="Source Sans Pro"/>
                <a:ea typeface="Source Sans Pro"/>
              </a:rPr>
              <a:t> </a:t>
            </a:r>
            <a:r>
              <a:rPr lang="de-DE" err="1">
                <a:latin typeface="Source Sans Pro"/>
                <a:ea typeface="Source Sans Pro"/>
              </a:rPr>
              <a:t>polishing</a:t>
            </a:r>
            <a:r>
              <a:rPr lang="de-DE">
                <a:latin typeface="Source Sans Pro"/>
                <a:ea typeface="Source Sans Pro"/>
              </a:rPr>
              <a:t> </a:t>
            </a:r>
            <a:r>
              <a:rPr lang="de-DE" err="1">
                <a:latin typeface="Source Sans Pro"/>
                <a:ea typeface="Source Sans Pro"/>
              </a:rPr>
              <a:t>model</a:t>
            </a:r>
            <a:r>
              <a:rPr lang="de-DE">
                <a:latin typeface="Source Sans Pro"/>
                <a:ea typeface="Source Sans Pro"/>
              </a:rPr>
              <a:t> </a:t>
            </a:r>
            <a:r>
              <a:rPr lang="de-DE" err="1">
                <a:latin typeface="Source Sans Pro"/>
                <a:ea typeface="Source Sans Pro"/>
              </a:rPr>
              <a:t>to</a:t>
            </a:r>
            <a:r>
              <a:rPr lang="de-DE">
                <a:latin typeface="Source Sans Pro"/>
                <a:ea typeface="Source Sans Pro"/>
              </a:rPr>
              <a:t> </a:t>
            </a:r>
            <a:r>
              <a:rPr lang="de-DE" err="1">
                <a:latin typeface="Source Sans Pro"/>
                <a:ea typeface="Source Sans Pro"/>
              </a:rPr>
              <a:t>get</a:t>
            </a:r>
            <a:r>
              <a:rPr lang="de-DE">
                <a:latin typeface="Source Sans Pro"/>
                <a:ea typeface="Source Sans Pro"/>
              </a:rPr>
              <a:t> </a:t>
            </a:r>
            <a:r>
              <a:rPr lang="de-DE" err="1">
                <a:latin typeface="Source Sans Pro"/>
                <a:ea typeface="Source Sans Pro"/>
              </a:rPr>
              <a:t>rid</a:t>
            </a:r>
            <a:r>
              <a:rPr lang="de-DE">
                <a:latin typeface="Source Sans Pro"/>
                <a:ea typeface="Source Sans Pro"/>
              </a:rPr>
              <a:t> </a:t>
            </a:r>
            <a:r>
              <a:rPr lang="de-DE" err="1">
                <a:latin typeface="Source Sans Pro"/>
                <a:ea typeface="Source Sans Pro"/>
              </a:rPr>
              <a:t>of</a:t>
            </a:r>
            <a:r>
              <a:rPr lang="de-DE">
                <a:latin typeface="Source Sans Pro"/>
                <a:ea typeface="Source Sans Pro"/>
              </a:rPr>
              <a:t> </a:t>
            </a:r>
            <a:r>
              <a:rPr lang="de-DE" err="1">
                <a:latin typeface="Source Sans Pro"/>
                <a:ea typeface="Source Sans Pro"/>
              </a:rPr>
              <a:t>random</a:t>
            </a:r>
            <a:r>
              <a:rPr lang="de-DE">
                <a:latin typeface="Source Sans Pro"/>
                <a:ea typeface="Source Sans Pro"/>
              </a:rPr>
              <a:t> </a:t>
            </a:r>
            <a:r>
              <a:rPr lang="de-DE" err="1">
                <a:latin typeface="Source Sans Pro"/>
                <a:ea typeface="Source Sans Pro"/>
              </a:rPr>
              <a:t>errors</a:t>
            </a:r>
            <a:r>
              <a:rPr lang="de-DE">
                <a:latin typeface="Source Sans Pro"/>
                <a:ea typeface="Source Sans Pro"/>
              </a:rPr>
              <a:t> and </a:t>
            </a:r>
            <a:r>
              <a:rPr lang="de-DE" err="1">
                <a:latin typeface="Source Sans Pro"/>
                <a:ea typeface="Source Sans Pro"/>
              </a:rPr>
              <a:t>improve</a:t>
            </a:r>
            <a:r>
              <a:rPr lang="de-DE">
                <a:latin typeface="Source Sans Pro"/>
                <a:ea typeface="Source Sans Pro"/>
              </a:rPr>
              <a:t> </a:t>
            </a:r>
            <a:r>
              <a:rPr lang="de-DE" err="1">
                <a:latin typeface="Source Sans Pro"/>
                <a:ea typeface="Source Sans Pro"/>
              </a:rPr>
              <a:t>homopolymers</a:t>
            </a:r>
            <a:r>
              <a:rPr lang="de-DE">
                <a:latin typeface="Source Sans Pro"/>
                <a:ea typeface="Source Sans Pro"/>
              </a:rPr>
              <a:t> in </a:t>
            </a:r>
            <a:r>
              <a:rPr lang="de-DE" err="1">
                <a:latin typeface="Source Sans Pro"/>
                <a:ea typeface="Source Sans Pro"/>
              </a:rPr>
              <a:t>assembly</a:t>
            </a:r>
            <a:r>
              <a:rPr lang="de-DE">
                <a:latin typeface="Source Sans Pro"/>
                <a:ea typeface="Source Sans Pro"/>
              </a:rPr>
              <a:t> </a:t>
            </a:r>
            <a:br>
              <a:rPr lang="de-DE">
                <a:latin typeface="Source Sans Pro"/>
                <a:ea typeface="Source Sans Pro"/>
              </a:rPr>
            </a:br>
            <a:r>
              <a:rPr lang="de-DE">
                <a:latin typeface="Source Sans Pro"/>
                <a:ea typeface="Source Sans Pro"/>
              </a:rPr>
              <a:t>   </a:t>
            </a:r>
            <a:endParaRPr lang="de-DE"/>
          </a:p>
          <a:p>
            <a:pPr marL="0" indent="0">
              <a:buNone/>
            </a:pPr>
            <a:r>
              <a:rPr lang="de-DE" b="1">
                <a:latin typeface="Source Sans Pro"/>
                <a:ea typeface="Source Sans Pro"/>
              </a:rPr>
              <a:t>Lab:</a:t>
            </a:r>
          </a:p>
          <a:p>
            <a:pPr marL="457200" lvl="1" indent="0">
              <a:buNone/>
            </a:pPr>
            <a:r>
              <a:rPr lang="de-DE">
                <a:latin typeface="Source Sans Pro"/>
                <a:ea typeface="Source Sans Pro"/>
              </a:rPr>
              <a:t>~5ug DNA </a:t>
            </a:r>
            <a:r>
              <a:rPr lang="de-DE" err="1">
                <a:latin typeface="Source Sans Pro"/>
                <a:ea typeface="Source Sans Pro"/>
              </a:rPr>
              <a:t>as</a:t>
            </a:r>
            <a:r>
              <a:rPr lang="de-DE">
                <a:latin typeface="Source Sans Pro"/>
                <a:ea typeface="Source Sans Pro"/>
              </a:rPr>
              <a:t> </a:t>
            </a:r>
            <a:r>
              <a:rPr lang="de-DE" err="1">
                <a:latin typeface="Source Sans Pro"/>
                <a:ea typeface="Source Sans Pro"/>
              </a:rPr>
              <a:t>starting</a:t>
            </a:r>
            <a:r>
              <a:rPr lang="de-DE">
                <a:latin typeface="Source Sans Pro"/>
                <a:ea typeface="Source Sans Pro"/>
              </a:rPr>
              <a:t> material</a:t>
            </a:r>
            <a:endParaRPr lang="de-DE"/>
          </a:p>
          <a:p>
            <a:pPr marL="457200" lvl="1" indent="0">
              <a:buNone/>
            </a:pPr>
            <a:r>
              <a:rPr lang="de-DE">
                <a:latin typeface="Source Sans Pro"/>
                <a:ea typeface="Source Sans Pro"/>
              </a:rPr>
              <a:t>2-3 </a:t>
            </a:r>
            <a:r>
              <a:rPr lang="de-DE" err="1">
                <a:latin typeface="Source Sans Pro"/>
                <a:ea typeface="Source Sans Pro"/>
              </a:rPr>
              <a:t>day</a:t>
            </a:r>
            <a:r>
              <a:rPr lang="de-DE">
                <a:latin typeface="Source Sans Pro"/>
                <a:ea typeface="Source Sans Pro"/>
              </a:rPr>
              <a:t> </a:t>
            </a:r>
            <a:r>
              <a:rPr lang="de-DE" err="1">
                <a:latin typeface="Source Sans Pro"/>
                <a:ea typeface="Source Sans Pro"/>
              </a:rPr>
              <a:t>process</a:t>
            </a:r>
          </a:p>
          <a:p>
            <a:pPr marL="457200" lvl="1" indent="0">
              <a:buNone/>
            </a:pPr>
            <a:r>
              <a:rPr lang="de-DE" err="1">
                <a:latin typeface="Source Sans Pro"/>
                <a:ea typeface="Source Sans Pro"/>
              </a:rPr>
              <a:t>Does</a:t>
            </a:r>
            <a:r>
              <a:rPr lang="de-DE">
                <a:latin typeface="Source Sans Pro"/>
                <a:ea typeface="Source Sans Pro"/>
              </a:rPr>
              <a:t> not </a:t>
            </a:r>
            <a:r>
              <a:rPr lang="de-DE" err="1">
                <a:latin typeface="Source Sans Pro"/>
                <a:ea typeface="Source Sans Pro"/>
              </a:rPr>
              <a:t>require</a:t>
            </a:r>
            <a:r>
              <a:rPr lang="de-DE">
                <a:latin typeface="Source Sans Pro"/>
                <a:ea typeface="Source Sans Pro"/>
              </a:rPr>
              <a:t> UHMW DNA</a:t>
            </a:r>
          </a:p>
          <a:p>
            <a:pPr marL="457200" lvl="1" indent="0">
              <a:buNone/>
            </a:pPr>
            <a:r>
              <a:rPr lang="de-DE">
                <a:latin typeface="Source Sans Pro"/>
                <a:ea typeface="Source Sans Pro"/>
              </a:rPr>
              <a:t>APK Kit </a:t>
            </a:r>
            <a:r>
              <a:rPr lang="de-DE" err="1">
                <a:latin typeface="Source Sans Pro"/>
                <a:ea typeface="Source Sans Pro"/>
              </a:rPr>
              <a:t>from</a:t>
            </a:r>
            <a:r>
              <a:rPr lang="de-DE">
                <a:latin typeface="Source Sans Pro"/>
                <a:ea typeface="Source Sans Pro"/>
              </a:rPr>
              <a:t> ONT</a:t>
            </a:r>
          </a:p>
          <a:p>
            <a:pPr marL="457200" lvl="1" indent="0">
              <a:buNone/>
            </a:pPr>
            <a:endParaRPr lang="de-DE">
              <a:latin typeface="Source Sans Pro"/>
              <a:ea typeface="Source Sans Pro"/>
            </a:endParaRPr>
          </a:p>
          <a:p>
            <a:endParaRPr lang="de-DE">
              <a:latin typeface="Source Sans Pro"/>
              <a:ea typeface="Source Sans Pro"/>
            </a:endParaRPr>
          </a:p>
          <a:p>
            <a:endParaRPr lang="de-DE">
              <a:latin typeface="Source Sans Pro"/>
              <a:ea typeface="Source Sans Pro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254D60A-9FDC-1000-E495-E07F607174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EBCBD6E-CC9A-DE76-6483-2029764F2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Source Sans Pro SemiBold"/>
                <a:ea typeface="Source Sans Pro SemiBold"/>
              </a:rPr>
              <a:t>APK </a:t>
            </a:r>
            <a:r>
              <a:rPr lang="de-DE" err="1">
                <a:latin typeface="Source Sans Pro SemiBold"/>
                <a:ea typeface="Source Sans Pro SemiBold"/>
              </a:rPr>
              <a:t>sequencing</a:t>
            </a:r>
          </a:p>
        </p:txBody>
      </p:sp>
      <p:pic>
        <p:nvPicPr>
          <p:cNvPr id="6" name="Grafik 5" descr="Ein Bild, das Text, Screenshot, Schrift, Reihe enthält.&#10;&#10;KI-generierte Inhalte können fehlerhaft sein.">
            <a:extLst>
              <a:ext uri="{FF2B5EF4-FFF2-40B4-BE49-F238E27FC236}">
                <a16:creationId xmlns:a16="http://schemas.microsoft.com/office/drawing/2014/main" id="{5B64C469-8E48-4799-F680-28225A58D2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726" b="52657"/>
          <a:stretch>
            <a:fillRect/>
          </a:stretch>
        </p:blipFill>
        <p:spPr>
          <a:xfrm>
            <a:off x="6858000" y="758829"/>
            <a:ext cx="4572014" cy="2579741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7D6874D4-A53C-C2ED-251A-C384A251529E}"/>
              </a:ext>
            </a:extLst>
          </p:cNvPr>
          <p:cNvSpPr txBox="1"/>
          <p:nvPr/>
        </p:nvSpPr>
        <p:spPr>
          <a:xfrm>
            <a:off x="7144031" y="3335392"/>
            <a:ext cx="39990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>
                <a:latin typeface="Fira Code"/>
                <a:ea typeface="Source Sans Pro"/>
                <a:cs typeface="Fira Code"/>
              </a:rPr>
              <a:t>TCT</a:t>
            </a:r>
            <a:r>
              <a:rPr lang="de-DE">
                <a:highlight>
                  <a:srgbClr val="C0C0C0"/>
                </a:highlight>
                <a:latin typeface="Fira Code"/>
                <a:ea typeface="Source Sans Pro"/>
                <a:cs typeface="Fira Code"/>
              </a:rPr>
              <a:t>GGGG</a:t>
            </a:r>
            <a:r>
              <a:rPr lang="de-DE">
                <a:highlight>
                  <a:srgbClr val="FFFF00"/>
                </a:highlight>
                <a:latin typeface="Fira Code"/>
                <a:ea typeface="Source Sans Pro"/>
                <a:cs typeface="Fira Code"/>
              </a:rPr>
              <a:t>A</a:t>
            </a:r>
            <a:r>
              <a:rPr lang="de-DE">
                <a:highlight>
                  <a:srgbClr val="C0C0C0"/>
                </a:highlight>
                <a:latin typeface="Fira Code"/>
                <a:ea typeface="Source Sans Pro"/>
                <a:cs typeface="Fira Code"/>
              </a:rPr>
              <a:t>GGGG</a:t>
            </a:r>
            <a:r>
              <a:rPr lang="de-DE">
                <a:latin typeface="Fira Code"/>
                <a:ea typeface="Source Sans Pro"/>
                <a:cs typeface="Fira Code"/>
              </a:rPr>
              <a:t>TCTTGGAG</a:t>
            </a:r>
            <a:r>
              <a:rPr lang="de-DE">
                <a:highlight>
                  <a:srgbClr val="FFFF00"/>
                </a:highlight>
                <a:latin typeface="Fira Code"/>
                <a:ea typeface="Source Sans Pro"/>
                <a:cs typeface="Fira Code"/>
              </a:rPr>
              <a:t>T</a:t>
            </a:r>
            <a:r>
              <a:rPr lang="de-DE">
                <a:latin typeface="Fira Code"/>
                <a:ea typeface="Source Sans Pro"/>
                <a:cs typeface="Fira Code"/>
              </a:rPr>
              <a:t>CGGTTG</a:t>
            </a:r>
            <a:endParaRPr lang="de-DE">
              <a:latin typeface="Source Sans Pro"/>
              <a:ea typeface="Source Sans Pro"/>
              <a:cs typeface="Fira Code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121AFCF-4E25-2996-1FBB-1D63ECE4A8E5}"/>
              </a:ext>
            </a:extLst>
          </p:cNvPr>
          <p:cNvSpPr txBox="1"/>
          <p:nvPr/>
        </p:nvSpPr>
        <p:spPr>
          <a:xfrm>
            <a:off x="9945880" y="2839089"/>
            <a:ext cx="7617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3200">
                <a:ea typeface="Source Sans Pro"/>
              </a:rPr>
              <a:t>*</a:t>
            </a:r>
            <a:endParaRPr lang="de-DE" sz="320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F445663-4615-E4D4-F539-79C521748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7525" y="3701324"/>
            <a:ext cx="4183769" cy="189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394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C2372A6-5D4D-5BC2-A55F-806A4ACF1A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35B519E8-935B-FFD0-9225-0DA3E23E0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ource Sans Pro SemiBold"/>
                <a:ea typeface="Source Sans Pro SemiBold"/>
              </a:rPr>
              <a:t>Analysis </a:t>
            </a:r>
            <a:r>
              <a:rPr lang="de-DE" dirty="0" err="1">
                <a:latin typeface="Source Sans Pro SemiBold"/>
                <a:ea typeface="Source Sans Pro SemiBold"/>
              </a:rPr>
              <a:t>pipeline</a:t>
            </a:r>
            <a:endParaRPr lang="de-DE" dirty="0" err="1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D281F89-3B85-BD5D-5E77-15502C881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644" y="1534442"/>
            <a:ext cx="8563368" cy="3794514"/>
          </a:xfrm>
          <a:prstGeom prst="rect">
            <a:avLst/>
          </a:prstGeom>
        </p:spPr>
      </p:pic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95C1323-5FAB-3ADB-E30C-D955D4020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00" y="5754477"/>
            <a:ext cx="11664336" cy="422487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0392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0E4A6-EB92-492D-58A4-F339DA3E3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591698CC-185E-0DA4-E2DC-05651057E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768" y="2967135"/>
            <a:ext cx="3253225" cy="3276945"/>
          </a:xfrm>
        </p:spPr>
        <p:txBody>
          <a:bodyPr lIns="91440" tIns="45720" rIns="91440" bIns="45720" anchor="t"/>
          <a:lstStyle/>
          <a:p>
            <a:pPr marL="457200" lvl="1" indent="0">
              <a:buNone/>
            </a:pPr>
            <a:r>
              <a:rPr lang="de-DE" b="1" dirty="0">
                <a:latin typeface="Source Sans Pro"/>
                <a:ea typeface="Source Sans Pro"/>
              </a:rPr>
              <a:t>HQ:</a:t>
            </a:r>
            <a:r>
              <a:rPr lang="de-DE" dirty="0">
                <a:latin typeface="Source Sans Pro"/>
                <a:ea typeface="Source Sans Pro"/>
              </a:rPr>
              <a:t> </a:t>
            </a:r>
          </a:p>
          <a:p>
            <a:pPr lvl="2"/>
            <a:r>
              <a:rPr lang="de-DE" dirty="0"/>
              <a:t>Max 50x </a:t>
            </a:r>
            <a:r>
              <a:rPr lang="de-DE" dirty="0" err="1"/>
              <a:t>coverage</a:t>
            </a:r>
            <a:endParaRPr lang="de-DE" dirty="0"/>
          </a:p>
          <a:p>
            <a:pPr lvl="2"/>
            <a:r>
              <a:rPr lang="de-DE" dirty="0"/>
              <a:t>&gt;Q9</a:t>
            </a:r>
          </a:p>
          <a:p>
            <a:pPr lvl="2"/>
            <a:r>
              <a:rPr lang="de-DE" dirty="0" err="1">
                <a:latin typeface="Source Sans Pro"/>
                <a:ea typeface="Source Sans Pro"/>
              </a:rPr>
              <a:t>Length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priority</a:t>
            </a:r>
            <a:r>
              <a:rPr lang="de-DE" dirty="0">
                <a:latin typeface="Source Sans Pro"/>
                <a:ea typeface="Source Sans Pro"/>
              </a:rPr>
              <a:t> in </a:t>
            </a:r>
            <a:r>
              <a:rPr lang="de-DE" dirty="0" err="1">
                <a:latin typeface="Source Sans Pro"/>
                <a:ea typeface="Source Sans Pro"/>
              </a:rPr>
              <a:t>sampling</a:t>
            </a:r>
            <a:endParaRPr lang="de-DE" dirty="0" err="1"/>
          </a:p>
          <a:p>
            <a:pPr marL="457200" lvl="1" indent="0">
              <a:buNone/>
            </a:pPr>
            <a:r>
              <a:rPr lang="de-DE" b="1" dirty="0">
                <a:latin typeface="Source Sans Pro"/>
                <a:ea typeface="Source Sans Pro"/>
              </a:rPr>
              <a:t>UL:</a:t>
            </a:r>
          </a:p>
          <a:p>
            <a:pPr lvl="2"/>
            <a:r>
              <a:rPr lang="de-DE" dirty="0"/>
              <a:t> Max 70x </a:t>
            </a:r>
            <a:r>
              <a:rPr lang="de-DE" dirty="0" err="1"/>
              <a:t>coverage</a:t>
            </a:r>
            <a:endParaRPr lang="de-DE" dirty="0"/>
          </a:p>
          <a:p>
            <a:pPr lvl="2"/>
            <a:r>
              <a:rPr lang="de-DE" dirty="0"/>
              <a:t>&gt; Q9</a:t>
            </a:r>
          </a:p>
          <a:p>
            <a:pPr lvl="2"/>
            <a:r>
              <a:rPr lang="de-DE" dirty="0"/>
              <a:t>&gt;80kb </a:t>
            </a:r>
            <a:r>
              <a:rPr lang="de-DE" dirty="0" err="1"/>
              <a:t>Length</a:t>
            </a:r>
            <a:endParaRPr lang="de-DE" dirty="0"/>
          </a:p>
          <a:p>
            <a:pPr lvl="2"/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BD81C3E-B4DF-BDC0-D809-9949E4EA8D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76E761E6-60BF-0D20-132F-9C17499C3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99" y="0"/>
            <a:ext cx="6235405" cy="1045029"/>
          </a:xfrm>
        </p:spPr>
        <p:txBody>
          <a:bodyPr/>
          <a:lstStyle/>
          <a:p>
            <a:r>
              <a:rPr lang="de-DE" dirty="0">
                <a:latin typeface="Source Sans Pro SemiBold"/>
                <a:ea typeface="Source Sans Pro SemiBold"/>
              </a:rPr>
              <a:t>Read QC</a:t>
            </a:r>
            <a:endParaRPr lang="de-DE" dirty="0"/>
          </a:p>
        </p:txBody>
      </p:sp>
      <p:sp>
        <p:nvSpPr>
          <p:cNvPr id="6" name="Inhaltsplatzhalter 1">
            <a:extLst>
              <a:ext uri="{FF2B5EF4-FFF2-40B4-BE49-F238E27FC236}">
                <a16:creationId xmlns:a16="http://schemas.microsoft.com/office/drawing/2014/main" id="{4985BFF1-7B49-7165-C2A4-8B637CC0E7FE}"/>
              </a:ext>
            </a:extLst>
          </p:cNvPr>
          <p:cNvSpPr>
            <a:spLocks noGrp="1"/>
          </p:cNvSpPr>
          <p:nvPr/>
        </p:nvSpPr>
        <p:spPr>
          <a:xfrm>
            <a:off x="627336" y="1417938"/>
            <a:ext cx="4455899" cy="133826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 err="1">
                <a:latin typeface="Source Sans Pro"/>
                <a:ea typeface="Source Sans Pro"/>
              </a:rPr>
              <a:t>No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improvements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with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very</a:t>
            </a:r>
            <a:r>
              <a:rPr lang="de-DE" dirty="0">
                <a:latin typeface="Source Sans Pro"/>
                <a:ea typeface="Source Sans Pro"/>
              </a:rPr>
              <a:t> high </a:t>
            </a:r>
            <a:r>
              <a:rPr lang="de-DE" dirty="0" err="1">
                <a:latin typeface="Source Sans Pro"/>
                <a:ea typeface="Source Sans Pro"/>
              </a:rPr>
              <a:t>input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coverages</a:t>
            </a:r>
            <a:endParaRPr lang="de-DE" dirty="0"/>
          </a:p>
          <a:p>
            <a:r>
              <a:rPr lang="de-DE" dirty="0">
                <a:latin typeface="Source Sans Pro"/>
                <a:ea typeface="Source Sans Pro"/>
              </a:rPr>
              <a:t>2 Library </a:t>
            </a:r>
            <a:r>
              <a:rPr lang="de-DE" dirty="0" err="1">
                <a:latin typeface="Source Sans Pro"/>
                <a:ea typeface="Source Sans Pro"/>
              </a:rPr>
              <a:t>Preps</a:t>
            </a:r>
            <a:r>
              <a:rPr lang="de-DE" dirty="0">
                <a:latin typeface="Source Sans Pro"/>
                <a:ea typeface="Source Sans Pro"/>
              </a:rPr>
              <a:t>: </a:t>
            </a:r>
            <a:r>
              <a:rPr lang="de-DE" dirty="0" err="1">
                <a:latin typeface="Source Sans Pro"/>
                <a:ea typeface="Source Sans Pro"/>
              </a:rPr>
              <a:t>enough</a:t>
            </a:r>
            <a:r>
              <a:rPr lang="de-DE" dirty="0">
                <a:latin typeface="Source Sans Pro"/>
                <a:ea typeface="Source Sans Pro"/>
              </a:rPr>
              <a:t> DNA </a:t>
            </a:r>
            <a:r>
              <a:rPr lang="de-DE" dirty="0" err="1">
                <a:latin typeface="Source Sans Pro"/>
                <a:ea typeface="Source Sans Pro"/>
              </a:rPr>
              <a:t>for</a:t>
            </a:r>
            <a:r>
              <a:rPr lang="de-DE" dirty="0">
                <a:latin typeface="Source Sans Pro"/>
                <a:ea typeface="Source Sans Pro"/>
              </a:rPr>
              <a:t> 14 </a:t>
            </a:r>
            <a:r>
              <a:rPr lang="de-DE" dirty="0" err="1">
                <a:latin typeface="Source Sans Pro"/>
                <a:ea typeface="Source Sans Pro"/>
              </a:rPr>
              <a:t>Loadings</a:t>
            </a:r>
            <a:r>
              <a:rPr lang="de-DE" dirty="0">
                <a:latin typeface="Source Sans Pro"/>
                <a:ea typeface="Source Sans Pro"/>
              </a:rPr>
              <a:t> on 3 </a:t>
            </a:r>
            <a:r>
              <a:rPr lang="de-DE" dirty="0" err="1">
                <a:latin typeface="Source Sans Pro"/>
                <a:ea typeface="Source Sans Pro"/>
              </a:rPr>
              <a:t>Flowcells</a:t>
            </a:r>
            <a:r>
              <a:rPr lang="de-DE" dirty="0">
                <a:latin typeface="Source Sans Pro"/>
                <a:ea typeface="Source Sans Pro"/>
              </a:rPr>
              <a:t> 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7508276-8C29-F259-EAC2-00C9C59DD3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7017" y="1244595"/>
            <a:ext cx="6400813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76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nhaltsplatzhalter 31">
            <a:extLst>
              <a:ext uri="{FF2B5EF4-FFF2-40B4-BE49-F238E27FC236}">
                <a16:creationId xmlns:a16="http://schemas.microsoft.com/office/drawing/2014/main" id="{38D9F685-C3D8-67E4-2C83-27D380716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999" y="1219200"/>
            <a:ext cx="3257625" cy="4957764"/>
          </a:xfrm>
        </p:spPr>
        <p:txBody>
          <a:bodyPr lIns="91440" tIns="45720" rIns="91440" bIns="45720" anchor="t"/>
          <a:lstStyle/>
          <a:p>
            <a:r>
              <a:rPr lang="de-DE" dirty="0" err="1">
                <a:latin typeface="Source Sans Pro"/>
                <a:ea typeface="Source Sans Pro"/>
              </a:rPr>
              <a:t>Generated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with</a:t>
            </a:r>
            <a:r>
              <a:rPr lang="de-DE" dirty="0">
                <a:latin typeface="Source Sans Pro"/>
                <a:ea typeface="Source Sans Pro"/>
              </a:rPr>
              <a:t> HQ + UL</a:t>
            </a:r>
            <a:endParaRPr lang="de-DE" dirty="0"/>
          </a:p>
          <a:p>
            <a:r>
              <a:rPr lang="de-DE" dirty="0">
                <a:latin typeface="Source Sans Pro"/>
                <a:ea typeface="Source Sans Pro"/>
              </a:rPr>
              <a:t>Primary </a:t>
            </a:r>
            <a:r>
              <a:rPr lang="de-DE" dirty="0" err="1">
                <a:latin typeface="Source Sans Pro"/>
                <a:ea typeface="Source Sans Pro"/>
              </a:rPr>
              <a:t>assembly</a:t>
            </a:r>
            <a:r>
              <a:rPr lang="de-DE" dirty="0">
                <a:latin typeface="Source Sans Pro"/>
                <a:ea typeface="Source Sans Pro"/>
              </a:rPr>
              <a:t>, </a:t>
            </a:r>
            <a:r>
              <a:rPr lang="de-DE" dirty="0" err="1">
                <a:latin typeface="Source Sans Pro"/>
                <a:ea typeface="Source Sans Pro"/>
              </a:rPr>
              <a:t>unphased</a:t>
            </a:r>
            <a:r>
              <a:rPr lang="de-DE" dirty="0">
                <a:latin typeface="Source Sans Pro"/>
                <a:ea typeface="Source Sans Pro"/>
              </a:rPr>
              <a:t>, not </a:t>
            </a:r>
            <a:r>
              <a:rPr lang="de-DE" dirty="0" err="1">
                <a:latin typeface="Source Sans Pro"/>
                <a:ea typeface="Source Sans Pro"/>
              </a:rPr>
              <a:t>scaffolded</a:t>
            </a:r>
            <a:endParaRPr lang="de-DE" dirty="0">
              <a:latin typeface="Source Sans Pro"/>
              <a:ea typeface="Source Sans Pro"/>
            </a:endParaRPr>
          </a:p>
          <a:p>
            <a:r>
              <a:rPr lang="de-DE" dirty="0" err="1">
                <a:latin typeface="Source Sans Pro"/>
                <a:ea typeface="Source Sans Pro"/>
              </a:rPr>
              <a:t>Acrocentric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chromosomes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cluster</a:t>
            </a:r>
            <a:r>
              <a:rPr lang="de-DE" dirty="0">
                <a:latin typeface="Source Sans Pro"/>
                <a:ea typeface="Source Sans Pro"/>
              </a:rPr>
              <a:t> at repetitive </a:t>
            </a:r>
            <a:r>
              <a:rPr lang="de-DE" dirty="0" err="1">
                <a:latin typeface="Source Sans Pro"/>
                <a:ea typeface="Source Sans Pro"/>
              </a:rPr>
              <a:t>sequences</a:t>
            </a:r>
            <a:endParaRPr lang="de-DE" dirty="0">
              <a:latin typeface="Source Sans Pro"/>
              <a:ea typeface="Source Sans Pro"/>
            </a:endParaRPr>
          </a:p>
          <a:p>
            <a:r>
              <a:rPr lang="de-DE" dirty="0">
                <a:latin typeface="Source Sans Pro"/>
                <a:ea typeface="Source Sans Pro"/>
              </a:rPr>
              <a:t>Sex </a:t>
            </a:r>
            <a:r>
              <a:rPr lang="de-DE" dirty="0" err="1">
                <a:latin typeface="Source Sans Pro"/>
                <a:ea typeface="Source Sans Pro"/>
              </a:rPr>
              <a:t>chromosomes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only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single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stranded</a:t>
            </a:r>
            <a:r>
              <a:rPr lang="de-DE" dirty="0">
                <a:latin typeface="Source Sans Pro"/>
                <a:ea typeface="Source Sans Pro"/>
              </a:rPr>
              <a:t> (haploid)</a:t>
            </a:r>
          </a:p>
          <a:p>
            <a:r>
              <a:rPr lang="de-DE" dirty="0">
                <a:latin typeface="Source Sans Pro"/>
                <a:ea typeface="Source Sans Pro"/>
              </a:rPr>
              <a:t>Mapping </a:t>
            </a:r>
            <a:r>
              <a:rPr lang="de-DE" dirty="0" err="1">
                <a:latin typeface="Source Sans Pro"/>
                <a:ea typeface="Source Sans Pro"/>
              </a:rPr>
              <a:t>to</a:t>
            </a:r>
            <a:r>
              <a:rPr lang="de-DE" dirty="0">
                <a:latin typeface="Source Sans Pro"/>
                <a:ea typeface="Source Sans Pro"/>
              </a:rPr>
              <a:t> CHM13 </a:t>
            </a:r>
            <a:r>
              <a:rPr lang="de-DE" dirty="0" err="1">
                <a:latin typeface="Source Sans Pro"/>
                <a:ea typeface="Source Sans Pro"/>
              </a:rPr>
              <a:t>reveals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chromosome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names</a:t>
            </a:r>
            <a:endParaRPr lang="de-DE" dirty="0" err="1"/>
          </a:p>
        </p:txBody>
      </p:sp>
      <p:sp>
        <p:nvSpPr>
          <p:cNvPr id="33" name="Textplatzhalter 32">
            <a:extLst>
              <a:ext uri="{FF2B5EF4-FFF2-40B4-BE49-F238E27FC236}">
                <a16:creationId xmlns:a16="http://schemas.microsoft.com/office/drawing/2014/main" id="{78FDF025-679F-D8FB-4F6F-B017CE695B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888EE6C-8B3C-BCC8-2871-1513C9ED0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+mn-lt"/>
              </a:rPr>
              <a:t>Assembly </a:t>
            </a:r>
            <a:r>
              <a:rPr lang="de-DE" err="1">
                <a:latin typeface="+mn-lt"/>
              </a:rPr>
              <a:t>graph</a:t>
            </a:r>
            <a:r>
              <a:rPr lang="de-DE">
                <a:latin typeface="+mn-lt"/>
              </a:rPr>
              <a:t> </a:t>
            </a:r>
            <a:r>
              <a:rPr lang="de-DE" err="1">
                <a:latin typeface="+mn-lt"/>
              </a:rPr>
              <a:t>visualisation</a:t>
            </a:r>
            <a:endParaRPr lang="de-DE">
              <a:latin typeface="+mn-lt"/>
            </a:endParaRP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F97DE848-D9D1-143C-3EEC-7BA5B4486001}"/>
              </a:ext>
            </a:extLst>
          </p:cNvPr>
          <p:cNvGrpSpPr/>
          <p:nvPr/>
        </p:nvGrpSpPr>
        <p:grpSpPr>
          <a:xfrm>
            <a:off x="3390900" y="939800"/>
            <a:ext cx="8743280" cy="5719033"/>
            <a:chOff x="828186" y="0"/>
            <a:chExt cx="10535628" cy="6858000"/>
          </a:xfrm>
        </p:grpSpPr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E30DDAE8-7F91-6E08-06FC-47E768CAC5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8186" y="0"/>
              <a:ext cx="10535628" cy="6858000"/>
            </a:xfrm>
            <a:prstGeom prst="rect">
              <a:avLst/>
            </a:prstGeom>
          </p:spPr>
        </p:pic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27D42267-A8CC-29E0-B6CC-CB40515C9D72}"/>
                </a:ext>
              </a:extLst>
            </p:cNvPr>
            <p:cNvSpPr txBox="1"/>
            <p:nvPr/>
          </p:nvSpPr>
          <p:spPr>
            <a:xfrm>
              <a:off x="3105150" y="590550"/>
              <a:ext cx="726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/>
                <a:t>chr22</a:t>
              </a:r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2E156D57-D591-0DA9-1683-7DF9870187E4}"/>
                </a:ext>
              </a:extLst>
            </p:cNvPr>
            <p:cNvSpPr txBox="1"/>
            <p:nvPr/>
          </p:nvSpPr>
          <p:spPr>
            <a:xfrm>
              <a:off x="3780082" y="1181100"/>
              <a:ext cx="726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/>
                <a:t>chr15</a:t>
              </a:r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9A842EBD-36D5-9FCD-4824-1B375CA74265}"/>
                </a:ext>
              </a:extLst>
            </p:cNvPr>
            <p:cNvSpPr txBox="1"/>
            <p:nvPr/>
          </p:nvSpPr>
          <p:spPr>
            <a:xfrm>
              <a:off x="3823616" y="2078316"/>
              <a:ext cx="726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/>
                <a:t>chr14</a:t>
              </a: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26D2B885-3E75-6769-F02A-98AB1A2D91F7}"/>
                </a:ext>
              </a:extLst>
            </p:cNvPr>
            <p:cNvSpPr txBox="1"/>
            <p:nvPr/>
          </p:nvSpPr>
          <p:spPr>
            <a:xfrm>
              <a:off x="1807033" y="868602"/>
              <a:ext cx="726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/>
                <a:t>chr13</a:t>
              </a:r>
            </a:p>
          </p:txBody>
        </p: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4655A886-191F-BC67-1870-0471BE5C03EF}"/>
                </a:ext>
              </a:extLst>
            </p:cNvPr>
            <p:cNvSpPr txBox="1"/>
            <p:nvPr/>
          </p:nvSpPr>
          <p:spPr>
            <a:xfrm>
              <a:off x="5517249" y="1181100"/>
              <a:ext cx="6110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/>
                <a:t>chr2</a:t>
              </a:r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1D3313DC-D8CC-B48C-63C7-F865D90AC16B}"/>
                </a:ext>
              </a:extLst>
            </p:cNvPr>
            <p:cNvSpPr txBox="1"/>
            <p:nvPr/>
          </p:nvSpPr>
          <p:spPr>
            <a:xfrm>
              <a:off x="6706958" y="2131497"/>
              <a:ext cx="6110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/>
                <a:t>chr4</a:t>
              </a:r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5AC57166-D292-68AF-10BF-2898BCEC831C}"/>
                </a:ext>
              </a:extLst>
            </p:cNvPr>
            <p:cNvSpPr txBox="1"/>
            <p:nvPr/>
          </p:nvSpPr>
          <p:spPr>
            <a:xfrm>
              <a:off x="8004219" y="2303463"/>
              <a:ext cx="6110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/>
                <a:t>chr6</a:t>
              </a:r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D229697C-7DFD-0239-06F2-9E64BEB55E77}"/>
                </a:ext>
              </a:extLst>
            </p:cNvPr>
            <p:cNvSpPr txBox="1"/>
            <p:nvPr/>
          </p:nvSpPr>
          <p:spPr>
            <a:xfrm>
              <a:off x="9385344" y="1765856"/>
              <a:ext cx="726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/>
                <a:t>chr11</a:t>
              </a:r>
            </a:p>
          </p:txBody>
        </p: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C2FA70C6-290A-BE1C-DE41-6211C78341A1}"/>
                </a:ext>
              </a:extLst>
            </p:cNvPr>
            <p:cNvSpPr txBox="1"/>
            <p:nvPr/>
          </p:nvSpPr>
          <p:spPr>
            <a:xfrm>
              <a:off x="2116426" y="3727491"/>
              <a:ext cx="726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/>
                <a:t>chr12</a:t>
              </a:r>
            </a:p>
          </p:txBody>
        </p: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C5103A1C-334F-66A4-BBF1-04E833C272AB}"/>
                </a:ext>
              </a:extLst>
            </p:cNvPr>
            <p:cNvSpPr txBox="1"/>
            <p:nvPr/>
          </p:nvSpPr>
          <p:spPr>
            <a:xfrm>
              <a:off x="3992851" y="3472895"/>
              <a:ext cx="6110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/>
                <a:t>chr3</a:t>
              </a:r>
            </a:p>
          </p:txBody>
        </p: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86FC218F-0D0E-A51C-B16F-DD5279BDAA6D}"/>
                </a:ext>
              </a:extLst>
            </p:cNvPr>
            <p:cNvSpPr txBox="1"/>
            <p:nvPr/>
          </p:nvSpPr>
          <p:spPr>
            <a:xfrm>
              <a:off x="6390432" y="3940731"/>
              <a:ext cx="6110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/>
                <a:t>chr1</a:t>
              </a:r>
            </a:p>
          </p:txBody>
        </p:sp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F6997BC8-5186-5F97-B524-078CC7BF6C5D}"/>
                </a:ext>
              </a:extLst>
            </p:cNvPr>
            <p:cNvSpPr txBox="1"/>
            <p:nvPr/>
          </p:nvSpPr>
          <p:spPr>
            <a:xfrm>
              <a:off x="9300121" y="3912157"/>
              <a:ext cx="6062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err="1"/>
                <a:t>chrY</a:t>
              </a:r>
              <a:endParaRPr lang="de-DE"/>
            </a:p>
          </p:txBody>
        </p: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4EDFBA3F-7E71-62B1-753C-2F290FD1EDF7}"/>
                </a:ext>
              </a:extLst>
            </p:cNvPr>
            <p:cNvSpPr txBox="1"/>
            <p:nvPr/>
          </p:nvSpPr>
          <p:spPr>
            <a:xfrm>
              <a:off x="2806831" y="5013921"/>
              <a:ext cx="6110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/>
                <a:t>chr7</a:t>
              </a:r>
            </a:p>
          </p:txBody>
        </p: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6B22E0A5-BA2C-E3D7-9498-F1DE6EFACC5E}"/>
                </a:ext>
              </a:extLst>
            </p:cNvPr>
            <p:cNvSpPr txBox="1"/>
            <p:nvPr/>
          </p:nvSpPr>
          <p:spPr>
            <a:xfrm>
              <a:off x="4842421" y="4531282"/>
              <a:ext cx="6110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/>
                <a:t>chr5</a:t>
              </a:r>
            </a:p>
          </p:txBody>
        </p: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92AD850A-1F48-72AE-9571-68010E633B94}"/>
                </a:ext>
              </a:extLst>
            </p:cNvPr>
            <p:cNvSpPr txBox="1"/>
            <p:nvPr/>
          </p:nvSpPr>
          <p:spPr>
            <a:xfrm>
              <a:off x="6096000" y="4655187"/>
              <a:ext cx="6110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/>
                <a:t>chr9</a:t>
              </a:r>
            </a:p>
          </p:txBody>
        </p: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B3242F9D-739F-E218-2DD6-236E41C2FC81}"/>
                </a:ext>
              </a:extLst>
            </p:cNvPr>
            <p:cNvSpPr txBox="1"/>
            <p:nvPr/>
          </p:nvSpPr>
          <p:spPr>
            <a:xfrm>
              <a:off x="8043823" y="4717101"/>
              <a:ext cx="726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/>
                <a:t>chr17</a:t>
              </a: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45375C95-2264-4548-ED27-BE8AB6286F6A}"/>
                </a:ext>
              </a:extLst>
            </p:cNvPr>
            <p:cNvSpPr txBox="1"/>
            <p:nvPr/>
          </p:nvSpPr>
          <p:spPr>
            <a:xfrm>
              <a:off x="2014498" y="5566628"/>
              <a:ext cx="726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/>
                <a:t>chr10</a:t>
              </a:r>
            </a:p>
          </p:txBody>
        </p: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513A09C4-CDBA-5828-4654-A91922495906}"/>
                </a:ext>
              </a:extLst>
            </p:cNvPr>
            <p:cNvSpPr txBox="1"/>
            <p:nvPr/>
          </p:nvSpPr>
          <p:spPr>
            <a:xfrm>
              <a:off x="4123955" y="5645192"/>
              <a:ext cx="6110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/>
                <a:t>chr8</a:t>
              </a:r>
            </a:p>
          </p:txBody>
        </p: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CA82FC49-5C6D-21A3-1041-CAD59605979B}"/>
                </a:ext>
              </a:extLst>
            </p:cNvPr>
            <p:cNvSpPr txBox="1"/>
            <p:nvPr/>
          </p:nvSpPr>
          <p:spPr>
            <a:xfrm>
              <a:off x="6748667" y="5606576"/>
              <a:ext cx="6142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err="1"/>
                <a:t>chrX</a:t>
              </a:r>
              <a:endParaRPr lang="de-DE"/>
            </a:p>
          </p:txBody>
        </p: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B4C0F325-2DCA-6CA9-D875-9BA64838BCA1}"/>
                </a:ext>
              </a:extLst>
            </p:cNvPr>
            <p:cNvSpPr txBox="1"/>
            <p:nvPr/>
          </p:nvSpPr>
          <p:spPr>
            <a:xfrm>
              <a:off x="8374501" y="5503902"/>
              <a:ext cx="726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/>
                <a:t>chr19</a:t>
              </a:r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068F3902-1E7D-FDC7-9D50-D982BC437D20}"/>
                </a:ext>
              </a:extLst>
            </p:cNvPr>
            <p:cNvSpPr txBox="1"/>
            <p:nvPr/>
          </p:nvSpPr>
          <p:spPr>
            <a:xfrm>
              <a:off x="9436578" y="5481719"/>
              <a:ext cx="726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/>
                <a:t>chr20</a:t>
              </a:r>
            </a:p>
          </p:txBody>
        </p: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DCADB1FE-4FDC-3C0C-F4E7-B060D5B92025}"/>
                </a:ext>
              </a:extLst>
            </p:cNvPr>
            <p:cNvSpPr txBox="1"/>
            <p:nvPr/>
          </p:nvSpPr>
          <p:spPr>
            <a:xfrm>
              <a:off x="2386684" y="6356214"/>
              <a:ext cx="726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/>
                <a:t>chr16</a:t>
              </a:r>
            </a:p>
          </p:txBody>
        </p: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B0109385-7C41-3048-0C9B-BC19B0B1F40D}"/>
                </a:ext>
              </a:extLst>
            </p:cNvPr>
            <p:cNvSpPr txBox="1"/>
            <p:nvPr/>
          </p:nvSpPr>
          <p:spPr>
            <a:xfrm>
              <a:off x="4065445" y="6381994"/>
              <a:ext cx="726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/>
                <a:t>chr18</a:t>
              </a:r>
            </a:p>
          </p:txBody>
        </p:sp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78D14AE3-D91C-E1D4-6003-17A41FF22BF5}"/>
                </a:ext>
              </a:extLst>
            </p:cNvPr>
            <p:cNvSpPr txBox="1"/>
            <p:nvPr/>
          </p:nvSpPr>
          <p:spPr>
            <a:xfrm>
              <a:off x="8994148" y="97240"/>
              <a:ext cx="16113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/>
                <a:t>GE-MED-T2T00</a:t>
              </a:r>
            </a:p>
          </p:txBody>
        </p: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BA11EAE4-0FB4-8B4C-5492-4853FDE4D8F5}"/>
                </a:ext>
              </a:extLst>
            </p:cNvPr>
            <p:cNvSpPr txBox="1"/>
            <p:nvPr/>
          </p:nvSpPr>
          <p:spPr>
            <a:xfrm>
              <a:off x="2591172" y="2589491"/>
              <a:ext cx="726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/>
                <a:t>chr21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112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nhaltsplatzhalter 31">
            <a:extLst>
              <a:ext uri="{FF2B5EF4-FFF2-40B4-BE49-F238E27FC236}">
                <a16:creationId xmlns:a16="http://schemas.microsoft.com/office/drawing/2014/main" id="{38D9F685-C3D8-67E4-2C83-27D380716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999" y="1219200"/>
            <a:ext cx="3257625" cy="4957764"/>
          </a:xfrm>
        </p:spPr>
        <p:txBody>
          <a:bodyPr/>
          <a:lstStyle/>
          <a:p>
            <a:r>
              <a:rPr lang="de-DE" dirty="0" err="1"/>
              <a:t>Phasing</a:t>
            </a:r>
            <a:r>
              <a:rPr lang="de-DE" dirty="0"/>
              <a:t> </a:t>
            </a:r>
            <a:r>
              <a:rPr lang="de-DE" dirty="0" err="1"/>
              <a:t>selects</a:t>
            </a:r>
            <a:r>
              <a:rPr lang="de-DE" dirty="0"/>
              <a:t> separate </a:t>
            </a:r>
            <a:r>
              <a:rPr lang="de-DE" dirty="0" err="1"/>
              <a:t>paths</a:t>
            </a:r>
            <a:r>
              <a:rPr lang="de-DE" dirty="0"/>
              <a:t> </a:t>
            </a:r>
            <a:r>
              <a:rPr lang="de-DE" dirty="0" err="1"/>
              <a:t>through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graph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haplotype</a:t>
            </a:r>
            <a:endParaRPr lang="de-DE" dirty="0"/>
          </a:p>
          <a:p>
            <a:r>
              <a:rPr lang="de-DE" dirty="0" err="1"/>
              <a:t>Using</a:t>
            </a:r>
            <a:r>
              <a:rPr lang="de-DE" dirty="0"/>
              <a:t> Pore-C </a:t>
            </a:r>
            <a:r>
              <a:rPr lang="de-DE" dirty="0" err="1"/>
              <a:t>or</a:t>
            </a:r>
            <a:r>
              <a:rPr lang="de-DE" dirty="0"/>
              <a:t> Trio </a:t>
            </a:r>
            <a:r>
              <a:rPr lang="de-DE" dirty="0" err="1"/>
              <a:t>information</a:t>
            </a:r>
            <a:r>
              <a:rPr lang="de-DE" dirty="0"/>
              <a:t>. </a:t>
            </a:r>
          </a:p>
          <a:p>
            <a:endParaRPr lang="de-DE" dirty="0"/>
          </a:p>
        </p:txBody>
      </p:sp>
      <p:sp>
        <p:nvSpPr>
          <p:cNvPr id="33" name="Textplatzhalter 32">
            <a:extLst>
              <a:ext uri="{FF2B5EF4-FFF2-40B4-BE49-F238E27FC236}">
                <a16:creationId xmlns:a16="http://schemas.microsoft.com/office/drawing/2014/main" id="{78FDF025-679F-D8FB-4F6F-B017CE695B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888EE6C-8B3C-BCC8-2871-1513C9ED0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+mn-lt"/>
                <a:ea typeface="Source Sans Pro SemiBold"/>
              </a:rPr>
              <a:t>Assembly </a:t>
            </a:r>
            <a:r>
              <a:rPr lang="de-DE" err="1">
                <a:latin typeface="+mn-lt"/>
                <a:ea typeface="Source Sans Pro SemiBold"/>
              </a:rPr>
              <a:t>graph</a:t>
            </a:r>
            <a:r>
              <a:rPr lang="de-DE">
                <a:latin typeface="+mn-lt"/>
                <a:ea typeface="Source Sans Pro SemiBold"/>
              </a:rPr>
              <a:t> </a:t>
            </a:r>
            <a:r>
              <a:rPr lang="de-DE" err="1">
                <a:latin typeface="+mn-lt"/>
                <a:ea typeface="Source Sans Pro SemiBold"/>
              </a:rPr>
              <a:t>visualisation</a:t>
            </a:r>
            <a:r>
              <a:rPr lang="de-DE">
                <a:latin typeface="+mn-lt"/>
                <a:ea typeface="Source Sans Pro SemiBold"/>
              </a:rPr>
              <a:t>: </a:t>
            </a:r>
            <a:r>
              <a:rPr lang="de-DE" err="1">
                <a:latin typeface="+mn-lt"/>
                <a:ea typeface="Source Sans Pro SemiBold"/>
              </a:rPr>
              <a:t>Phased</a:t>
            </a:r>
            <a:endParaRPr lang="de-DE" err="1">
              <a:latin typeface="+mn-lt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2D9A4D54-4575-9170-968C-239C52C08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635" y="778877"/>
            <a:ext cx="6014420" cy="5492561"/>
          </a:xfrm>
          <a:prstGeom prst="rect">
            <a:avLst/>
          </a:prstGeom>
        </p:spPr>
      </p:pic>
      <p:sp>
        <p:nvSpPr>
          <p:cNvPr id="34" name="Textfeld 33">
            <a:extLst>
              <a:ext uri="{FF2B5EF4-FFF2-40B4-BE49-F238E27FC236}">
                <a16:creationId xmlns:a16="http://schemas.microsoft.com/office/drawing/2014/main" id="{67E98DBD-D41F-5A49-E631-F2FD435C2867}"/>
              </a:ext>
            </a:extLst>
          </p:cNvPr>
          <p:cNvSpPr txBox="1"/>
          <p:nvPr/>
        </p:nvSpPr>
        <p:spPr>
          <a:xfrm>
            <a:off x="10188908" y="775275"/>
            <a:ext cx="18491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/>
              <a:t>Haplotype1: </a:t>
            </a:r>
            <a:r>
              <a:rPr lang="de-DE" err="1"/>
              <a:t>Red</a:t>
            </a:r>
            <a:br>
              <a:rPr lang="de-DE"/>
            </a:br>
            <a:r>
              <a:rPr lang="de-DE"/>
              <a:t>Haplotype2: Blue</a:t>
            </a:r>
          </a:p>
        </p:txBody>
      </p:sp>
    </p:spTree>
    <p:extLst>
      <p:ext uri="{BB962C8B-B14F-4D97-AF65-F5344CB8AC3E}">
        <p14:creationId xmlns:p14="http://schemas.microsoft.com/office/powerpoint/2010/main" val="1888080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1F97181-7040-8560-2CFA-091626B585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EC8EB41F-DC94-B120-677C-115E44180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464" y="0"/>
            <a:ext cx="11644531" cy="1045029"/>
          </a:xfrm>
        </p:spPr>
        <p:txBody>
          <a:bodyPr/>
          <a:lstStyle/>
          <a:p>
            <a:r>
              <a:rPr lang="de-DE" dirty="0"/>
              <a:t>Assembly QC</a:t>
            </a:r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A0FF2CF6-6F5F-E4B1-288D-772D2CB216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964" y="1381095"/>
            <a:ext cx="11516258" cy="2467770"/>
          </a:xfr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A343AD68-B1E5-03B1-BE6A-D399F8E88BDB}"/>
              </a:ext>
            </a:extLst>
          </p:cNvPr>
          <p:cNvSpPr txBox="1"/>
          <p:nvPr/>
        </p:nvSpPr>
        <p:spPr>
          <a:xfrm>
            <a:off x="1042072" y="4546600"/>
            <a:ext cx="5024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On </a:t>
            </a:r>
            <a:r>
              <a:rPr lang="de-DE" dirty="0" err="1"/>
              <a:t>every</a:t>
            </a:r>
            <a:r>
              <a:rPr lang="de-DE" dirty="0"/>
              <a:t> </a:t>
            </a:r>
            <a:r>
              <a:rPr lang="de-DE" dirty="0" err="1"/>
              <a:t>metric</a:t>
            </a:r>
            <a:r>
              <a:rPr lang="de-DE" dirty="0"/>
              <a:t> at </a:t>
            </a:r>
            <a:r>
              <a:rPr lang="de-DE" dirty="0" err="1"/>
              <a:t>comparable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HPRC </a:t>
            </a:r>
            <a:r>
              <a:rPr lang="de-DE" dirty="0" err="1"/>
              <a:t>samples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78617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A13C19A-4CEA-0119-1127-E03B21515A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31138FB-F650-B34E-368F-678CDA3F1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ource Sans Pro SemiBold"/>
                <a:ea typeface="Source Sans Pro SemiBold"/>
              </a:rPr>
              <a:t>Base </a:t>
            </a:r>
            <a:r>
              <a:rPr lang="de-DE" dirty="0" err="1">
                <a:latin typeface="Source Sans Pro SemiBold"/>
                <a:ea typeface="Source Sans Pro SemiBold"/>
              </a:rPr>
              <a:t>Accuracy</a:t>
            </a: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831148A-18C0-23C7-DAA9-0D77B69E0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999" y="1219200"/>
            <a:ext cx="5683513" cy="1778796"/>
          </a:xfrm>
        </p:spPr>
        <p:txBody>
          <a:bodyPr lIns="91440" tIns="45720" rIns="91440" bIns="45720" anchor="t"/>
          <a:lstStyle/>
          <a:p>
            <a:r>
              <a:rPr lang="de-DE" dirty="0" err="1">
                <a:latin typeface="Source Sans Pro"/>
                <a:ea typeface="Source Sans Pro"/>
              </a:rPr>
              <a:t>Commonly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referred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as</a:t>
            </a:r>
            <a:r>
              <a:rPr lang="de-DE" dirty="0">
                <a:latin typeface="Source Sans Pro"/>
                <a:ea typeface="Source Sans Pro"/>
              </a:rPr>
              <a:t> QV (</a:t>
            </a:r>
            <a:r>
              <a:rPr lang="de-DE" dirty="0" err="1">
                <a:latin typeface="Source Sans Pro"/>
                <a:ea typeface="Source Sans Pro"/>
              </a:rPr>
              <a:t>Phred</a:t>
            </a:r>
            <a:r>
              <a:rPr lang="de-DE" dirty="0">
                <a:latin typeface="Source Sans Pro"/>
                <a:ea typeface="Source Sans Pro"/>
              </a:rPr>
              <a:t> score)</a:t>
            </a:r>
          </a:p>
          <a:p>
            <a:r>
              <a:rPr lang="de-DE" dirty="0" err="1">
                <a:latin typeface="Source Sans Pro"/>
                <a:ea typeface="Source Sans Pro"/>
              </a:rPr>
              <a:t>Calculated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using</a:t>
            </a:r>
            <a:r>
              <a:rPr lang="de-DE" dirty="0">
                <a:latin typeface="Source Sans Pro"/>
                <a:ea typeface="Source Sans Pro"/>
              </a:rPr>
              <a:t> k-</a:t>
            </a:r>
            <a:r>
              <a:rPr lang="de-DE" dirty="0" err="1">
                <a:latin typeface="Source Sans Pro"/>
                <a:ea typeface="Source Sans Pro"/>
              </a:rPr>
              <a:t>mer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comparison</a:t>
            </a:r>
            <a:r>
              <a:rPr lang="de-DE" dirty="0">
                <a:latin typeface="Source Sans Pro"/>
                <a:ea typeface="Source Sans Pro"/>
              </a:rPr>
              <a:t> (</a:t>
            </a:r>
            <a:r>
              <a:rPr lang="de-DE" i="1" dirty="0" err="1">
                <a:latin typeface="Source Sans Pro"/>
                <a:ea typeface="Source Sans Pro"/>
              </a:rPr>
              <a:t>Merqury</a:t>
            </a:r>
            <a:r>
              <a:rPr lang="de-DE" dirty="0">
                <a:latin typeface="Source Sans Pro"/>
                <a:ea typeface="Source Sans Pro"/>
              </a:rPr>
              <a:t>)</a:t>
            </a:r>
            <a:br>
              <a:rPr lang="de-DE" dirty="0">
                <a:latin typeface="Source Sans Pro"/>
                <a:ea typeface="Source Sans Pro"/>
              </a:rPr>
            </a:br>
            <a:r>
              <a:rPr lang="de-DE" dirty="0" err="1">
                <a:latin typeface="Source Sans Pro"/>
                <a:ea typeface="Source Sans Pro"/>
              </a:rPr>
              <a:t>with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Illumina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short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reads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A2E4445F-CC63-D154-ACB7-4E94FFFA6FD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0641" y="1481138"/>
            <a:ext cx="5683513" cy="623891"/>
          </a:xfrm>
        </p:spPr>
        <p:txBody>
          <a:bodyPr lIns="91440" tIns="45720" rIns="91440" bIns="45720" anchor="t"/>
          <a:lstStyle/>
          <a:p>
            <a:r>
              <a:rPr lang="de-DE" dirty="0" err="1">
                <a:latin typeface="Source Sans Pro"/>
                <a:ea typeface="Source Sans Pro"/>
              </a:rPr>
              <a:t>Polishing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with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Medaka</a:t>
            </a:r>
            <a:r>
              <a:rPr lang="de-DE" dirty="0">
                <a:latin typeface="Source Sans Pro"/>
                <a:ea typeface="Source Sans Pro"/>
              </a:rPr>
              <a:t> and 1 APK </a:t>
            </a:r>
            <a:r>
              <a:rPr lang="de-DE" dirty="0" err="1">
                <a:latin typeface="Source Sans Pro"/>
                <a:ea typeface="Source Sans Pro"/>
              </a:rPr>
              <a:t>Flowcells</a:t>
            </a:r>
            <a:endParaRPr lang="de-DE" dirty="0">
              <a:latin typeface="Source Sans Pro"/>
              <a:ea typeface="Source Sans Pro"/>
            </a:endParaRPr>
          </a:p>
          <a:p>
            <a:pPr marL="0" indent="0">
              <a:buNone/>
            </a:pPr>
            <a:r>
              <a:rPr lang="de-DE" dirty="0" err="1">
                <a:latin typeface="Source Sans Pro"/>
                <a:ea typeface="Source Sans Pro"/>
              </a:rPr>
              <a:t>Runtime</a:t>
            </a:r>
            <a:r>
              <a:rPr lang="de-DE" dirty="0">
                <a:latin typeface="Source Sans Pro"/>
                <a:ea typeface="Source Sans Pro"/>
              </a:rPr>
              <a:t>: 2days (60threads, 2xH100 GPU)</a:t>
            </a:r>
            <a:endParaRPr lang="de-DE" dirty="0"/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C8E6CD82-F6E2-AAC6-E78B-D296131EDA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249798"/>
              </p:ext>
            </p:extLst>
          </p:nvPr>
        </p:nvGraphicFramePr>
        <p:xfrm>
          <a:off x="1761649" y="3425095"/>
          <a:ext cx="8168640" cy="7416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42160">
                  <a:extLst>
                    <a:ext uri="{9D8B030D-6E8A-4147-A177-3AD203B41FA5}">
                      <a16:colId xmlns:a16="http://schemas.microsoft.com/office/drawing/2014/main" val="3160168088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3341566724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1191485036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35108173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QV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QV </a:t>
                      </a:r>
                      <a:r>
                        <a:rPr lang="de-DE" err="1"/>
                        <a:t>polished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err="1"/>
                        <a:t>Kmer</a:t>
                      </a:r>
                      <a:r>
                        <a:rPr lang="de-DE"/>
                        <a:t> </a:t>
                      </a:r>
                      <a:r>
                        <a:rPr lang="de-DE" err="1"/>
                        <a:t>ref</a:t>
                      </a:r>
                      <a:r>
                        <a:rPr lang="de-DE"/>
                        <a:t> </a:t>
                      </a:r>
                      <a:r>
                        <a:rPr lang="de-DE" err="1"/>
                        <a:t>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628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T2T00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63.83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800" b="0" i="0" u="none" strike="noStrike" noProof="0" dirty="0">
                          <a:latin typeface="Source Sans Pro"/>
                        </a:rPr>
                        <a:t>50.9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Illumina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reads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6438889"/>
                  </a:ext>
                </a:extLst>
              </a:tr>
            </a:tbl>
          </a:graphicData>
        </a:graphic>
      </p:graphicFrame>
      <p:sp>
        <p:nvSpPr>
          <p:cNvPr id="2" name="Textfeld 1">
            <a:extLst>
              <a:ext uri="{FF2B5EF4-FFF2-40B4-BE49-F238E27FC236}">
                <a16:creationId xmlns:a16="http://schemas.microsoft.com/office/drawing/2014/main" id="{7ED9AE10-6250-6397-AC18-0A1D2CEBEB58}"/>
              </a:ext>
            </a:extLst>
          </p:cNvPr>
          <p:cNvSpPr txBox="1"/>
          <p:nvPr/>
        </p:nvSpPr>
        <p:spPr>
          <a:xfrm>
            <a:off x="1594667" y="5214468"/>
            <a:ext cx="8517729" cy="646331"/>
          </a:xfrm>
          <a:custGeom>
            <a:avLst/>
            <a:gdLst>
              <a:gd name="connsiteX0" fmla="*/ 0 w 8517729"/>
              <a:gd name="connsiteY0" fmla="*/ 0 h 646331"/>
              <a:gd name="connsiteX1" fmla="*/ 399678 w 8517729"/>
              <a:gd name="connsiteY1" fmla="*/ 0 h 646331"/>
              <a:gd name="connsiteX2" fmla="*/ 1054888 w 8517729"/>
              <a:gd name="connsiteY2" fmla="*/ 0 h 646331"/>
              <a:gd name="connsiteX3" fmla="*/ 1624921 w 8517729"/>
              <a:gd name="connsiteY3" fmla="*/ 0 h 646331"/>
              <a:gd name="connsiteX4" fmla="*/ 2365308 w 8517729"/>
              <a:gd name="connsiteY4" fmla="*/ 0 h 646331"/>
              <a:gd name="connsiteX5" fmla="*/ 2935340 w 8517729"/>
              <a:gd name="connsiteY5" fmla="*/ 0 h 646331"/>
              <a:gd name="connsiteX6" fmla="*/ 3335019 w 8517729"/>
              <a:gd name="connsiteY6" fmla="*/ 0 h 646331"/>
              <a:gd name="connsiteX7" fmla="*/ 3734697 w 8517729"/>
              <a:gd name="connsiteY7" fmla="*/ 0 h 646331"/>
              <a:gd name="connsiteX8" fmla="*/ 4219552 w 8517729"/>
              <a:gd name="connsiteY8" fmla="*/ 0 h 646331"/>
              <a:gd name="connsiteX9" fmla="*/ 4789585 w 8517729"/>
              <a:gd name="connsiteY9" fmla="*/ 0 h 646331"/>
              <a:gd name="connsiteX10" fmla="*/ 5444794 w 8517729"/>
              <a:gd name="connsiteY10" fmla="*/ 0 h 646331"/>
              <a:gd name="connsiteX11" fmla="*/ 5929650 w 8517729"/>
              <a:gd name="connsiteY11" fmla="*/ 0 h 646331"/>
              <a:gd name="connsiteX12" fmla="*/ 6670037 w 8517729"/>
              <a:gd name="connsiteY12" fmla="*/ 0 h 646331"/>
              <a:gd name="connsiteX13" fmla="*/ 7495602 w 8517729"/>
              <a:gd name="connsiteY13" fmla="*/ 0 h 646331"/>
              <a:gd name="connsiteX14" fmla="*/ 8517729 w 8517729"/>
              <a:gd name="connsiteY14" fmla="*/ 0 h 646331"/>
              <a:gd name="connsiteX15" fmla="*/ 8517729 w 8517729"/>
              <a:gd name="connsiteY15" fmla="*/ 646331 h 646331"/>
              <a:gd name="connsiteX16" fmla="*/ 8032874 w 8517729"/>
              <a:gd name="connsiteY16" fmla="*/ 646331 h 646331"/>
              <a:gd name="connsiteX17" fmla="*/ 7633196 w 8517729"/>
              <a:gd name="connsiteY17" fmla="*/ 646331 h 646331"/>
              <a:gd name="connsiteX18" fmla="*/ 6892808 w 8517729"/>
              <a:gd name="connsiteY18" fmla="*/ 646331 h 646331"/>
              <a:gd name="connsiteX19" fmla="*/ 6152421 w 8517729"/>
              <a:gd name="connsiteY19" fmla="*/ 646331 h 646331"/>
              <a:gd name="connsiteX20" fmla="*/ 5326857 w 8517729"/>
              <a:gd name="connsiteY20" fmla="*/ 646331 h 646331"/>
              <a:gd name="connsiteX21" fmla="*/ 4756824 w 8517729"/>
              <a:gd name="connsiteY21" fmla="*/ 646331 h 646331"/>
              <a:gd name="connsiteX22" fmla="*/ 4271969 w 8517729"/>
              <a:gd name="connsiteY22" fmla="*/ 646331 h 646331"/>
              <a:gd name="connsiteX23" fmla="*/ 3787113 w 8517729"/>
              <a:gd name="connsiteY23" fmla="*/ 646331 h 646331"/>
              <a:gd name="connsiteX24" fmla="*/ 3387435 w 8517729"/>
              <a:gd name="connsiteY24" fmla="*/ 646331 h 646331"/>
              <a:gd name="connsiteX25" fmla="*/ 2817403 w 8517729"/>
              <a:gd name="connsiteY25" fmla="*/ 646331 h 646331"/>
              <a:gd name="connsiteX26" fmla="*/ 1991838 w 8517729"/>
              <a:gd name="connsiteY26" fmla="*/ 646331 h 646331"/>
              <a:gd name="connsiteX27" fmla="*/ 1251451 w 8517729"/>
              <a:gd name="connsiteY27" fmla="*/ 646331 h 646331"/>
              <a:gd name="connsiteX28" fmla="*/ 0 w 8517729"/>
              <a:gd name="connsiteY28" fmla="*/ 646331 h 646331"/>
              <a:gd name="connsiteX29" fmla="*/ 0 w 8517729"/>
              <a:gd name="connsiteY29" fmla="*/ 0 h 64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8517729" h="646331" extrusionOk="0">
                <a:moveTo>
                  <a:pt x="0" y="0"/>
                </a:moveTo>
                <a:cubicBezTo>
                  <a:pt x="119723" y="19489"/>
                  <a:pt x="300443" y="9439"/>
                  <a:pt x="399678" y="0"/>
                </a:cubicBezTo>
                <a:cubicBezTo>
                  <a:pt x="498913" y="-9439"/>
                  <a:pt x="795930" y="27470"/>
                  <a:pt x="1054888" y="0"/>
                </a:cubicBezTo>
                <a:cubicBezTo>
                  <a:pt x="1313846" y="-27470"/>
                  <a:pt x="1384918" y="-6306"/>
                  <a:pt x="1624921" y="0"/>
                </a:cubicBezTo>
                <a:cubicBezTo>
                  <a:pt x="1864924" y="6306"/>
                  <a:pt x="2210429" y="-7505"/>
                  <a:pt x="2365308" y="0"/>
                </a:cubicBezTo>
                <a:cubicBezTo>
                  <a:pt x="2520187" y="7505"/>
                  <a:pt x="2723978" y="-16852"/>
                  <a:pt x="2935340" y="0"/>
                </a:cubicBezTo>
                <a:cubicBezTo>
                  <a:pt x="3146702" y="16852"/>
                  <a:pt x="3180653" y="-9530"/>
                  <a:pt x="3335019" y="0"/>
                </a:cubicBezTo>
                <a:cubicBezTo>
                  <a:pt x="3489385" y="9530"/>
                  <a:pt x="3624479" y="11988"/>
                  <a:pt x="3734697" y="0"/>
                </a:cubicBezTo>
                <a:cubicBezTo>
                  <a:pt x="3844915" y="-11988"/>
                  <a:pt x="4033893" y="-11869"/>
                  <a:pt x="4219552" y="0"/>
                </a:cubicBezTo>
                <a:cubicBezTo>
                  <a:pt x="4405212" y="11869"/>
                  <a:pt x="4518154" y="21190"/>
                  <a:pt x="4789585" y="0"/>
                </a:cubicBezTo>
                <a:cubicBezTo>
                  <a:pt x="5061016" y="-21190"/>
                  <a:pt x="5213923" y="7966"/>
                  <a:pt x="5444794" y="0"/>
                </a:cubicBezTo>
                <a:cubicBezTo>
                  <a:pt x="5675665" y="-7966"/>
                  <a:pt x="5734846" y="-16204"/>
                  <a:pt x="5929650" y="0"/>
                </a:cubicBezTo>
                <a:cubicBezTo>
                  <a:pt x="6124454" y="16204"/>
                  <a:pt x="6515287" y="-18076"/>
                  <a:pt x="6670037" y="0"/>
                </a:cubicBezTo>
                <a:cubicBezTo>
                  <a:pt x="6824787" y="18076"/>
                  <a:pt x="7277382" y="-32777"/>
                  <a:pt x="7495602" y="0"/>
                </a:cubicBezTo>
                <a:cubicBezTo>
                  <a:pt x="7713822" y="32777"/>
                  <a:pt x="8271461" y="-40871"/>
                  <a:pt x="8517729" y="0"/>
                </a:cubicBezTo>
                <a:cubicBezTo>
                  <a:pt x="8494637" y="151427"/>
                  <a:pt x="8501196" y="459412"/>
                  <a:pt x="8517729" y="646331"/>
                </a:cubicBezTo>
                <a:cubicBezTo>
                  <a:pt x="8314327" y="665516"/>
                  <a:pt x="8130714" y="636741"/>
                  <a:pt x="8032874" y="646331"/>
                </a:cubicBezTo>
                <a:cubicBezTo>
                  <a:pt x="7935034" y="655921"/>
                  <a:pt x="7806559" y="662381"/>
                  <a:pt x="7633196" y="646331"/>
                </a:cubicBezTo>
                <a:cubicBezTo>
                  <a:pt x="7459833" y="630281"/>
                  <a:pt x="7167920" y="670785"/>
                  <a:pt x="6892808" y="646331"/>
                </a:cubicBezTo>
                <a:cubicBezTo>
                  <a:pt x="6617696" y="621877"/>
                  <a:pt x="6429213" y="657620"/>
                  <a:pt x="6152421" y="646331"/>
                </a:cubicBezTo>
                <a:cubicBezTo>
                  <a:pt x="5875629" y="635042"/>
                  <a:pt x="5644266" y="621808"/>
                  <a:pt x="5326857" y="646331"/>
                </a:cubicBezTo>
                <a:cubicBezTo>
                  <a:pt x="5009448" y="670854"/>
                  <a:pt x="4889369" y="665390"/>
                  <a:pt x="4756824" y="646331"/>
                </a:cubicBezTo>
                <a:cubicBezTo>
                  <a:pt x="4624279" y="627272"/>
                  <a:pt x="4494197" y="628435"/>
                  <a:pt x="4271969" y="646331"/>
                </a:cubicBezTo>
                <a:cubicBezTo>
                  <a:pt x="4049742" y="664227"/>
                  <a:pt x="3898705" y="639380"/>
                  <a:pt x="3787113" y="646331"/>
                </a:cubicBezTo>
                <a:cubicBezTo>
                  <a:pt x="3675521" y="653282"/>
                  <a:pt x="3495219" y="648129"/>
                  <a:pt x="3387435" y="646331"/>
                </a:cubicBezTo>
                <a:cubicBezTo>
                  <a:pt x="3279651" y="644533"/>
                  <a:pt x="3076995" y="643685"/>
                  <a:pt x="2817403" y="646331"/>
                </a:cubicBezTo>
                <a:cubicBezTo>
                  <a:pt x="2557811" y="648977"/>
                  <a:pt x="2382431" y="634814"/>
                  <a:pt x="1991838" y="646331"/>
                </a:cubicBezTo>
                <a:cubicBezTo>
                  <a:pt x="1601246" y="657848"/>
                  <a:pt x="1420413" y="647510"/>
                  <a:pt x="1251451" y="646331"/>
                </a:cubicBezTo>
                <a:cubicBezTo>
                  <a:pt x="1082489" y="645152"/>
                  <a:pt x="298888" y="653189"/>
                  <a:pt x="0" y="646331"/>
                </a:cubicBezTo>
                <a:cubicBezTo>
                  <a:pt x="22714" y="423481"/>
                  <a:pt x="28671" y="254666"/>
                  <a:pt x="0" y="0"/>
                </a:cubicBezTo>
                <a:close/>
              </a:path>
            </a:pathLst>
          </a:custGeom>
          <a:noFill/>
          <a:ln>
            <a:solidFill>
              <a:schemeClr val="tx2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8645491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dirty="0">
                <a:ea typeface="+mn-lt"/>
                <a:cs typeface="+mn-lt"/>
              </a:rPr>
              <a:t>→ </a:t>
            </a:r>
            <a:r>
              <a:rPr lang="de-DE" dirty="0">
                <a:ea typeface="Source Sans Pro"/>
                <a:cs typeface="+mn-lt"/>
              </a:rPr>
              <a:t>In </a:t>
            </a:r>
            <a:r>
              <a:rPr lang="de-DE" dirty="0" err="1">
                <a:ea typeface="Source Sans Pro"/>
                <a:cs typeface="+mn-lt"/>
              </a:rPr>
              <a:t>our</a:t>
            </a:r>
            <a:r>
              <a:rPr lang="de-DE" dirty="0">
                <a:ea typeface="Source Sans Pro"/>
                <a:cs typeface="+mn-lt"/>
              </a:rPr>
              <a:t> </a:t>
            </a:r>
            <a:r>
              <a:rPr lang="de-DE" dirty="0" err="1">
                <a:ea typeface="Source Sans Pro"/>
                <a:cs typeface="+mn-lt"/>
              </a:rPr>
              <a:t>case</a:t>
            </a:r>
            <a:r>
              <a:rPr lang="de-DE" dirty="0">
                <a:ea typeface="Source Sans Pro"/>
                <a:cs typeface="+mn-lt"/>
              </a:rPr>
              <a:t>: </a:t>
            </a:r>
            <a:r>
              <a:rPr lang="de-DE" dirty="0" err="1">
                <a:ea typeface="Source Sans Pro"/>
                <a:cs typeface="+mn-lt"/>
              </a:rPr>
              <a:t>Polishing</a:t>
            </a:r>
            <a:r>
              <a:rPr lang="de-DE" dirty="0">
                <a:ea typeface="Source Sans Pro"/>
                <a:cs typeface="+mn-lt"/>
              </a:rPr>
              <a:t> </a:t>
            </a:r>
            <a:r>
              <a:rPr lang="de-DE" dirty="0" err="1">
                <a:ea typeface="Source Sans Pro"/>
                <a:cs typeface="+mn-lt"/>
              </a:rPr>
              <a:t>with</a:t>
            </a:r>
            <a:r>
              <a:rPr lang="de-DE" dirty="0">
                <a:ea typeface="Source Sans Pro"/>
                <a:cs typeface="+mn-lt"/>
              </a:rPr>
              <a:t> APK </a:t>
            </a:r>
            <a:r>
              <a:rPr lang="de-DE" dirty="0" err="1">
                <a:ea typeface="Source Sans Pro"/>
                <a:cs typeface="+mn-lt"/>
              </a:rPr>
              <a:t>reduces</a:t>
            </a:r>
            <a:r>
              <a:rPr lang="de-DE" dirty="0">
                <a:ea typeface="Source Sans Pro"/>
                <a:cs typeface="+mn-lt"/>
              </a:rPr>
              <a:t> QV</a:t>
            </a:r>
          </a:p>
          <a:p>
            <a:r>
              <a:rPr lang="de-DE" dirty="0">
                <a:ea typeface="+mn-lt"/>
                <a:cs typeface="+mn-lt"/>
              </a:rPr>
              <a:t>→ </a:t>
            </a:r>
            <a:r>
              <a:rPr lang="de-DE" dirty="0" err="1">
                <a:ea typeface="+mn-lt"/>
                <a:cs typeface="+mn-lt"/>
              </a:rPr>
              <a:t>Illumina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seq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for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verification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of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other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samples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is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ongoing</a:t>
            </a:r>
            <a:endParaRPr lang="de-DE" dirty="0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30700156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87FBB52-67B5-88B2-957C-70DA349CAE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80171ED7-A512-4E7B-F8F2-73CDCD4E1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>
                <a:latin typeface="Source Sans Pro SemiBold"/>
                <a:ea typeface="Source Sans Pro SemiBold"/>
              </a:rPr>
              <a:t>Repeatmasker</a:t>
            </a:r>
            <a:r>
              <a:rPr lang="de-DE" dirty="0">
                <a:latin typeface="Source Sans Pro SemiBold"/>
                <a:ea typeface="Source Sans Pro SemiBold"/>
              </a:rPr>
              <a:t> </a:t>
            </a:r>
            <a:r>
              <a:rPr lang="de-DE" dirty="0" err="1">
                <a:latin typeface="Source Sans Pro SemiBold"/>
                <a:ea typeface="Source Sans Pro SemiBold"/>
              </a:rPr>
              <a:t>analysis</a:t>
            </a:r>
            <a:r>
              <a:rPr lang="de-DE" dirty="0">
                <a:latin typeface="Source Sans Pro SemiBold"/>
                <a:ea typeface="Source Sans Pro SemiBold"/>
              </a:rPr>
              <a:t> </a:t>
            </a:r>
            <a:r>
              <a:rPr lang="de-DE" dirty="0" err="1">
                <a:latin typeface="Source Sans Pro SemiBold"/>
                <a:ea typeface="Source Sans Pro SemiBold"/>
              </a:rPr>
              <a:t>of</a:t>
            </a:r>
            <a:r>
              <a:rPr lang="de-DE" dirty="0">
                <a:latin typeface="Source Sans Pro SemiBold"/>
                <a:ea typeface="Source Sans Pro SemiBold"/>
              </a:rPr>
              <a:t> </a:t>
            </a:r>
            <a:r>
              <a:rPr lang="de-DE" dirty="0" err="1">
                <a:latin typeface="Source Sans Pro SemiBold"/>
                <a:ea typeface="Source Sans Pro SemiBold"/>
              </a:rPr>
              <a:t>assembled</a:t>
            </a:r>
            <a:r>
              <a:rPr lang="de-DE" dirty="0">
                <a:latin typeface="Source Sans Pro SemiBold"/>
                <a:ea typeface="Source Sans Pro SemiBold"/>
              </a:rPr>
              <a:t> </a:t>
            </a:r>
            <a:r>
              <a:rPr lang="de-DE" dirty="0" err="1">
                <a:latin typeface="Source Sans Pro SemiBold"/>
                <a:ea typeface="Source Sans Pro SemiBold"/>
              </a:rPr>
              <a:t>genomes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5976474-7B56-AF37-092E-5615AB6B2F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1168" y="1126815"/>
            <a:ext cx="7615572" cy="5449991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BF7E34F8-811E-C1E2-B282-9A4C42DDA18C}"/>
              </a:ext>
            </a:extLst>
          </p:cNvPr>
          <p:cNvSpPr txBox="1"/>
          <p:nvPr/>
        </p:nvSpPr>
        <p:spPr>
          <a:xfrm>
            <a:off x="253717" y="1389957"/>
            <a:ext cx="282557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de-DE" dirty="0" err="1">
                <a:ea typeface="Source Sans Pro"/>
              </a:rPr>
              <a:t>Required</a:t>
            </a:r>
            <a:r>
              <a:rPr lang="de-DE" dirty="0">
                <a:ea typeface="Source Sans Pro"/>
              </a:rPr>
              <a:t> </a:t>
            </a:r>
            <a:r>
              <a:rPr lang="de-DE" dirty="0" err="1">
                <a:ea typeface="Source Sans Pro"/>
              </a:rPr>
              <a:t>for</a:t>
            </a:r>
            <a:r>
              <a:rPr lang="de-DE" dirty="0">
                <a:ea typeface="Source Sans Pro"/>
              </a:rPr>
              <a:t> in </a:t>
            </a:r>
            <a:r>
              <a:rPr lang="de-DE" dirty="0" err="1">
                <a:ea typeface="Source Sans Pro"/>
              </a:rPr>
              <a:t>depth</a:t>
            </a:r>
            <a:r>
              <a:rPr lang="de-DE" dirty="0">
                <a:ea typeface="Source Sans Pro"/>
              </a:rPr>
              <a:t> QC</a:t>
            </a:r>
            <a:endParaRPr lang="de-DE" dirty="0"/>
          </a:p>
          <a:p>
            <a:pPr marL="285750" indent="-285750">
              <a:buFont typeface="Arial"/>
              <a:buChar char="•"/>
            </a:pPr>
            <a:r>
              <a:rPr lang="de-DE" dirty="0" err="1">
                <a:ea typeface="Source Sans Pro"/>
              </a:rPr>
              <a:t>Computationally</a:t>
            </a:r>
            <a:r>
              <a:rPr lang="de-DE" dirty="0">
                <a:ea typeface="Source Sans Pro"/>
              </a:rPr>
              <a:t> expensive (1 </a:t>
            </a:r>
            <a:r>
              <a:rPr lang="de-DE" dirty="0" err="1">
                <a:ea typeface="Source Sans Pro"/>
              </a:rPr>
              <a:t>week</a:t>
            </a:r>
            <a:r>
              <a:rPr lang="de-DE" dirty="0">
                <a:ea typeface="Source Sans Pr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232454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B86DE67A-DA2E-EF36-1368-079E3FED6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4105" y="1863053"/>
            <a:ext cx="8400317" cy="4026888"/>
          </a:xfrm>
        </p:spPr>
        <p:txBody>
          <a:bodyPr/>
          <a:lstStyle/>
          <a:p>
            <a:pPr marL="0" indent="0">
              <a:buNone/>
            </a:pPr>
            <a:r>
              <a:rPr lang="en-US" b="0">
                <a:solidFill>
                  <a:srgbClr val="777777"/>
                </a:solidFill>
                <a:effectLst/>
                <a:latin typeface="+mn-lt"/>
              </a:rPr>
              <a:t>&gt; </a:t>
            </a:r>
            <a:r>
              <a:rPr lang="en-US" b="0">
                <a:solidFill>
                  <a:srgbClr val="7A3E9D"/>
                </a:solidFill>
                <a:effectLst/>
                <a:latin typeface="+mn-lt"/>
              </a:rPr>
              <a:t>For an assembly to be truly T2T, it must both cover the whole of each chromosome without gaps and be free from large-scale assembly errors. It is critical to rigorously assess the quality of the assembly before concluding it is T2T.</a:t>
            </a:r>
            <a:endParaRPr lang="en-US" b="0">
              <a:solidFill>
                <a:srgbClr val="333333"/>
              </a:solidFill>
              <a:effectLst/>
              <a:latin typeface="+mn-lt"/>
            </a:endParaRPr>
          </a:p>
          <a:p>
            <a:pPr marL="0" indent="0">
              <a:buNone/>
            </a:pPr>
            <a:br>
              <a:rPr lang="en-US" b="0">
                <a:solidFill>
                  <a:srgbClr val="333333"/>
                </a:solidFill>
                <a:effectLst/>
                <a:latin typeface="+mn-lt"/>
              </a:rPr>
            </a:br>
            <a:r>
              <a:rPr lang="en-US" b="0">
                <a:solidFill>
                  <a:srgbClr val="333333"/>
                </a:solidFill>
                <a:effectLst/>
                <a:latin typeface="+mn-lt"/>
              </a:rPr>
              <a:t>Li and  Durbin, 2024. “Genome Assembly in the Telomere-to-Telomere Era.” Nature Reviews Genetics</a:t>
            </a:r>
          </a:p>
          <a:p>
            <a:endParaRPr lang="de-DE">
              <a:latin typeface="+mn-lt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0138393-6642-525F-95B9-429DEF05C4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054548C4-F507-D05B-9C13-81760331D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48123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069D400-E503-8408-1CE1-3AA4A1C38E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5921651-58DC-CBED-D767-3621AC447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ource Sans Pro SemiBold"/>
                <a:ea typeface="Source Sans Pro SemiBold"/>
              </a:rPr>
              <a:t>Real T2T </a:t>
            </a:r>
            <a:r>
              <a:rPr lang="de-DE" dirty="0" err="1">
                <a:latin typeface="Source Sans Pro SemiBold"/>
                <a:ea typeface="Source Sans Pro SemiBold"/>
              </a:rPr>
              <a:t>chromosomes</a:t>
            </a:r>
            <a:endParaRPr lang="de-DE" dirty="0"/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E58750C9-44F4-902C-4016-1ACC20D92B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1835" y="778639"/>
            <a:ext cx="8848730" cy="5899153"/>
          </a:xfr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0E2CA77A-8144-6C0B-210B-4DD8B857D9BD}"/>
              </a:ext>
            </a:extLst>
          </p:cNvPr>
          <p:cNvSpPr txBox="1"/>
          <p:nvPr/>
        </p:nvSpPr>
        <p:spPr>
          <a:xfrm>
            <a:off x="334549" y="1682234"/>
            <a:ext cx="273885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 err="1">
                <a:latin typeface="+mn-lt"/>
              </a:rPr>
              <a:t>Near</a:t>
            </a:r>
            <a:r>
              <a:rPr lang="de-DE" sz="1800" b="1" dirty="0">
                <a:latin typeface="+mn-lt"/>
              </a:rPr>
              <a:t> T2T:</a:t>
            </a:r>
          </a:p>
          <a:p>
            <a:pPr marL="285750" indent="-285750">
              <a:buFontTx/>
              <a:buChar char="-"/>
            </a:pPr>
            <a:r>
              <a:rPr lang="de-DE" dirty="0"/>
              <a:t>Single </a:t>
            </a:r>
            <a:r>
              <a:rPr lang="de-DE" dirty="0" err="1"/>
              <a:t>contig</a:t>
            </a:r>
            <a:r>
              <a:rPr lang="de-DE" dirty="0"/>
              <a:t> per </a:t>
            </a:r>
            <a:r>
              <a:rPr lang="de-DE" dirty="0" err="1"/>
              <a:t>chromosom</a:t>
            </a:r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 err="1"/>
              <a:t>Has</a:t>
            </a:r>
            <a:r>
              <a:rPr lang="de-DE" dirty="0"/>
              <a:t> </a:t>
            </a:r>
            <a:r>
              <a:rPr lang="de-DE" dirty="0" err="1"/>
              <a:t>telomer</a:t>
            </a:r>
            <a:r>
              <a:rPr lang="de-DE" dirty="0"/>
              <a:t> </a:t>
            </a:r>
            <a:r>
              <a:rPr lang="de-DE" dirty="0" err="1"/>
              <a:t>motif</a:t>
            </a:r>
            <a:r>
              <a:rPr lang="de-DE" dirty="0"/>
              <a:t> on </a:t>
            </a:r>
            <a:r>
              <a:rPr lang="de-DE" dirty="0" err="1"/>
              <a:t>both</a:t>
            </a:r>
            <a:r>
              <a:rPr lang="de-DE" dirty="0"/>
              <a:t> </a:t>
            </a:r>
            <a:r>
              <a:rPr lang="de-DE" dirty="0" err="1"/>
              <a:t>ends</a:t>
            </a:r>
            <a:endParaRPr lang="de-DE" dirty="0"/>
          </a:p>
          <a:p>
            <a:pPr marL="285750" indent="-285750">
              <a:buFontTx/>
              <a:buChar char="-"/>
            </a:pPr>
            <a:r>
              <a:rPr lang="en-US" dirty="0"/>
              <a:t>At least 95% of the contig AND at least 95% of the chromosome must participate in a single chained alignment</a:t>
            </a:r>
            <a:endParaRPr lang="de-DE" dirty="0"/>
          </a:p>
          <a:p>
            <a:r>
              <a:rPr lang="de-DE" b="1" dirty="0" err="1"/>
              <a:t>Complete</a:t>
            </a:r>
            <a:r>
              <a:rPr lang="de-DE" b="1" dirty="0"/>
              <a:t> T2T:</a:t>
            </a:r>
          </a:p>
          <a:p>
            <a:pPr marL="285750" indent="-285750">
              <a:buFontTx/>
              <a:buChar char="-"/>
            </a:pPr>
            <a:r>
              <a:rPr lang="de-DE" dirty="0" err="1"/>
              <a:t>Near</a:t>
            </a:r>
            <a:r>
              <a:rPr lang="de-DE" dirty="0"/>
              <a:t> T2T</a:t>
            </a:r>
          </a:p>
          <a:p>
            <a:pPr marL="285750" indent="-285750">
              <a:buFontTx/>
              <a:buChar char="-"/>
            </a:pPr>
            <a:r>
              <a:rPr lang="de-DE" dirty="0" err="1"/>
              <a:t>No</a:t>
            </a:r>
            <a:r>
              <a:rPr lang="de-DE" dirty="0"/>
              <a:t> Gaps (NNNNN) </a:t>
            </a:r>
          </a:p>
        </p:txBody>
      </p:sp>
    </p:spTree>
    <p:extLst>
      <p:ext uri="{BB962C8B-B14F-4D97-AF65-F5344CB8AC3E}">
        <p14:creationId xmlns:p14="http://schemas.microsoft.com/office/powerpoint/2010/main" val="3226581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35B05-9B90-AB03-B918-4AF5A5020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B4E25AD-05BF-31D7-0E25-65E9AAC2B4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6B37860A-1565-E04E-3034-5AAB46E7C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456" y="0"/>
            <a:ext cx="11482965" cy="1077225"/>
          </a:xfrm>
        </p:spPr>
        <p:txBody>
          <a:bodyPr/>
          <a:lstStyle/>
          <a:p>
            <a:r>
              <a:rPr lang="de-DE" dirty="0">
                <a:latin typeface="Source Sans Pro SemiBold"/>
                <a:ea typeface="Source Sans Pro SemiBold"/>
              </a:rPr>
              <a:t>Possible </a:t>
            </a:r>
            <a:r>
              <a:rPr lang="de-DE" dirty="0" err="1">
                <a:latin typeface="Source Sans Pro SemiBold"/>
                <a:ea typeface="Source Sans Pro SemiBold"/>
              </a:rPr>
              <a:t>misassemblies</a:t>
            </a:r>
            <a:r>
              <a:rPr lang="de-DE" dirty="0">
                <a:latin typeface="Source Sans Pro SemiBold"/>
                <a:ea typeface="Source Sans Pro SemiBold"/>
              </a:rPr>
              <a:t>?  </a:t>
            </a:r>
            <a:endParaRPr lang="de-DE" dirty="0"/>
          </a:p>
        </p:txBody>
      </p: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5D38F156-99DA-E3B0-CE93-FE8F6595488B}"/>
              </a:ext>
            </a:extLst>
          </p:cNvPr>
          <p:cNvGrpSpPr/>
          <p:nvPr/>
        </p:nvGrpSpPr>
        <p:grpSpPr>
          <a:xfrm>
            <a:off x="-46624" y="1120812"/>
            <a:ext cx="488091" cy="5292922"/>
            <a:chOff x="5977295" y="986947"/>
            <a:chExt cx="488091" cy="5292922"/>
          </a:xfrm>
        </p:grpSpPr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434C008C-DD73-B87F-863C-A59DF0005FD1}"/>
                </a:ext>
              </a:extLst>
            </p:cNvPr>
            <p:cNvSpPr txBox="1"/>
            <p:nvPr/>
          </p:nvSpPr>
          <p:spPr>
            <a:xfrm>
              <a:off x="5977295" y="986947"/>
              <a:ext cx="488091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de-DE" dirty="0">
                  <a:ea typeface="Source Sans Pro"/>
                </a:rPr>
                <a:t>1</a:t>
              </a:r>
              <a:endParaRPr lang="de-DE" dirty="0"/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845808A5-4C31-9143-BF9B-29A0EDB823D6}"/>
                </a:ext>
              </a:extLst>
            </p:cNvPr>
            <p:cNvSpPr txBox="1"/>
            <p:nvPr/>
          </p:nvSpPr>
          <p:spPr>
            <a:xfrm>
              <a:off x="5977295" y="1436418"/>
              <a:ext cx="488091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de-DE" dirty="0">
                  <a:ea typeface="Source Sans Pro"/>
                </a:rPr>
                <a:t>2</a:t>
              </a: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852C65CB-7B0B-C8F5-E4F8-8169C51EA076}"/>
                </a:ext>
              </a:extLst>
            </p:cNvPr>
            <p:cNvSpPr txBox="1"/>
            <p:nvPr/>
          </p:nvSpPr>
          <p:spPr>
            <a:xfrm>
              <a:off x="5977295" y="1885890"/>
              <a:ext cx="488091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de-DE" dirty="0">
                  <a:ea typeface="Source Sans Pro"/>
                </a:rPr>
                <a:t>3</a:t>
              </a:r>
            </a:p>
          </p:txBody>
        </p: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732AD88F-1CFD-6795-7384-992D4E50B170}"/>
                </a:ext>
              </a:extLst>
            </p:cNvPr>
            <p:cNvSpPr txBox="1"/>
            <p:nvPr/>
          </p:nvSpPr>
          <p:spPr>
            <a:xfrm>
              <a:off x="5977295" y="2325064"/>
              <a:ext cx="488091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de-DE" dirty="0">
                  <a:ea typeface="Source Sans Pro"/>
                </a:rPr>
                <a:t>4</a:t>
              </a:r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E30C385F-BD97-8DB7-6BD7-AD93FFDD1618}"/>
                </a:ext>
              </a:extLst>
            </p:cNvPr>
            <p:cNvSpPr txBox="1"/>
            <p:nvPr/>
          </p:nvSpPr>
          <p:spPr>
            <a:xfrm>
              <a:off x="5977295" y="2774535"/>
              <a:ext cx="488091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de-DE" dirty="0">
                  <a:ea typeface="Source Sans Pro"/>
                </a:rPr>
                <a:t>5</a:t>
              </a:r>
              <a:endParaRPr lang="de-DE" dirty="0"/>
            </a:p>
          </p:txBody>
        </p: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6CC2146D-B262-5884-9F1D-6FAF1C629862}"/>
                </a:ext>
              </a:extLst>
            </p:cNvPr>
            <p:cNvSpPr txBox="1"/>
            <p:nvPr/>
          </p:nvSpPr>
          <p:spPr>
            <a:xfrm>
              <a:off x="5977295" y="3224006"/>
              <a:ext cx="488091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de-DE" dirty="0">
                  <a:ea typeface="Source Sans Pro"/>
                </a:rPr>
                <a:t>6</a:t>
              </a:r>
              <a:endParaRPr lang="de-DE" dirty="0"/>
            </a:p>
          </p:txBody>
        </p: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B5B110A9-8889-5312-CFFE-1084A9337632}"/>
                </a:ext>
              </a:extLst>
            </p:cNvPr>
            <p:cNvSpPr txBox="1"/>
            <p:nvPr/>
          </p:nvSpPr>
          <p:spPr>
            <a:xfrm>
              <a:off x="5977295" y="3673478"/>
              <a:ext cx="488091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de-DE" dirty="0">
                  <a:ea typeface="Source Sans Pro"/>
                </a:rPr>
                <a:t>7</a:t>
              </a:r>
              <a:endParaRPr lang="de-DE" dirty="0"/>
            </a:p>
          </p:txBody>
        </p: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250F75B0-ED01-1CCB-D694-564A85F7998B}"/>
                </a:ext>
              </a:extLst>
            </p:cNvPr>
            <p:cNvSpPr txBox="1"/>
            <p:nvPr/>
          </p:nvSpPr>
          <p:spPr>
            <a:xfrm>
              <a:off x="5977295" y="4122949"/>
              <a:ext cx="488091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de-DE" dirty="0">
                  <a:ea typeface="Source Sans Pro"/>
                </a:rPr>
                <a:t>8</a:t>
              </a:r>
            </a:p>
          </p:txBody>
        </p:sp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B96784D4-0423-25E8-FC80-9E54D1699F19}"/>
                </a:ext>
              </a:extLst>
            </p:cNvPr>
            <p:cNvSpPr txBox="1"/>
            <p:nvPr/>
          </p:nvSpPr>
          <p:spPr>
            <a:xfrm>
              <a:off x="5977295" y="4572420"/>
              <a:ext cx="488091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de-DE" dirty="0">
                  <a:ea typeface="Source Sans Pro"/>
                </a:rPr>
                <a:t>9</a:t>
              </a:r>
            </a:p>
          </p:txBody>
        </p: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C74AC3DD-0CC7-66CB-BFC9-1315308017B4}"/>
                </a:ext>
              </a:extLst>
            </p:cNvPr>
            <p:cNvSpPr txBox="1"/>
            <p:nvPr/>
          </p:nvSpPr>
          <p:spPr>
            <a:xfrm>
              <a:off x="5977295" y="5011594"/>
              <a:ext cx="488091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de-DE" dirty="0">
                  <a:ea typeface="Source Sans Pro"/>
                </a:rPr>
                <a:t>10</a:t>
              </a:r>
            </a:p>
          </p:txBody>
        </p: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8A1B88A4-C302-0EE1-AA1D-4AE2AD7CE747}"/>
                </a:ext>
              </a:extLst>
            </p:cNvPr>
            <p:cNvSpPr txBox="1"/>
            <p:nvPr/>
          </p:nvSpPr>
          <p:spPr>
            <a:xfrm>
              <a:off x="5977295" y="5461066"/>
              <a:ext cx="488091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de-DE" dirty="0">
                  <a:ea typeface="Source Sans Pro"/>
                </a:rPr>
                <a:t>11</a:t>
              </a:r>
              <a:endParaRPr lang="de-DE" dirty="0"/>
            </a:p>
          </p:txBody>
        </p: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AC75154C-B7FA-AB75-2E13-1C41B9BAFE0C}"/>
                </a:ext>
              </a:extLst>
            </p:cNvPr>
            <p:cNvSpPr txBox="1"/>
            <p:nvPr/>
          </p:nvSpPr>
          <p:spPr>
            <a:xfrm>
              <a:off x="5977295" y="5910537"/>
              <a:ext cx="488091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de-DE" dirty="0">
                  <a:ea typeface="Source Sans Pro"/>
                </a:rPr>
                <a:t>12</a:t>
              </a:r>
              <a:endParaRPr lang="de-DE" dirty="0"/>
            </a:p>
          </p:txBody>
        </p:sp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130E1D1C-829A-E4E5-7D78-527965EC3D59}"/>
              </a:ext>
            </a:extLst>
          </p:cNvPr>
          <p:cNvGrpSpPr/>
          <p:nvPr/>
        </p:nvGrpSpPr>
        <p:grpSpPr>
          <a:xfrm>
            <a:off x="5869971" y="1126468"/>
            <a:ext cx="488091" cy="5292922"/>
            <a:chOff x="5977295" y="986947"/>
            <a:chExt cx="488091" cy="5292922"/>
          </a:xfrm>
        </p:grpSpPr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39454477-4889-9312-A5E0-00997D71011E}"/>
                </a:ext>
              </a:extLst>
            </p:cNvPr>
            <p:cNvSpPr txBox="1"/>
            <p:nvPr/>
          </p:nvSpPr>
          <p:spPr>
            <a:xfrm>
              <a:off x="5977295" y="986947"/>
              <a:ext cx="488091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de-DE" dirty="0">
                  <a:ea typeface="Source Sans Pro"/>
                </a:rPr>
                <a:t>13</a:t>
              </a:r>
              <a:endParaRPr lang="de-DE" dirty="0"/>
            </a:p>
          </p:txBody>
        </p: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14FCEBC2-BE52-3E66-67DC-CC10F00874A6}"/>
                </a:ext>
              </a:extLst>
            </p:cNvPr>
            <p:cNvSpPr txBox="1"/>
            <p:nvPr/>
          </p:nvSpPr>
          <p:spPr>
            <a:xfrm>
              <a:off x="5977295" y="1436418"/>
              <a:ext cx="488091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de-DE" dirty="0">
                  <a:ea typeface="Source Sans Pro"/>
                </a:rPr>
                <a:t>14</a:t>
              </a:r>
              <a:endParaRPr lang="de-DE" dirty="0"/>
            </a:p>
          </p:txBody>
        </p: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BBEA9A5B-1434-248F-9915-45FEF198CEA7}"/>
                </a:ext>
              </a:extLst>
            </p:cNvPr>
            <p:cNvSpPr txBox="1"/>
            <p:nvPr/>
          </p:nvSpPr>
          <p:spPr>
            <a:xfrm>
              <a:off x="5977295" y="1885890"/>
              <a:ext cx="488091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de-DE" dirty="0">
                  <a:ea typeface="Source Sans Pro"/>
                </a:rPr>
                <a:t>15</a:t>
              </a:r>
              <a:endParaRPr lang="de-DE" dirty="0"/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6927AB40-248D-5527-9F86-4BC94175D06F}"/>
                </a:ext>
              </a:extLst>
            </p:cNvPr>
            <p:cNvSpPr txBox="1"/>
            <p:nvPr/>
          </p:nvSpPr>
          <p:spPr>
            <a:xfrm>
              <a:off x="5977295" y="2325064"/>
              <a:ext cx="488091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de-DE" dirty="0">
                  <a:ea typeface="Source Sans Pro"/>
                </a:rPr>
                <a:t>16</a:t>
              </a:r>
              <a:endParaRPr lang="de-DE" dirty="0"/>
            </a:p>
          </p:txBody>
        </p: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24C2DBD5-B116-4CAA-6092-06F9398E9BB4}"/>
                </a:ext>
              </a:extLst>
            </p:cNvPr>
            <p:cNvSpPr txBox="1"/>
            <p:nvPr/>
          </p:nvSpPr>
          <p:spPr>
            <a:xfrm>
              <a:off x="5977295" y="2774535"/>
              <a:ext cx="488091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de-DE" dirty="0">
                  <a:ea typeface="Source Sans Pro"/>
                </a:rPr>
                <a:t>17</a:t>
              </a:r>
              <a:endParaRPr lang="de-DE" dirty="0"/>
            </a:p>
          </p:txBody>
        </p: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D2DBFF6F-EC07-7B21-3C19-C8D6E3DC8B4A}"/>
                </a:ext>
              </a:extLst>
            </p:cNvPr>
            <p:cNvSpPr txBox="1"/>
            <p:nvPr/>
          </p:nvSpPr>
          <p:spPr>
            <a:xfrm>
              <a:off x="5977295" y="3224006"/>
              <a:ext cx="488091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de-DE" dirty="0">
                  <a:ea typeface="Source Sans Pro"/>
                </a:rPr>
                <a:t>18</a:t>
              </a:r>
              <a:endParaRPr lang="de-DE" dirty="0"/>
            </a:p>
          </p:txBody>
        </p:sp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081AD173-6B52-090E-6727-60CCAFA04EFD}"/>
                </a:ext>
              </a:extLst>
            </p:cNvPr>
            <p:cNvSpPr txBox="1"/>
            <p:nvPr/>
          </p:nvSpPr>
          <p:spPr>
            <a:xfrm>
              <a:off x="5977295" y="3673478"/>
              <a:ext cx="488091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de-DE" dirty="0">
                  <a:ea typeface="Source Sans Pro"/>
                </a:rPr>
                <a:t>19</a:t>
              </a:r>
              <a:endParaRPr lang="de-DE" dirty="0"/>
            </a:p>
          </p:txBody>
        </p: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1395AE6E-9E07-8A29-7E4A-E77282CD2F4B}"/>
                </a:ext>
              </a:extLst>
            </p:cNvPr>
            <p:cNvSpPr txBox="1"/>
            <p:nvPr/>
          </p:nvSpPr>
          <p:spPr>
            <a:xfrm>
              <a:off x="5977295" y="4122949"/>
              <a:ext cx="488091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de-DE" dirty="0">
                  <a:ea typeface="Source Sans Pro"/>
                </a:rPr>
                <a:t>20</a:t>
              </a:r>
            </a:p>
          </p:txBody>
        </p: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1170C0B7-1648-4BCA-E88C-88694EDD42DE}"/>
                </a:ext>
              </a:extLst>
            </p:cNvPr>
            <p:cNvSpPr txBox="1"/>
            <p:nvPr/>
          </p:nvSpPr>
          <p:spPr>
            <a:xfrm>
              <a:off x="5977295" y="4572420"/>
              <a:ext cx="488091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de-DE" dirty="0">
                  <a:ea typeface="Source Sans Pro"/>
                </a:rPr>
                <a:t>21</a:t>
              </a:r>
            </a:p>
          </p:txBody>
        </p:sp>
        <p:sp>
          <p:nvSpPr>
            <p:cNvPr id="33" name="Textfeld 32">
              <a:extLst>
                <a:ext uri="{FF2B5EF4-FFF2-40B4-BE49-F238E27FC236}">
                  <a16:creationId xmlns:a16="http://schemas.microsoft.com/office/drawing/2014/main" id="{82CF0E94-BFF5-50E3-35E6-8360063EBF99}"/>
                </a:ext>
              </a:extLst>
            </p:cNvPr>
            <p:cNvSpPr txBox="1"/>
            <p:nvPr/>
          </p:nvSpPr>
          <p:spPr>
            <a:xfrm>
              <a:off x="5977295" y="5011594"/>
              <a:ext cx="488091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de-DE" dirty="0">
                  <a:ea typeface="Source Sans Pro"/>
                </a:rPr>
                <a:t>22</a:t>
              </a:r>
            </a:p>
          </p:txBody>
        </p: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116F87F8-00A4-BAAB-F9F6-ED3D8574E25D}"/>
                </a:ext>
              </a:extLst>
            </p:cNvPr>
            <p:cNvSpPr txBox="1"/>
            <p:nvPr/>
          </p:nvSpPr>
          <p:spPr>
            <a:xfrm>
              <a:off x="5977295" y="5461066"/>
              <a:ext cx="488091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de-DE" dirty="0">
                  <a:ea typeface="Source Sans Pro"/>
                </a:rPr>
                <a:t>X</a:t>
              </a:r>
              <a:endParaRPr lang="de-DE" dirty="0"/>
            </a:p>
          </p:txBody>
        </p: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DB07B54A-7CB9-70E6-D525-752FC7C260BF}"/>
                </a:ext>
              </a:extLst>
            </p:cNvPr>
            <p:cNvSpPr txBox="1"/>
            <p:nvPr/>
          </p:nvSpPr>
          <p:spPr>
            <a:xfrm>
              <a:off x="5977295" y="5910537"/>
              <a:ext cx="488091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de-DE" dirty="0">
                  <a:ea typeface="Source Sans Pro"/>
                </a:rPr>
                <a:t>Y</a:t>
              </a:r>
              <a:endParaRPr lang="de-DE" dirty="0"/>
            </a:p>
          </p:txBody>
        </p:sp>
      </p:grpSp>
      <p:pic>
        <p:nvPicPr>
          <p:cNvPr id="7" name="Grafik 6">
            <a:extLst>
              <a:ext uri="{FF2B5EF4-FFF2-40B4-BE49-F238E27FC236}">
                <a16:creationId xmlns:a16="http://schemas.microsoft.com/office/drawing/2014/main" id="{83E20992-4871-CBE2-1ED9-36C5B6B50A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27" b="51113"/>
          <a:stretch/>
        </p:blipFill>
        <p:spPr>
          <a:xfrm>
            <a:off x="295242" y="1077225"/>
            <a:ext cx="5574729" cy="5386089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0DCDB047-291F-A54E-29E8-05FDCF2A20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981" r="4687" b="3242"/>
          <a:stretch/>
        </p:blipFill>
        <p:spPr>
          <a:xfrm>
            <a:off x="6273799" y="1076981"/>
            <a:ext cx="5730547" cy="5386088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65D36AB5-64B8-3F6E-92C7-92072C5F965C}"/>
              </a:ext>
            </a:extLst>
          </p:cNvPr>
          <p:cNvSpPr txBox="1"/>
          <p:nvPr/>
        </p:nvSpPr>
        <p:spPr>
          <a:xfrm>
            <a:off x="10033613" y="1028479"/>
            <a:ext cx="17139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Detection</a:t>
            </a:r>
            <a:r>
              <a:rPr lang="de-DE" dirty="0"/>
              <a:t> </a:t>
            </a:r>
            <a:r>
              <a:rPr lang="de-DE" dirty="0" err="1"/>
              <a:t>tools</a:t>
            </a:r>
            <a:r>
              <a:rPr lang="de-DE" dirty="0"/>
              <a:t>:</a:t>
            </a:r>
            <a:br>
              <a:rPr lang="de-DE" dirty="0"/>
            </a:br>
            <a:r>
              <a:rPr lang="de-DE" dirty="0"/>
              <a:t>- </a:t>
            </a:r>
            <a:r>
              <a:rPr lang="de-DE" dirty="0" err="1"/>
              <a:t>Nucflag</a:t>
            </a:r>
            <a:endParaRPr lang="de-DE" dirty="0"/>
          </a:p>
          <a:p>
            <a:r>
              <a:rPr lang="de-DE" dirty="0"/>
              <a:t>- </a:t>
            </a:r>
            <a:r>
              <a:rPr lang="de-DE" dirty="0" err="1"/>
              <a:t>Flagger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406389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C0342A67-8F2A-6AEC-F05F-C2AD5949C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013" y="1045029"/>
            <a:ext cx="5471291" cy="3106057"/>
          </a:xfrm>
        </p:spPr>
        <p:txBody>
          <a:bodyPr/>
          <a:lstStyle/>
          <a:p>
            <a:r>
              <a:rPr lang="de-DE" dirty="0"/>
              <a:t>Reference </a:t>
            </a:r>
            <a:r>
              <a:rPr lang="de-DE" dirty="0" err="1"/>
              <a:t>based</a:t>
            </a:r>
            <a:r>
              <a:rPr lang="de-DE" dirty="0"/>
              <a:t> (T2T-CHM13v2.0)</a:t>
            </a:r>
          </a:p>
          <a:p>
            <a:r>
              <a:rPr lang="de-DE" dirty="0" err="1"/>
              <a:t>Uses</a:t>
            </a:r>
            <a:r>
              <a:rPr lang="de-DE" dirty="0"/>
              <a:t> </a:t>
            </a:r>
            <a:r>
              <a:rPr lang="de-DE" b="1" dirty="0" err="1"/>
              <a:t>phased</a:t>
            </a:r>
            <a:r>
              <a:rPr lang="de-DE" b="1" dirty="0"/>
              <a:t> </a:t>
            </a:r>
            <a:r>
              <a:rPr lang="de-DE" b="1" dirty="0" err="1"/>
              <a:t>variants</a:t>
            </a:r>
            <a:r>
              <a:rPr lang="de-DE" b="1" dirty="0"/>
              <a:t> </a:t>
            </a:r>
            <a:r>
              <a:rPr lang="de-DE" dirty="0" err="1"/>
              <a:t>from</a:t>
            </a:r>
            <a:r>
              <a:rPr lang="de-DE" dirty="0"/>
              <a:t> Assembly</a:t>
            </a:r>
          </a:p>
          <a:p>
            <a:r>
              <a:rPr lang="de-DE" dirty="0" err="1"/>
              <a:t>Based</a:t>
            </a:r>
            <a:r>
              <a:rPr lang="de-DE" dirty="0"/>
              <a:t> on Dip3D Pipeline:</a:t>
            </a:r>
          </a:p>
          <a:p>
            <a:pPr lvl="1"/>
            <a:r>
              <a:rPr lang="de-DE" dirty="0"/>
              <a:t>1) </a:t>
            </a:r>
            <a:r>
              <a:rPr lang="de-DE" dirty="0" err="1"/>
              <a:t>Map</a:t>
            </a:r>
            <a:r>
              <a:rPr lang="de-DE" dirty="0"/>
              <a:t> </a:t>
            </a:r>
            <a:r>
              <a:rPr lang="de-DE" dirty="0" err="1"/>
              <a:t>PoreC</a:t>
            </a:r>
            <a:r>
              <a:rPr lang="de-DE" dirty="0"/>
              <a:t> </a:t>
            </a:r>
            <a:r>
              <a:rPr lang="de-DE" dirty="0" err="1"/>
              <a:t>reads</a:t>
            </a:r>
            <a:r>
              <a:rPr lang="de-DE" dirty="0"/>
              <a:t> (</a:t>
            </a:r>
            <a:r>
              <a:rPr lang="de-DE" dirty="0" err="1"/>
              <a:t>Falign</a:t>
            </a:r>
            <a:r>
              <a:rPr lang="de-DE" dirty="0"/>
              <a:t>).</a:t>
            </a:r>
          </a:p>
          <a:p>
            <a:pPr lvl="1"/>
            <a:r>
              <a:rPr lang="de-DE" dirty="0"/>
              <a:t>2) Tag </a:t>
            </a:r>
            <a:r>
              <a:rPr lang="de-DE" dirty="0" err="1"/>
              <a:t>PoreC</a:t>
            </a:r>
            <a:r>
              <a:rPr lang="de-DE" dirty="0"/>
              <a:t>  </a:t>
            </a:r>
            <a:r>
              <a:rPr lang="de-DE" dirty="0" err="1"/>
              <a:t>monomers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 </a:t>
            </a:r>
            <a:r>
              <a:rPr lang="de-DE" dirty="0" err="1"/>
              <a:t>phased</a:t>
            </a:r>
            <a:r>
              <a:rPr lang="de-DE" dirty="0"/>
              <a:t> </a:t>
            </a:r>
            <a:r>
              <a:rPr lang="de-DE" dirty="0" err="1"/>
              <a:t>variants</a:t>
            </a:r>
            <a:r>
              <a:rPr lang="de-DE" dirty="0"/>
              <a:t>.</a:t>
            </a:r>
          </a:p>
          <a:p>
            <a:pPr lvl="1"/>
            <a:r>
              <a:rPr lang="de-DE" dirty="0"/>
              <a:t>3) </a:t>
            </a:r>
            <a:r>
              <a:rPr lang="de-DE" dirty="0" err="1"/>
              <a:t>Haplotype</a:t>
            </a:r>
            <a:r>
              <a:rPr lang="de-DE" dirty="0"/>
              <a:t> </a:t>
            </a:r>
            <a:r>
              <a:rPr lang="de-DE" dirty="0" err="1"/>
              <a:t>imputation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complete</a:t>
            </a:r>
            <a:r>
              <a:rPr lang="de-DE" dirty="0"/>
              <a:t> </a:t>
            </a:r>
            <a:r>
              <a:rPr lang="de-DE" dirty="0" err="1"/>
              <a:t>concatemers</a:t>
            </a:r>
            <a:r>
              <a:rPr lang="de-DE" dirty="0"/>
              <a:t>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C7F9F8C-7D1C-7719-1799-6BC1E4FEF4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318C60F6-7A6A-7B6E-5560-E101743B8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PoreC</a:t>
            </a:r>
            <a:r>
              <a:rPr lang="de-DE" dirty="0"/>
              <a:t> </a:t>
            </a:r>
            <a:r>
              <a:rPr lang="de-DE" dirty="0" err="1"/>
              <a:t>Phasing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AAF2C00-B0EF-43DD-94F1-212764605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2028" y="709258"/>
            <a:ext cx="5101958" cy="5119735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40C31A53-8FEF-62E7-4E6A-C7238BB1805D}"/>
              </a:ext>
            </a:extLst>
          </p:cNvPr>
          <p:cNvSpPr txBox="1"/>
          <p:nvPr/>
        </p:nvSpPr>
        <p:spPr>
          <a:xfrm>
            <a:off x="11045015" y="5779410"/>
            <a:ext cx="777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cs typeface="Arial" panose="020B0604020202020204" pitchFamily="34" charset="0"/>
              </a:rPr>
              <a:t>T2T12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BEEECDC-31CC-04BC-8E37-CF16F8941365}"/>
              </a:ext>
            </a:extLst>
          </p:cNvPr>
          <p:cNvSpPr txBox="1"/>
          <p:nvPr/>
        </p:nvSpPr>
        <p:spPr>
          <a:xfrm>
            <a:off x="6732028" y="5889774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cs typeface="Arial" panose="020B0604020202020204" pitchFamily="34" charset="0"/>
              </a:rPr>
              <a:t>Lower: </a:t>
            </a:r>
            <a:r>
              <a:rPr lang="de-DE" dirty="0" err="1">
                <a:cs typeface="Arial" panose="020B0604020202020204" pitchFamily="34" charset="0"/>
              </a:rPr>
              <a:t>Hap</a:t>
            </a:r>
            <a:r>
              <a:rPr lang="de-DE" dirty="0">
                <a:cs typeface="Arial" panose="020B0604020202020204" pitchFamily="34" charset="0"/>
              </a:rPr>
              <a:t> 1 (Xi)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B9AFB29-DDF8-2711-C796-9EC21FACFD91}"/>
              </a:ext>
            </a:extLst>
          </p:cNvPr>
          <p:cNvSpPr txBox="1"/>
          <p:nvPr/>
        </p:nvSpPr>
        <p:spPr>
          <a:xfrm>
            <a:off x="9995835" y="339926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cs typeface="Arial" panose="020B0604020202020204" pitchFamily="34" charset="0"/>
              </a:rPr>
              <a:t>Upper: </a:t>
            </a:r>
            <a:r>
              <a:rPr lang="de-DE" dirty="0" err="1">
                <a:cs typeface="Arial" panose="020B0604020202020204" pitchFamily="34" charset="0"/>
              </a:rPr>
              <a:t>Hap</a:t>
            </a:r>
            <a:r>
              <a:rPr lang="de-DE" dirty="0">
                <a:cs typeface="Arial" panose="020B0604020202020204" pitchFamily="34" charset="0"/>
              </a:rPr>
              <a:t> 2 (</a:t>
            </a:r>
            <a:r>
              <a:rPr lang="de-DE" dirty="0" err="1">
                <a:cs typeface="Arial" panose="020B0604020202020204" pitchFamily="34" charset="0"/>
              </a:rPr>
              <a:t>Xa</a:t>
            </a:r>
            <a:r>
              <a:rPr lang="de-DE" dirty="0">
                <a:cs typeface="Arial" panose="020B0604020202020204" pitchFamily="34" charset="0"/>
              </a:rPr>
              <a:t>)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2370C302-8775-7373-87D0-BF81598A44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208" y="3886109"/>
            <a:ext cx="5844001" cy="279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7643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394F42D-8DEB-4090-E68B-FCFF7B1631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>
              <a:latin typeface="+mn-lt"/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9A4F6C3-B748-7A2E-6CDC-6F74F0DF9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200" dirty="0" err="1">
                <a:latin typeface="+mn-lt"/>
              </a:rPr>
              <a:t>Known</a:t>
            </a:r>
            <a:r>
              <a:rPr lang="de-DE" sz="3200" dirty="0">
                <a:latin typeface="+mn-lt"/>
              </a:rPr>
              <a:t> </a:t>
            </a:r>
            <a:r>
              <a:rPr lang="de-DE" sz="3200" dirty="0" err="1">
                <a:latin typeface="+mn-lt"/>
              </a:rPr>
              <a:t>imprinted</a:t>
            </a:r>
            <a:r>
              <a:rPr lang="de-DE" sz="3200" dirty="0">
                <a:latin typeface="+mn-lt"/>
              </a:rPr>
              <a:t> </a:t>
            </a:r>
            <a:r>
              <a:rPr lang="de-DE" sz="3200" dirty="0" err="1">
                <a:latin typeface="+mn-lt"/>
              </a:rPr>
              <a:t>region</a:t>
            </a:r>
            <a:r>
              <a:rPr lang="de-DE" sz="3200" dirty="0">
                <a:latin typeface="+mn-lt"/>
              </a:rPr>
              <a:t> </a:t>
            </a:r>
            <a:r>
              <a:rPr lang="de-DE" sz="3200" b="0" i="1" dirty="0">
                <a:solidFill>
                  <a:srgbClr val="212121"/>
                </a:solidFill>
                <a:effectLst/>
                <a:latin typeface="+mn-lt"/>
                <a:cs typeface="Arial" panose="020B0604020202020204" pitchFamily="34" charset="0"/>
              </a:rPr>
              <a:t>IGF2-H19</a:t>
            </a:r>
            <a:endParaRPr lang="de-DE" sz="3200" dirty="0">
              <a:latin typeface="+mn-lt"/>
            </a:endParaRP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87B7708F-035D-3CFA-F6FD-E9F3565399F2}"/>
              </a:ext>
            </a:extLst>
          </p:cNvPr>
          <p:cNvGrpSpPr/>
          <p:nvPr/>
        </p:nvGrpSpPr>
        <p:grpSpPr>
          <a:xfrm>
            <a:off x="2431561" y="1267810"/>
            <a:ext cx="6861926" cy="5050878"/>
            <a:chOff x="305191" y="1686910"/>
            <a:chExt cx="6861926" cy="5050878"/>
          </a:xfrm>
        </p:grpSpPr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3C99AD2B-68DE-9D51-A9DA-B58DCAF7DB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6428" r="13220"/>
            <a:stretch>
              <a:fillRect/>
            </a:stretch>
          </p:blipFill>
          <p:spPr>
            <a:xfrm>
              <a:off x="305191" y="1686910"/>
              <a:ext cx="4570914" cy="4986424"/>
            </a:xfrm>
            <a:prstGeom prst="rect">
              <a:avLst/>
            </a:prstGeom>
          </p:spPr>
        </p:pic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55A54A56-B055-0C26-36AE-E24A3B88F377}"/>
                </a:ext>
              </a:extLst>
            </p:cNvPr>
            <p:cNvSpPr txBox="1"/>
            <p:nvPr/>
          </p:nvSpPr>
          <p:spPr>
            <a:xfrm>
              <a:off x="467516" y="1879392"/>
              <a:ext cx="185018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cs typeface="Arial" panose="020B0604020202020204" pitchFamily="34" charset="0"/>
                </a:rPr>
                <a:t>T2T04.hp1, chr11</a:t>
              </a:r>
            </a:p>
            <a:p>
              <a:r>
                <a:rPr lang="de-DE" dirty="0">
                  <a:cs typeface="Arial" panose="020B0604020202020204" pitchFamily="34" charset="0"/>
                </a:rPr>
                <a:t>25 </a:t>
              </a:r>
              <a:r>
                <a:rPr lang="de-DE" dirty="0" err="1">
                  <a:cs typeface="Arial" panose="020B0604020202020204" pitchFamily="34" charset="0"/>
                </a:rPr>
                <a:t>kb</a:t>
              </a:r>
              <a:endParaRPr lang="de-DE" dirty="0">
                <a:cs typeface="Arial" panose="020B0604020202020204" pitchFamily="34" charset="0"/>
              </a:endParaRPr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FCF9F60C-21FA-9B60-F027-31A03E85DE94}"/>
                </a:ext>
              </a:extLst>
            </p:cNvPr>
            <p:cNvSpPr txBox="1"/>
            <p:nvPr/>
          </p:nvSpPr>
          <p:spPr>
            <a:xfrm>
              <a:off x="3884428" y="4366700"/>
              <a:ext cx="185018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cs typeface="Arial" panose="020B0604020202020204" pitchFamily="34" charset="0"/>
                </a:rPr>
                <a:t>T2T04.hp2, chr11</a:t>
              </a:r>
            </a:p>
            <a:p>
              <a:r>
                <a:rPr lang="de-DE" dirty="0">
                  <a:cs typeface="Arial" panose="020B0604020202020204" pitchFamily="34" charset="0"/>
                </a:rPr>
                <a:t>25 </a:t>
              </a:r>
              <a:r>
                <a:rPr lang="de-DE" dirty="0" err="1">
                  <a:cs typeface="Arial" panose="020B0604020202020204" pitchFamily="34" charset="0"/>
                </a:rPr>
                <a:t>kb</a:t>
              </a:r>
              <a:endParaRPr lang="de-DE" dirty="0">
                <a:cs typeface="Arial" panose="020B0604020202020204" pitchFamily="34" charset="0"/>
              </a:endParaRPr>
            </a:p>
          </p:txBody>
        </p:sp>
        <p:cxnSp>
          <p:nvCxnSpPr>
            <p:cNvPr id="9" name="Gerade Verbindung mit Pfeil 8">
              <a:extLst>
                <a:ext uri="{FF2B5EF4-FFF2-40B4-BE49-F238E27FC236}">
                  <a16:creationId xmlns:a16="http://schemas.microsoft.com/office/drawing/2014/main" id="{001E0BBB-37EE-00D1-FF39-CF8FA81A8C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21271" y="4137137"/>
              <a:ext cx="0" cy="29306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Gleichschenkliges Dreieck 9">
              <a:extLst>
                <a:ext uri="{FF2B5EF4-FFF2-40B4-BE49-F238E27FC236}">
                  <a16:creationId xmlns:a16="http://schemas.microsoft.com/office/drawing/2014/main" id="{FEEE516F-76BA-1390-C599-E3BB6B03B22C}"/>
                </a:ext>
              </a:extLst>
            </p:cNvPr>
            <p:cNvSpPr/>
            <p:nvPr/>
          </p:nvSpPr>
          <p:spPr>
            <a:xfrm>
              <a:off x="1571524" y="3209925"/>
              <a:ext cx="647801" cy="326689"/>
            </a:xfrm>
            <a:prstGeom prst="triangle">
              <a:avLst>
                <a:gd name="adj" fmla="val 51470"/>
              </a:avLst>
            </a:prstGeom>
            <a:noFill/>
            <a:ln w="127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cs typeface="Arial" panose="020B0604020202020204" pitchFamily="34" charset="0"/>
              </a:endParaRPr>
            </a:p>
          </p:txBody>
        </p:sp>
        <p:sp>
          <p:nvSpPr>
            <p:cNvPr id="11" name="Gleichschenkliges Dreieck 10">
              <a:extLst>
                <a:ext uri="{FF2B5EF4-FFF2-40B4-BE49-F238E27FC236}">
                  <a16:creationId xmlns:a16="http://schemas.microsoft.com/office/drawing/2014/main" id="{8DEACDFF-5582-C27C-49E4-8D3639BF4D44}"/>
                </a:ext>
              </a:extLst>
            </p:cNvPr>
            <p:cNvSpPr/>
            <p:nvPr/>
          </p:nvSpPr>
          <p:spPr>
            <a:xfrm>
              <a:off x="2235993" y="3407501"/>
              <a:ext cx="240507" cy="129113"/>
            </a:xfrm>
            <a:prstGeom prst="triangle">
              <a:avLst/>
            </a:prstGeom>
            <a:noFill/>
            <a:ln w="127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cs typeface="Arial" panose="020B0604020202020204" pitchFamily="34" charset="0"/>
              </a:endParaRPr>
            </a:p>
          </p:txBody>
        </p:sp>
        <p:sp>
          <p:nvSpPr>
            <p:cNvPr id="12" name="Gleichschenkliges Dreieck 11">
              <a:extLst>
                <a:ext uri="{FF2B5EF4-FFF2-40B4-BE49-F238E27FC236}">
                  <a16:creationId xmlns:a16="http://schemas.microsoft.com/office/drawing/2014/main" id="{3E4BACFF-CCB0-766F-A834-37E0FE11AA93}"/>
                </a:ext>
              </a:extLst>
            </p:cNvPr>
            <p:cNvSpPr/>
            <p:nvPr/>
          </p:nvSpPr>
          <p:spPr>
            <a:xfrm rot="10800000">
              <a:off x="1571524" y="3569140"/>
              <a:ext cx="904977" cy="504496"/>
            </a:xfrm>
            <a:prstGeom prst="triangle">
              <a:avLst/>
            </a:prstGeom>
            <a:noFill/>
            <a:ln w="127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cs typeface="Arial" panose="020B0604020202020204" pitchFamily="34" charset="0"/>
              </a:endParaRPr>
            </a:p>
          </p:txBody>
        </p:sp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87DCD662-5FD7-18F6-54A9-20E363B41BE3}"/>
                </a:ext>
              </a:extLst>
            </p:cNvPr>
            <p:cNvCxnSpPr>
              <a:cxnSpLocks/>
            </p:cNvCxnSpPr>
            <p:nvPr/>
          </p:nvCxnSpPr>
          <p:spPr>
            <a:xfrm>
              <a:off x="1571524" y="3207286"/>
              <a:ext cx="0" cy="3072833"/>
            </a:xfrm>
            <a:prstGeom prst="line">
              <a:avLst/>
            </a:prstGeom>
            <a:ln w="12700"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96529F31-ADA5-863F-E7F0-68D93303E401}"/>
                </a:ext>
              </a:extLst>
            </p:cNvPr>
            <p:cNvCxnSpPr>
              <a:cxnSpLocks/>
            </p:cNvCxnSpPr>
            <p:nvPr/>
          </p:nvCxnSpPr>
          <p:spPr>
            <a:xfrm>
              <a:off x="2501164" y="3209925"/>
              <a:ext cx="0" cy="3072833"/>
            </a:xfrm>
            <a:prstGeom prst="line">
              <a:avLst/>
            </a:prstGeom>
            <a:ln w="12700"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E6E20F80-A715-BA62-60EE-8CA919C45E11}"/>
                </a:ext>
              </a:extLst>
            </p:cNvPr>
            <p:cNvCxnSpPr>
              <a:cxnSpLocks/>
            </p:cNvCxnSpPr>
            <p:nvPr/>
          </p:nvCxnSpPr>
          <p:spPr>
            <a:xfrm>
              <a:off x="2237797" y="3209925"/>
              <a:ext cx="0" cy="3072833"/>
            </a:xfrm>
            <a:prstGeom prst="line">
              <a:avLst/>
            </a:prstGeom>
            <a:ln w="12700"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6B51BC1A-B270-22B0-8308-3029EA01A724}"/>
                </a:ext>
              </a:extLst>
            </p:cNvPr>
            <p:cNvSpPr txBox="1"/>
            <p:nvPr/>
          </p:nvSpPr>
          <p:spPr>
            <a:xfrm rot="16200000">
              <a:off x="-265455" y="5792497"/>
              <a:ext cx="15520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dirty="0" err="1">
                  <a:cs typeface="Arial" panose="020B0604020202020204" pitchFamily="34" charset="0"/>
                </a:rPr>
                <a:t>Insulation</a:t>
              </a:r>
              <a:r>
                <a:rPr lang="de-DE" sz="1600" dirty="0">
                  <a:cs typeface="Arial" panose="020B0604020202020204" pitchFamily="34" charset="0"/>
                </a:rPr>
                <a:t> score</a:t>
              </a:r>
            </a:p>
          </p:txBody>
        </p: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98A64D8B-1F59-0AD7-0E23-C404562E4BAA}"/>
                </a:ext>
              </a:extLst>
            </p:cNvPr>
            <p:cNvSpPr txBox="1"/>
            <p:nvPr/>
          </p:nvSpPr>
          <p:spPr>
            <a:xfrm>
              <a:off x="4876105" y="5997089"/>
              <a:ext cx="2291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dirty="0">
                  <a:cs typeface="Arial" panose="020B0604020202020204" pitchFamily="34" charset="0"/>
                </a:rPr>
                <a:t>IS </a:t>
              </a:r>
              <a:r>
                <a:rPr lang="de-DE" sz="1600" dirty="0" err="1">
                  <a:cs typeface="Arial" panose="020B0604020202020204" pitchFamily="34" charset="0"/>
                </a:rPr>
                <a:t>calculated</a:t>
              </a:r>
              <a:r>
                <a:rPr lang="de-DE" sz="1600" dirty="0">
                  <a:cs typeface="Arial" panose="020B0604020202020204" pitchFamily="34" charset="0"/>
                </a:rPr>
                <a:t> at 25 </a:t>
              </a:r>
              <a:r>
                <a:rPr lang="de-DE" sz="1600" dirty="0" err="1">
                  <a:cs typeface="Arial" panose="020B0604020202020204" pitchFamily="34" charset="0"/>
                </a:rPr>
                <a:t>kb</a:t>
              </a:r>
              <a:r>
                <a:rPr lang="de-DE" sz="1600" dirty="0">
                  <a:cs typeface="Arial" panose="020B0604020202020204" pitchFamily="34" charset="0"/>
                </a:rPr>
                <a:t>, 5x</a:t>
              </a:r>
            </a:p>
          </p:txBody>
        </p:sp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25D6EC30-FFF7-A720-635E-75055D4908FA}"/>
              </a:ext>
            </a:extLst>
          </p:cNvPr>
          <p:cNvGrpSpPr/>
          <p:nvPr/>
        </p:nvGrpSpPr>
        <p:grpSpPr>
          <a:xfrm>
            <a:off x="2431561" y="1267810"/>
            <a:ext cx="6861926" cy="4986424"/>
            <a:chOff x="305191" y="1686910"/>
            <a:chExt cx="6861926" cy="4986424"/>
          </a:xfrm>
        </p:grpSpPr>
        <p:pic>
          <p:nvPicPr>
            <p:cNvPr id="32" name="Grafik 31">
              <a:extLst>
                <a:ext uri="{FF2B5EF4-FFF2-40B4-BE49-F238E27FC236}">
                  <a16:creationId xmlns:a16="http://schemas.microsoft.com/office/drawing/2014/main" id="{1159262F-C075-1700-78B6-EC6A47CC4E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6428" r="13220"/>
            <a:stretch>
              <a:fillRect/>
            </a:stretch>
          </p:blipFill>
          <p:spPr>
            <a:xfrm>
              <a:off x="305191" y="1686910"/>
              <a:ext cx="4570914" cy="4986424"/>
            </a:xfrm>
            <a:prstGeom prst="rect">
              <a:avLst/>
            </a:prstGeom>
          </p:spPr>
        </p:pic>
        <p:sp>
          <p:nvSpPr>
            <p:cNvPr id="33" name="Textfeld 32">
              <a:extLst>
                <a:ext uri="{FF2B5EF4-FFF2-40B4-BE49-F238E27FC236}">
                  <a16:creationId xmlns:a16="http://schemas.microsoft.com/office/drawing/2014/main" id="{FC54CD36-97C5-2B37-AC75-09A89F2032CD}"/>
                </a:ext>
              </a:extLst>
            </p:cNvPr>
            <p:cNvSpPr txBox="1"/>
            <p:nvPr/>
          </p:nvSpPr>
          <p:spPr>
            <a:xfrm>
              <a:off x="467516" y="1879392"/>
              <a:ext cx="185018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cs typeface="Arial" panose="020B0604020202020204" pitchFamily="34" charset="0"/>
                </a:rPr>
                <a:t>T2T04.hp1, chr11</a:t>
              </a:r>
            </a:p>
            <a:p>
              <a:r>
                <a:rPr lang="de-DE" dirty="0">
                  <a:cs typeface="Arial" panose="020B0604020202020204" pitchFamily="34" charset="0"/>
                </a:rPr>
                <a:t>25 </a:t>
              </a:r>
              <a:r>
                <a:rPr lang="de-DE" dirty="0" err="1">
                  <a:cs typeface="Arial" panose="020B0604020202020204" pitchFamily="34" charset="0"/>
                </a:rPr>
                <a:t>kb</a:t>
              </a:r>
              <a:endParaRPr lang="de-DE" dirty="0">
                <a:cs typeface="Arial" panose="020B0604020202020204" pitchFamily="34" charset="0"/>
              </a:endParaRPr>
            </a:p>
          </p:txBody>
        </p: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A61E00E6-AAB9-4FD5-19E0-DC6B4BD764AA}"/>
                </a:ext>
              </a:extLst>
            </p:cNvPr>
            <p:cNvSpPr txBox="1"/>
            <p:nvPr/>
          </p:nvSpPr>
          <p:spPr>
            <a:xfrm>
              <a:off x="3884428" y="4366700"/>
              <a:ext cx="185018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cs typeface="Arial" panose="020B0604020202020204" pitchFamily="34" charset="0"/>
                </a:rPr>
                <a:t>T2T04.hp2, chr11</a:t>
              </a:r>
            </a:p>
            <a:p>
              <a:r>
                <a:rPr lang="de-DE" dirty="0">
                  <a:cs typeface="Arial" panose="020B0604020202020204" pitchFamily="34" charset="0"/>
                </a:rPr>
                <a:t>25 </a:t>
              </a:r>
              <a:r>
                <a:rPr lang="de-DE" dirty="0" err="1">
                  <a:cs typeface="Arial" panose="020B0604020202020204" pitchFamily="34" charset="0"/>
                </a:rPr>
                <a:t>kb</a:t>
              </a:r>
              <a:endParaRPr lang="de-DE" dirty="0">
                <a:cs typeface="Arial" panose="020B0604020202020204" pitchFamily="34" charset="0"/>
              </a:endParaRPr>
            </a:p>
          </p:txBody>
        </p:sp>
        <p:cxnSp>
          <p:nvCxnSpPr>
            <p:cNvPr id="35" name="Gerade Verbindung mit Pfeil 34">
              <a:extLst>
                <a:ext uri="{FF2B5EF4-FFF2-40B4-BE49-F238E27FC236}">
                  <a16:creationId xmlns:a16="http://schemas.microsoft.com/office/drawing/2014/main" id="{8B2A077F-44D0-F176-0000-0B5EE7BDE5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21271" y="4073637"/>
              <a:ext cx="0" cy="29306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3112E2E5-76A8-FB1D-5D27-87BCA57C59EC}"/>
                </a:ext>
              </a:extLst>
            </p:cNvPr>
            <p:cNvSpPr txBox="1"/>
            <p:nvPr/>
          </p:nvSpPr>
          <p:spPr>
            <a:xfrm>
              <a:off x="4876105" y="5997089"/>
              <a:ext cx="2291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dirty="0">
                  <a:cs typeface="Arial" panose="020B0604020202020204" pitchFamily="34" charset="0"/>
                </a:rPr>
                <a:t>IS </a:t>
              </a:r>
              <a:r>
                <a:rPr lang="de-DE" sz="1600" dirty="0" err="1">
                  <a:cs typeface="Arial" panose="020B0604020202020204" pitchFamily="34" charset="0"/>
                </a:rPr>
                <a:t>calculated</a:t>
              </a:r>
              <a:r>
                <a:rPr lang="de-DE" sz="1600" dirty="0">
                  <a:cs typeface="Arial" panose="020B0604020202020204" pitchFamily="34" charset="0"/>
                </a:rPr>
                <a:t> at 25 </a:t>
              </a:r>
              <a:r>
                <a:rPr lang="de-DE" sz="1600" dirty="0" err="1">
                  <a:cs typeface="Arial" panose="020B0604020202020204" pitchFamily="34" charset="0"/>
                </a:rPr>
                <a:t>kb</a:t>
              </a:r>
              <a:r>
                <a:rPr lang="de-DE" sz="1600" dirty="0">
                  <a:cs typeface="Arial" panose="020B0604020202020204" pitchFamily="34" charset="0"/>
                </a:rPr>
                <a:t>, 5x</a:t>
              </a:r>
            </a:p>
          </p:txBody>
        </p:sp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72289FF0-4B28-3082-6532-7723CC1771A7}"/>
                </a:ext>
              </a:extLst>
            </p:cNvPr>
            <p:cNvCxnSpPr>
              <a:cxnSpLocks/>
            </p:cNvCxnSpPr>
            <p:nvPr/>
          </p:nvCxnSpPr>
          <p:spPr>
            <a:xfrm>
              <a:off x="2407123" y="2924256"/>
              <a:ext cx="0" cy="396000"/>
            </a:xfrm>
            <a:prstGeom prst="line">
              <a:avLst/>
            </a:prstGeom>
            <a:ln w="12700"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4596039F-08CC-8AFE-82B6-74F13AB6BE48}"/>
                </a:ext>
              </a:extLst>
            </p:cNvPr>
            <p:cNvCxnSpPr>
              <a:cxnSpLocks/>
            </p:cNvCxnSpPr>
            <p:nvPr/>
          </p:nvCxnSpPr>
          <p:spPr>
            <a:xfrm>
              <a:off x="2215266" y="2924256"/>
              <a:ext cx="0" cy="396000"/>
            </a:xfrm>
            <a:prstGeom prst="line">
              <a:avLst/>
            </a:prstGeom>
            <a:ln w="12700"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54179F24-D688-7AA7-A557-14643E38D50B}"/>
                </a:ext>
              </a:extLst>
            </p:cNvPr>
            <p:cNvSpPr txBox="1"/>
            <p:nvPr/>
          </p:nvSpPr>
          <p:spPr>
            <a:xfrm>
              <a:off x="1897463" y="2671448"/>
              <a:ext cx="4395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>
                  <a:cs typeface="Arial" panose="020B0604020202020204" pitchFamily="34" charset="0"/>
                </a:rPr>
                <a:t>H19</a:t>
              </a:r>
            </a:p>
          </p:txBody>
        </p:sp>
        <p:sp>
          <p:nvSpPr>
            <p:cNvPr id="40" name="Textfeld 39">
              <a:extLst>
                <a:ext uri="{FF2B5EF4-FFF2-40B4-BE49-F238E27FC236}">
                  <a16:creationId xmlns:a16="http://schemas.microsoft.com/office/drawing/2014/main" id="{338A7F2C-D6C9-642D-5AC4-47A34F36ED45}"/>
                </a:ext>
              </a:extLst>
            </p:cNvPr>
            <p:cNvSpPr txBox="1"/>
            <p:nvPr/>
          </p:nvSpPr>
          <p:spPr>
            <a:xfrm>
              <a:off x="2259462" y="2671448"/>
              <a:ext cx="4716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>
                  <a:cs typeface="Arial" panose="020B0604020202020204" pitchFamily="34" charset="0"/>
                </a:rPr>
                <a:t>IGF2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30942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394F42D-8DEB-4090-E68B-FCFF7B1631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>
              <a:latin typeface="+mn-lt"/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9A4F6C3-B748-7A2E-6CDC-6F74F0DF9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err="1">
                <a:latin typeface="+mn-lt"/>
              </a:rPr>
              <a:t>Known</a:t>
            </a:r>
            <a:r>
              <a:rPr lang="de-DE" sz="2800" dirty="0">
                <a:latin typeface="+mn-lt"/>
              </a:rPr>
              <a:t> </a:t>
            </a:r>
            <a:r>
              <a:rPr lang="de-DE" sz="2800" dirty="0" err="1">
                <a:latin typeface="+mn-lt"/>
              </a:rPr>
              <a:t>imprinted</a:t>
            </a:r>
            <a:r>
              <a:rPr lang="de-DE" sz="2800" dirty="0">
                <a:latin typeface="+mn-lt"/>
              </a:rPr>
              <a:t> </a:t>
            </a:r>
            <a:r>
              <a:rPr lang="de-DE" sz="2800" dirty="0" err="1">
                <a:latin typeface="+mn-lt"/>
              </a:rPr>
              <a:t>region</a:t>
            </a:r>
            <a:r>
              <a:rPr lang="de-DE" sz="2800" dirty="0">
                <a:latin typeface="+mn-lt"/>
              </a:rPr>
              <a:t> </a:t>
            </a:r>
            <a:r>
              <a:rPr lang="de-DE" sz="2800" b="0" i="1" dirty="0">
                <a:solidFill>
                  <a:srgbClr val="212121"/>
                </a:solidFill>
                <a:effectLst/>
                <a:latin typeface="+mn-lt"/>
                <a:cs typeface="Arial" panose="020B0604020202020204" pitchFamily="34" charset="0"/>
              </a:rPr>
              <a:t>IGF2-H19</a:t>
            </a:r>
            <a:endParaRPr lang="de-DE" dirty="0">
              <a:latin typeface="+mn-lt"/>
            </a:endParaRP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87B7708F-035D-3CFA-F6FD-E9F3565399F2}"/>
              </a:ext>
            </a:extLst>
          </p:cNvPr>
          <p:cNvGrpSpPr/>
          <p:nvPr/>
        </p:nvGrpSpPr>
        <p:grpSpPr>
          <a:xfrm>
            <a:off x="2431561" y="1267810"/>
            <a:ext cx="6861926" cy="5050878"/>
            <a:chOff x="305191" y="1686910"/>
            <a:chExt cx="6861926" cy="5050878"/>
          </a:xfrm>
        </p:grpSpPr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3C99AD2B-68DE-9D51-A9DA-B58DCAF7DB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6428" r="13220"/>
            <a:stretch>
              <a:fillRect/>
            </a:stretch>
          </p:blipFill>
          <p:spPr>
            <a:xfrm>
              <a:off x="305191" y="1686910"/>
              <a:ext cx="4570914" cy="4986424"/>
            </a:xfrm>
            <a:prstGeom prst="rect">
              <a:avLst/>
            </a:prstGeom>
          </p:spPr>
        </p:pic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55A54A56-B055-0C26-36AE-E24A3B88F377}"/>
                </a:ext>
              </a:extLst>
            </p:cNvPr>
            <p:cNvSpPr txBox="1"/>
            <p:nvPr/>
          </p:nvSpPr>
          <p:spPr>
            <a:xfrm>
              <a:off x="467516" y="1879392"/>
              <a:ext cx="185018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cs typeface="Arial" panose="020B0604020202020204" pitchFamily="34" charset="0"/>
                </a:rPr>
                <a:t>T2T04.hp1, chr11</a:t>
              </a:r>
            </a:p>
            <a:p>
              <a:r>
                <a:rPr lang="de-DE" dirty="0">
                  <a:cs typeface="Arial" panose="020B0604020202020204" pitchFamily="34" charset="0"/>
                </a:rPr>
                <a:t>25 </a:t>
              </a:r>
              <a:r>
                <a:rPr lang="de-DE" dirty="0" err="1">
                  <a:cs typeface="Arial" panose="020B0604020202020204" pitchFamily="34" charset="0"/>
                </a:rPr>
                <a:t>kb</a:t>
              </a:r>
              <a:endParaRPr lang="de-DE" dirty="0">
                <a:cs typeface="Arial" panose="020B0604020202020204" pitchFamily="34" charset="0"/>
              </a:endParaRPr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FCF9F60C-21FA-9B60-F027-31A03E85DE94}"/>
                </a:ext>
              </a:extLst>
            </p:cNvPr>
            <p:cNvSpPr txBox="1"/>
            <p:nvPr/>
          </p:nvSpPr>
          <p:spPr>
            <a:xfrm>
              <a:off x="3884428" y="4366700"/>
              <a:ext cx="185018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cs typeface="Arial" panose="020B0604020202020204" pitchFamily="34" charset="0"/>
                </a:rPr>
                <a:t>T2T04.hp2, chr11</a:t>
              </a:r>
            </a:p>
            <a:p>
              <a:r>
                <a:rPr lang="de-DE" dirty="0">
                  <a:cs typeface="Arial" panose="020B0604020202020204" pitchFamily="34" charset="0"/>
                </a:rPr>
                <a:t>25 </a:t>
              </a:r>
              <a:r>
                <a:rPr lang="de-DE" dirty="0" err="1">
                  <a:cs typeface="Arial" panose="020B0604020202020204" pitchFamily="34" charset="0"/>
                </a:rPr>
                <a:t>kb</a:t>
              </a:r>
              <a:endParaRPr lang="de-DE" dirty="0">
                <a:cs typeface="Arial" panose="020B0604020202020204" pitchFamily="34" charset="0"/>
              </a:endParaRPr>
            </a:p>
          </p:txBody>
        </p:sp>
        <p:cxnSp>
          <p:nvCxnSpPr>
            <p:cNvPr id="9" name="Gerade Verbindung mit Pfeil 8">
              <a:extLst>
                <a:ext uri="{FF2B5EF4-FFF2-40B4-BE49-F238E27FC236}">
                  <a16:creationId xmlns:a16="http://schemas.microsoft.com/office/drawing/2014/main" id="{001E0BBB-37EE-00D1-FF39-CF8FA81A8C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21271" y="4137137"/>
              <a:ext cx="0" cy="29306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Gleichschenkliges Dreieck 9">
              <a:extLst>
                <a:ext uri="{FF2B5EF4-FFF2-40B4-BE49-F238E27FC236}">
                  <a16:creationId xmlns:a16="http://schemas.microsoft.com/office/drawing/2014/main" id="{FEEE516F-76BA-1390-C599-E3BB6B03B22C}"/>
                </a:ext>
              </a:extLst>
            </p:cNvPr>
            <p:cNvSpPr/>
            <p:nvPr/>
          </p:nvSpPr>
          <p:spPr>
            <a:xfrm>
              <a:off x="1571524" y="3209925"/>
              <a:ext cx="647801" cy="326689"/>
            </a:xfrm>
            <a:prstGeom prst="triangle">
              <a:avLst>
                <a:gd name="adj" fmla="val 51470"/>
              </a:avLst>
            </a:prstGeom>
            <a:noFill/>
            <a:ln w="127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cs typeface="Arial" panose="020B0604020202020204" pitchFamily="34" charset="0"/>
              </a:endParaRPr>
            </a:p>
          </p:txBody>
        </p:sp>
        <p:sp>
          <p:nvSpPr>
            <p:cNvPr id="11" name="Gleichschenkliges Dreieck 10">
              <a:extLst>
                <a:ext uri="{FF2B5EF4-FFF2-40B4-BE49-F238E27FC236}">
                  <a16:creationId xmlns:a16="http://schemas.microsoft.com/office/drawing/2014/main" id="{8DEACDFF-5582-C27C-49E4-8D3639BF4D44}"/>
                </a:ext>
              </a:extLst>
            </p:cNvPr>
            <p:cNvSpPr/>
            <p:nvPr/>
          </p:nvSpPr>
          <p:spPr>
            <a:xfrm>
              <a:off x="2235993" y="3407501"/>
              <a:ext cx="240507" cy="129113"/>
            </a:xfrm>
            <a:prstGeom prst="triangle">
              <a:avLst/>
            </a:prstGeom>
            <a:noFill/>
            <a:ln w="127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cs typeface="Arial" panose="020B0604020202020204" pitchFamily="34" charset="0"/>
              </a:endParaRPr>
            </a:p>
          </p:txBody>
        </p:sp>
        <p:sp>
          <p:nvSpPr>
            <p:cNvPr id="12" name="Gleichschenkliges Dreieck 11">
              <a:extLst>
                <a:ext uri="{FF2B5EF4-FFF2-40B4-BE49-F238E27FC236}">
                  <a16:creationId xmlns:a16="http://schemas.microsoft.com/office/drawing/2014/main" id="{3E4BACFF-CCB0-766F-A834-37E0FE11AA93}"/>
                </a:ext>
              </a:extLst>
            </p:cNvPr>
            <p:cNvSpPr/>
            <p:nvPr/>
          </p:nvSpPr>
          <p:spPr>
            <a:xfrm rot="10800000">
              <a:off x="1571524" y="3569140"/>
              <a:ext cx="904977" cy="504496"/>
            </a:xfrm>
            <a:prstGeom prst="triangle">
              <a:avLst/>
            </a:prstGeom>
            <a:noFill/>
            <a:ln w="127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cs typeface="Arial" panose="020B0604020202020204" pitchFamily="34" charset="0"/>
              </a:endParaRPr>
            </a:p>
          </p:txBody>
        </p:sp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87DCD662-5FD7-18F6-54A9-20E363B41BE3}"/>
                </a:ext>
              </a:extLst>
            </p:cNvPr>
            <p:cNvCxnSpPr>
              <a:cxnSpLocks/>
            </p:cNvCxnSpPr>
            <p:nvPr/>
          </p:nvCxnSpPr>
          <p:spPr>
            <a:xfrm>
              <a:off x="1571524" y="3207286"/>
              <a:ext cx="0" cy="3072833"/>
            </a:xfrm>
            <a:prstGeom prst="line">
              <a:avLst/>
            </a:prstGeom>
            <a:ln w="12700"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96529F31-ADA5-863F-E7F0-68D93303E401}"/>
                </a:ext>
              </a:extLst>
            </p:cNvPr>
            <p:cNvCxnSpPr>
              <a:cxnSpLocks/>
            </p:cNvCxnSpPr>
            <p:nvPr/>
          </p:nvCxnSpPr>
          <p:spPr>
            <a:xfrm>
              <a:off x="2501164" y="3209925"/>
              <a:ext cx="0" cy="3072833"/>
            </a:xfrm>
            <a:prstGeom prst="line">
              <a:avLst/>
            </a:prstGeom>
            <a:ln w="12700"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E6E20F80-A715-BA62-60EE-8CA919C45E11}"/>
                </a:ext>
              </a:extLst>
            </p:cNvPr>
            <p:cNvCxnSpPr>
              <a:cxnSpLocks/>
            </p:cNvCxnSpPr>
            <p:nvPr/>
          </p:nvCxnSpPr>
          <p:spPr>
            <a:xfrm>
              <a:off x="2237797" y="3209925"/>
              <a:ext cx="0" cy="3072833"/>
            </a:xfrm>
            <a:prstGeom prst="line">
              <a:avLst/>
            </a:prstGeom>
            <a:ln w="12700"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6B51BC1A-B270-22B0-8308-3029EA01A724}"/>
                </a:ext>
              </a:extLst>
            </p:cNvPr>
            <p:cNvSpPr txBox="1"/>
            <p:nvPr/>
          </p:nvSpPr>
          <p:spPr>
            <a:xfrm rot="16200000">
              <a:off x="-265455" y="5792497"/>
              <a:ext cx="15520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dirty="0" err="1">
                  <a:cs typeface="Arial" panose="020B0604020202020204" pitchFamily="34" charset="0"/>
                </a:rPr>
                <a:t>Insulation</a:t>
              </a:r>
              <a:r>
                <a:rPr lang="de-DE" sz="1600" dirty="0">
                  <a:cs typeface="Arial" panose="020B0604020202020204" pitchFamily="34" charset="0"/>
                </a:rPr>
                <a:t> score</a:t>
              </a:r>
            </a:p>
          </p:txBody>
        </p: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98A64D8B-1F59-0AD7-0E23-C404562E4BAA}"/>
                </a:ext>
              </a:extLst>
            </p:cNvPr>
            <p:cNvSpPr txBox="1"/>
            <p:nvPr/>
          </p:nvSpPr>
          <p:spPr>
            <a:xfrm>
              <a:off x="4876105" y="5997089"/>
              <a:ext cx="2291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dirty="0">
                  <a:cs typeface="Arial" panose="020B0604020202020204" pitchFamily="34" charset="0"/>
                </a:rPr>
                <a:t>IS </a:t>
              </a:r>
              <a:r>
                <a:rPr lang="de-DE" sz="1600" dirty="0" err="1">
                  <a:cs typeface="Arial" panose="020B0604020202020204" pitchFamily="34" charset="0"/>
                </a:rPr>
                <a:t>calculated</a:t>
              </a:r>
              <a:r>
                <a:rPr lang="de-DE" sz="1600" dirty="0">
                  <a:cs typeface="Arial" panose="020B0604020202020204" pitchFamily="34" charset="0"/>
                </a:rPr>
                <a:t> at 25 </a:t>
              </a:r>
              <a:r>
                <a:rPr lang="de-DE" sz="1600" dirty="0" err="1">
                  <a:cs typeface="Arial" panose="020B0604020202020204" pitchFamily="34" charset="0"/>
                </a:rPr>
                <a:t>kb</a:t>
              </a:r>
              <a:r>
                <a:rPr lang="de-DE" sz="1600" dirty="0">
                  <a:cs typeface="Arial" panose="020B0604020202020204" pitchFamily="34" charset="0"/>
                </a:rPr>
                <a:t>, 5x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962706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07CCA-42AC-6245-875C-4430BB44F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49FA8FE8-C618-2B1D-0A35-DD713A13FC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9005" y="968029"/>
            <a:ext cx="10088450" cy="5674753"/>
          </a:xfr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1F31D42-AEC7-572B-6F66-7ED137DFEA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1905586-89BB-F64C-AE27-915DA61D1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>
                <a:latin typeface="Source Sans Pro SemiBold"/>
                <a:ea typeface="Source Sans Pro SemiBold"/>
              </a:rPr>
              <a:t>Centromere</a:t>
            </a:r>
            <a:r>
              <a:rPr lang="de-DE">
                <a:latin typeface="Source Sans Pro SemiBold"/>
                <a:ea typeface="Source Sans Pro SemiBold"/>
              </a:rPr>
              <a:t> </a:t>
            </a:r>
            <a:r>
              <a:rPr lang="de-DE" err="1">
                <a:latin typeface="Source Sans Pro SemiBold"/>
                <a:ea typeface="Source Sans Pro SemiBold"/>
              </a:rPr>
              <a:t>plot</a:t>
            </a:r>
            <a:endParaRPr lang="de-DE" err="1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1FBF6C7-B164-3B57-E5EF-2F06F4170A17}"/>
              </a:ext>
            </a:extLst>
          </p:cNvPr>
          <p:cNvSpPr txBox="1"/>
          <p:nvPr/>
        </p:nvSpPr>
        <p:spPr>
          <a:xfrm>
            <a:off x="248991" y="5507865"/>
            <a:ext cx="442818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Analysis with:</a:t>
            </a:r>
            <a:br>
              <a:rPr lang="en-US">
                <a:ea typeface="Source Sans Pro"/>
              </a:rPr>
            </a:br>
            <a:r>
              <a:rPr lang="en-US" i="1" err="1">
                <a:latin typeface="Fira Code"/>
                <a:ea typeface="Fira Code"/>
                <a:cs typeface="Fira Code"/>
              </a:rPr>
              <a:t>logsdon</a:t>
            </a:r>
            <a:r>
              <a:rPr lang="en-US" i="1">
                <a:latin typeface="Fira Code"/>
                <a:ea typeface="Fira Code"/>
                <a:cs typeface="Fira Code"/>
              </a:rPr>
              <a:t>-lab/</a:t>
            </a:r>
            <a:r>
              <a:rPr lang="en-US" i="1" err="1">
                <a:latin typeface="Fira Code"/>
                <a:ea typeface="Fira Code"/>
                <a:cs typeface="Fira Code"/>
              </a:rPr>
              <a:t>CenMAP</a:t>
            </a:r>
            <a:endParaRPr lang="en-US" err="1">
              <a:ea typeface="Source Sans Pro"/>
            </a:endParaRPr>
          </a:p>
        </p:txBody>
      </p:sp>
      <p:pic>
        <p:nvPicPr>
          <p:cNvPr id="9" name="Grafik 8" descr="GitHub Logomark">
            <a:extLst>
              <a:ext uri="{FF2B5EF4-FFF2-40B4-BE49-F238E27FC236}">
                <a16:creationId xmlns:a16="http://schemas.microsoft.com/office/drawing/2014/main" id="{E8ADAEB0-8090-01F5-A1C2-6C17F3E57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3113" y="5698901"/>
            <a:ext cx="450761" cy="45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1467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99547DA-BA7A-6AD9-0A52-9A3E59D9B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465" y="854298"/>
            <a:ext cx="11655026" cy="857990"/>
          </a:xfrm>
        </p:spPr>
        <p:txBody>
          <a:bodyPr lIns="91440" tIns="45720" rIns="91440" bIns="45720" anchor="t"/>
          <a:lstStyle/>
          <a:p>
            <a:r>
              <a:rPr lang="de-DE" err="1">
                <a:latin typeface="Source Sans Pro"/>
                <a:ea typeface="Source Sans Pro"/>
              </a:rPr>
              <a:t>No</a:t>
            </a:r>
            <a:r>
              <a:rPr lang="de-DE" dirty="0">
                <a:latin typeface="Source Sans Pro"/>
                <a:ea typeface="Source Sans Pro"/>
              </a:rPr>
              <a:t> support </a:t>
            </a:r>
            <a:r>
              <a:rPr lang="de-DE" err="1">
                <a:latin typeface="Source Sans Pro"/>
                <a:ea typeface="Source Sans Pro"/>
              </a:rPr>
              <a:t>for</a:t>
            </a:r>
            <a:r>
              <a:rPr lang="de-DE" dirty="0">
                <a:latin typeface="Source Sans Pro"/>
                <a:ea typeface="Source Sans Pro"/>
              </a:rPr>
              <a:t> Pore-C </a:t>
            </a:r>
            <a:r>
              <a:rPr lang="de-DE" err="1">
                <a:latin typeface="Source Sans Pro"/>
                <a:ea typeface="Source Sans Pro"/>
              </a:rPr>
              <a:t>yet</a:t>
            </a:r>
            <a:r>
              <a:rPr lang="de-DE" dirty="0">
                <a:latin typeface="Source Sans Pro"/>
                <a:ea typeface="Source Sans Pro"/>
              </a:rPr>
              <a:t> </a:t>
            </a:r>
            <a:endParaRPr lang="de-DE" dirty="0"/>
          </a:p>
          <a:p>
            <a:r>
              <a:rPr lang="de-DE" dirty="0" err="1">
                <a:latin typeface="Source Sans Pro"/>
                <a:ea typeface="Source Sans Pro"/>
              </a:rPr>
              <a:t>Requires</a:t>
            </a:r>
            <a:r>
              <a:rPr lang="de-DE" dirty="0">
                <a:latin typeface="Source Sans Pro"/>
                <a:ea typeface="Source Sans Pro"/>
              </a:rPr>
              <a:t> a </a:t>
            </a:r>
            <a:r>
              <a:rPr lang="de-DE" dirty="0" err="1">
                <a:latin typeface="Source Sans Pro"/>
                <a:ea typeface="Source Sans Pro"/>
              </a:rPr>
              <a:t>lot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of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memory</a:t>
            </a:r>
            <a:r>
              <a:rPr lang="de-DE" dirty="0">
                <a:latin typeface="Source Sans Pro"/>
                <a:ea typeface="Source Sans Pro"/>
              </a:rPr>
              <a:t> (700Gb), </a:t>
            </a:r>
            <a:r>
              <a:rPr lang="de-DE" dirty="0" err="1">
                <a:latin typeface="Source Sans Pro"/>
                <a:ea typeface="Source Sans Pro"/>
              </a:rPr>
              <a:t>is</a:t>
            </a:r>
            <a:r>
              <a:rPr lang="de-DE" dirty="0">
                <a:latin typeface="Source Sans Pro"/>
                <a:ea typeface="Source Sans Pro"/>
              </a:rPr>
              <a:t> a </a:t>
            </a:r>
            <a:r>
              <a:rPr lang="de-DE" dirty="0" err="1">
                <a:latin typeface="Source Sans Pro"/>
                <a:ea typeface="Source Sans Pro"/>
              </a:rPr>
              <a:t>bit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faster</a:t>
            </a:r>
            <a:r>
              <a:rPr lang="de-DE" dirty="0">
                <a:latin typeface="Source Sans Pro"/>
                <a:ea typeface="Source Sans Pro"/>
              </a:rPr>
              <a:t>. </a:t>
            </a: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B45D89E-6EF7-E195-9028-E0EF2098B5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3252981-B2F5-BD1F-F756-827692769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ource Sans Pro SemiBold"/>
                <a:ea typeface="Source Sans Pro SemiBold"/>
              </a:rPr>
              <a:t>Yes, </a:t>
            </a:r>
            <a:r>
              <a:rPr lang="de-DE" dirty="0" err="1">
                <a:latin typeface="Source Sans Pro SemiBold"/>
                <a:ea typeface="Source Sans Pro SemiBold"/>
              </a:rPr>
              <a:t>we</a:t>
            </a:r>
            <a:r>
              <a:rPr lang="de-DE" dirty="0">
                <a:latin typeface="Source Sans Pro SemiBold"/>
                <a:ea typeface="Source Sans Pro SemiBold"/>
              </a:rPr>
              <a:t> also </a:t>
            </a:r>
            <a:r>
              <a:rPr lang="de-DE" dirty="0" err="1">
                <a:latin typeface="Source Sans Pro SemiBold"/>
                <a:ea typeface="Source Sans Pro SemiBold"/>
              </a:rPr>
              <a:t>tried</a:t>
            </a:r>
            <a:r>
              <a:rPr lang="de-DE" dirty="0">
                <a:latin typeface="Source Sans Pro SemiBold"/>
                <a:ea typeface="Source Sans Pro SemiBold"/>
              </a:rPr>
              <a:t> </a:t>
            </a:r>
            <a:r>
              <a:rPr lang="de-DE" dirty="0" err="1">
                <a:latin typeface="Source Sans Pro SemiBold"/>
                <a:ea typeface="Source Sans Pro SemiBold"/>
              </a:rPr>
              <a:t>the</a:t>
            </a:r>
            <a:r>
              <a:rPr lang="de-DE" dirty="0">
                <a:latin typeface="Source Sans Pro SemiBold"/>
                <a:ea typeface="Source Sans Pro SemiBold"/>
              </a:rPr>
              <a:t> </a:t>
            </a:r>
            <a:r>
              <a:rPr lang="de-DE" dirty="0" err="1">
                <a:latin typeface="Source Sans Pro SemiBold"/>
                <a:ea typeface="Source Sans Pro SemiBold"/>
              </a:rPr>
              <a:t>new</a:t>
            </a:r>
            <a:r>
              <a:rPr lang="de-DE" dirty="0">
                <a:latin typeface="Source Sans Pro SemiBold"/>
                <a:ea typeface="Source Sans Pro SemiBold"/>
              </a:rPr>
              <a:t> </a:t>
            </a:r>
            <a:r>
              <a:rPr lang="de-DE" dirty="0" err="1">
                <a:latin typeface="Source Sans Pro SemiBold"/>
                <a:ea typeface="Source Sans Pro SemiBold"/>
              </a:rPr>
              <a:t>Hifiasm</a:t>
            </a:r>
            <a:r>
              <a:rPr lang="de-DE" dirty="0">
                <a:latin typeface="Source Sans Pro SemiBold"/>
                <a:ea typeface="Source Sans Pro SemiBold"/>
              </a:rPr>
              <a:t>! </a:t>
            </a:r>
            <a:endParaRPr lang="de-DE" dirty="0"/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F86E5F98-5F55-E664-C359-F695EBEB79CD}"/>
              </a:ext>
            </a:extLst>
          </p:cNvPr>
          <p:cNvGraphicFramePr>
            <a:graphicFrameLocks noGrp="1"/>
          </p:cNvGraphicFramePr>
          <p:nvPr/>
        </p:nvGraphicFramePr>
        <p:xfrm>
          <a:off x="574162" y="2639388"/>
          <a:ext cx="10784303" cy="1864995"/>
        </p:xfrm>
        <a:graphic>
          <a:graphicData uri="http://schemas.openxmlformats.org/drawingml/2006/table">
            <a:tbl>
              <a:tblPr/>
              <a:tblGrid>
                <a:gridCol w="1688941">
                  <a:extLst>
                    <a:ext uri="{9D8B030D-6E8A-4147-A177-3AD203B41FA5}">
                      <a16:colId xmlns:a16="http://schemas.microsoft.com/office/drawing/2014/main" val="3204040545"/>
                    </a:ext>
                  </a:extLst>
                </a:gridCol>
                <a:gridCol w="913690">
                  <a:extLst>
                    <a:ext uri="{9D8B030D-6E8A-4147-A177-3AD203B41FA5}">
                      <a16:colId xmlns:a16="http://schemas.microsoft.com/office/drawing/2014/main" val="980114160"/>
                    </a:ext>
                  </a:extLst>
                </a:gridCol>
                <a:gridCol w="571056">
                  <a:extLst>
                    <a:ext uri="{9D8B030D-6E8A-4147-A177-3AD203B41FA5}">
                      <a16:colId xmlns:a16="http://schemas.microsoft.com/office/drawing/2014/main" val="1927814052"/>
                    </a:ext>
                  </a:extLst>
                </a:gridCol>
                <a:gridCol w="571056">
                  <a:extLst>
                    <a:ext uri="{9D8B030D-6E8A-4147-A177-3AD203B41FA5}">
                      <a16:colId xmlns:a16="http://schemas.microsoft.com/office/drawing/2014/main" val="1507270288"/>
                    </a:ext>
                  </a:extLst>
                </a:gridCol>
                <a:gridCol w="1194026">
                  <a:extLst>
                    <a:ext uri="{9D8B030D-6E8A-4147-A177-3AD203B41FA5}">
                      <a16:colId xmlns:a16="http://schemas.microsoft.com/office/drawing/2014/main" val="2721109348"/>
                    </a:ext>
                  </a:extLst>
                </a:gridCol>
                <a:gridCol w="1038283">
                  <a:extLst>
                    <a:ext uri="{9D8B030D-6E8A-4147-A177-3AD203B41FA5}">
                      <a16:colId xmlns:a16="http://schemas.microsoft.com/office/drawing/2014/main" val="712070143"/>
                    </a:ext>
                  </a:extLst>
                </a:gridCol>
                <a:gridCol w="650658">
                  <a:extLst>
                    <a:ext uri="{9D8B030D-6E8A-4147-A177-3AD203B41FA5}">
                      <a16:colId xmlns:a16="http://schemas.microsoft.com/office/drawing/2014/main" val="3088342701"/>
                    </a:ext>
                  </a:extLst>
                </a:gridCol>
                <a:gridCol w="927533">
                  <a:extLst>
                    <a:ext uri="{9D8B030D-6E8A-4147-A177-3AD203B41FA5}">
                      <a16:colId xmlns:a16="http://schemas.microsoft.com/office/drawing/2014/main" val="1237768686"/>
                    </a:ext>
                  </a:extLst>
                </a:gridCol>
                <a:gridCol w="986368">
                  <a:extLst>
                    <a:ext uri="{9D8B030D-6E8A-4147-A177-3AD203B41FA5}">
                      <a16:colId xmlns:a16="http://schemas.microsoft.com/office/drawing/2014/main" val="1390955160"/>
                    </a:ext>
                  </a:extLst>
                </a:gridCol>
                <a:gridCol w="678345">
                  <a:extLst>
                    <a:ext uri="{9D8B030D-6E8A-4147-A177-3AD203B41FA5}">
                      <a16:colId xmlns:a16="http://schemas.microsoft.com/office/drawing/2014/main" val="3741912830"/>
                    </a:ext>
                  </a:extLst>
                </a:gridCol>
                <a:gridCol w="678345">
                  <a:extLst>
                    <a:ext uri="{9D8B030D-6E8A-4147-A177-3AD203B41FA5}">
                      <a16:colId xmlns:a16="http://schemas.microsoft.com/office/drawing/2014/main" val="991314033"/>
                    </a:ext>
                  </a:extLst>
                </a:gridCol>
                <a:gridCol w="886002">
                  <a:extLst>
                    <a:ext uri="{9D8B030D-6E8A-4147-A177-3AD203B41FA5}">
                      <a16:colId xmlns:a16="http://schemas.microsoft.com/office/drawing/2014/main" val="335343276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Assembly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Hap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MMC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MSC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Completeness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Length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n T2T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n Contigs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n Contigs &gt;10mb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QV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n Gaps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Gap length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214396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T2T00_verkko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hap 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0.05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94.62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2.93E+09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44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23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64.2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29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694539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207176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T2T00_verkko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hap 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0.23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0.02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98.39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3.04E+09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73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23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63.5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43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965836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0342449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T2T00_hifiasm_herro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hap 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0.31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0.05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95.39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2.95E+09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67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64.46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22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1346442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9280149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T2T00_hifiasm_herro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hap 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0.05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95.42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3.05E+09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47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32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64.88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43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2250829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24220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T2T00_hifiasm_ont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hap 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0.22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0.02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98.34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3.04E+09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56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24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61.28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1210904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286570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T2T00_hifiasm_ont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hap 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0.17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0.05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94.68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2.93E+09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33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24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62.96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85904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9997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1208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9CCCACAC-6284-E091-17E4-C7F0C904A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1662" y="2206580"/>
            <a:ext cx="6954237" cy="2446384"/>
          </a:xfrm>
        </p:spPr>
        <p:txBody>
          <a:bodyPr lIns="91440" tIns="45720" rIns="91440" bIns="45720" anchor="t"/>
          <a:lstStyle/>
          <a:p>
            <a:r>
              <a:rPr lang="de-DE" dirty="0" err="1">
                <a:latin typeface="Source Sans Pro"/>
                <a:ea typeface="Source Sans Pro"/>
              </a:rPr>
              <a:t>We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used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only</a:t>
            </a:r>
            <a:r>
              <a:rPr lang="de-DE" dirty="0">
                <a:latin typeface="Source Sans Pro"/>
                <a:ea typeface="Source Sans Pro"/>
              </a:rPr>
              <a:t> ONT </a:t>
            </a:r>
            <a:r>
              <a:rPr lang="de-DE" dirty="0" err="1">
                <a:latin typeface="Source Sans Pro"/>
                <a:ea typeface="Source Sans Pro"/>
              </a:rPr>
              <a:t>data</a:t>
            </a:r>
            <a:r>
              <a:rPr lang="de-DE" dirty="0">
                <a:latin typeface="Source Sans Pro"/>
                <a:ea typeface="Source Sans Pro"/>
              </a:rPr>
              <a:t>  </a:t>
            </a:r>
            <a:r>
              <a:rPr lang="de-DE" dirty="0" err="1">
                <a:latin typeface="Source Sans Pro"/>
                <a:ea typeface="Source Sans Pro"/>
              </a:rPr>
              <a:t>to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assemble</a:t>
            </a:r>
            <a:r>
              <a:rPr lang="de-DE" dirty="0">
                <a:latin typeface="Source Sans Pro"/>
                <a:ea typeface="Source Sans Pro"/>
              </a:rPr>
              <a:t> 2 </a:t>
            </a:r>
            <a:r>
              <a:rPr lang="de-DE" dirty="0" err="1">
                <a:latin typeface="Source Sans Pro"/>
                <a:ea typeface="Source Sans Pro"/>
              </a:rPr>
              <a:t>very</a:t>
            </a:r>
            <a:r>
              <a:rPr lang="de-DE" dirty="0">
                <a:latin typeface="Source Sans Pro"/>
                <a:ea typeface="Source Sans Pro"/>
              </a:rPr>
              <a:t> high </a:t>
            </a:r>
            <a:r>
              <a:rPr lang="de-DE" dirty="0" err="1">
                <a:latin typeface="Source Sans Pro"/>
                <a:ea typeface="Source Sans Pro"/>
              </a:rPr>
              <a:t>quality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genomes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containing</a:t>
            </a:r>
            <a:r>
              <a:rPr lang="de-DE" dirty="0">
                <a:latin typeface="Source Sans Pro"/>
                <a:ea typeface="Source Sans Pro"/>
              </a:rPr>
              <a:t> multiple T2T </a:t>
            </a:r>
            <a:r>
              <a:rPr lang="de-DE" dirty="0" err="1">
                <a:latin typeface="Source Sans Pro"/>
                <a:ea typeface="Source Sans Pro"/>
              </a:rPr>
              <a:t>chromosomes</a:t>
            </a:r>
            <a:r>
              <a:rPr lang="de-DE" dirty="0">
                <a:latin typeface="Source Sans Pro"/>
                <a:ea typeface="Source Sans Pro"/>
              </a:rPr>
              <a:t> .</a:t>
            </a:r>
          </a:p>
          <a:p>
            <a:r>
              <a:rPr lang="de-DE" dirty="0">
                <a:latin typeface="Source Sans Pro"/>
                <a:ea typeface="Source Sans Pro"/>
              </a:rPr>
              <a:t>Even a </a:t>
            </a:r>
            <a:r>
              <a:rPr lang="de-DE" dirty="0" err="1">
                <a:latin typeface="Source Sans Pro"/>
                <a:ea typeface="Source Sans Pro"/>
              </a:rPr>
              <a:t>small</a:t>
            </a:r>
            <a:r>
              <a:rPr lang="de-DE" dirty="0">
                <a:latin typeface="Source Sans Pro"/>
                <a:ea typeface="Source Sans Pro"/>
              </a:rPr>
              <a:t> lab </a:t>
            </a:r>
            <a:r>
              <a:rPr lang="de-DE" dirty="0" err="1">
                <a:latin typeface="Source Sans Pro"/>
                <a:ea typeface="Source Sans Pro"/>
              </a:rPr>
              <a:t>can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generate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these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assemblies</a:t>
            </a:r>
            <a:r>
              <a:rPr lang="de-DE" dirty="0">
                <a:latin typeface="Source Sans Pro"/>
                <a:ea typeface="Source Sans Pro"/>
              </a:rPr>
              <a:t> at </a:t>
            </a:r>
            <a:r>
              <a:rPr lang="de-DE" dirty="0" err="1">
                <a:latin typeface="Source Sans Pro"/>
                <a:ea typeface="Source Sans Pro"/>
              </a:rPr>
              <a:t>reasonable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cost</a:t>
            </a:r>
            <a:r>
              <a:rPr lang="de-DE" dirty="0">
                <a:latin typeface="Source Sans Pro"/>
                <a:ea typeface="Source Sans Pro"/>
              </a:rPr>
              <a:t>.</a:t>
            </a:r>
          </a:p>
          <a:p>
            <a:r>
              <a:rPr lang="de-DE" dirty="0" err="1">
                <a:latin typeface="Source Sans Pro"/>
                <a:ea typeface="Source Sans Pro"/>
              </a:rPr>
              <a:t>For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Genomes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of</a:t>
            </a:r>
            <a:r>
              <a:rPr lang="de-DE" dirty="0">
                <a:latin typeface="Source Sans Pro"/>
                <a:ea typeface="Source Sans Pro"/>
              </a:rPr>
              <a:t> Europe </a:t>
            </a:r>
            <a:r>
              <a:rPr lang="de-DE" dirty="0" err="1">
                <a:latin typeface="Source Sans Pro"/>
                <a:ea typeface="Source Sans Pro"/>
              </a:rPr>
              <a:t>we</a:t>
            </a:r>
            <a:r>
              <a:rPr lang="de-DE" dirty="0">
                <a:latin typeface="Source Sans Pro"/>
                <a:ea typeface="Source Sans Pro"/>
              </a:rPr>
              <a:t> will </a:t>
            </a:r>
            <a:r>
              <a:rPr lang="de-DE" dirty="0" err="1">
                <a:latin typeface="Source Sans Pro"/>
                <a:ea typeface="Source Sans Pro"/>
              </a:rPr>
              <a:t>use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the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established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methods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to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assemble</a:t>
            </a:r>
            <a:r>
              <a:rPr lang="de-DE" dirty="0">
                <a:latin typeface="Source Sans Pro"/>
                <a:ea typeface="Source Sans Pro"/>
              </a:rPr>
              <a:t> additional </a:t>
            </a:r>
            <a:r>
              <a:rPr lang="de-DE" dirty="0" err="1">
                <a:latin typeface="Source Sans Pro"/>
                <a:ea typeface="Source Sans Pro"/>
              </a:rPr>
              <a:t>genomes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from</a:t>
            </a:r>
            <a:r>
              <a:rPr lang="de-DE" dirty="0">
                <a:latin typeface="Source Sans Pro"/>
                <a:ea typeface="Source Sans Pro"/>
              </a:rPr>
              <a:t> a </a:t>
            </a:r>
            <a:r>
              <a:rPr lang="de-DE" dirty="0" err="1">
                <a:latin typeface="Source Sans Pro"/>
                <a:ea typeface="Source Sans Pro"/>
              </a:rPr>
              <a:t>wide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ethnic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background</a:t>
            </a:r>
            <a:r>
              <a:rPr lang="de-DE" dirty="0">
                <a:latin typeface="Source Sans Pro"/>
                <a:ea typeface="Source Sans Pro"/>
              </a:rPr>
              <a:t>. Data will </a:t>
            </a:r>
            <a:r>
              <a:rPr lang="de-DE" dirty="0" err="1">
                <a:latin typeface="Source Sans Pro"/>
                <a:ea typeface="Source Sans Pro"/>
              </a:rPr>
              <a:t>be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freely</a:t>
            </a:r>
            <a:r>
              <a:rPr lang="de-DE" dirty="0">
                <a:latin typeface="Source Sans Pro"/>
                <a:ea typeface="Source Sans Pro"/>
              </a:rPr>
              <a:t> </a:t>
            </a:r>
            <a:r>
              <a:rPr lang="de-DE" dirty="0" err="1">
                <a:latin typeface="Source Sans Pro"/>
                <a:ea typeface="Source Sans Pro"/>
              </a:rPr>
              <a:t>available</a:t>
            </a:r>
            <a:r>
              <a:rPr lang="de-DE" dirty="0">
                <a:latin typeface="Source Sans Pro"/>
                <a:ea typeface="Source Sans Pro"/>
              </a:rPr>
              <a:t>.</a:t>
            </a:r>
            <a:endParaRPr lang="de-DE" dirty="0"/>
          </a:p>
          <a:p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35AF48-541A-2885-02C9-76D85F5137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3A36FC0F-0504-9BFA-0789-E9F16DEA7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844" y="0"/>
            <a:ext cx="11397686" cy="1045029"/>
          </a:xfrm>
        </p:spPr>
        <p:txBody>
          <a:bodyPr/>
          <a:lstStyle/>
          <a:p>
            <a:pPr algn="ctr"/>
            <a:r>
              <a:rPr lang="de-DE" err="1">
                <a:latin typeface="Source Sans Pro SemiBold"/>
                <a:ea typeface="Source Sans Pro SemiBold"/>
              </a:rPr>
              <a:t>Conclusion</a:t>
            </a:r>
            <a:endParaRPr lang="de-DE" err="1"/>
          </a:p>
        </p:txBody>
      </p:sp>
    </p:spTree>
    <p:extLst>
      <p:ext uri="{BB962C8B-B14F-4D97-AF65-F5344CB8AC3E}">
        <p14:creationId xmlns:p14="http://schemas.microsoft.com/office/powerpoint/2010/main" val="4581734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7122CE4-E7F9-C5D9-CD6C-9CD88144CA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9798" y="5744093"/>
            <a:ext cx="1943723" cy="179184"/>
          </a:xfrm>
        </p:spPr>
        <p:txBody>
          <a:bodyPr/>
          <a:lstStyle/>
          <a:p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04863F7A-9338-404D-FC60-1C56DF150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29" y="0"/>
            <a:ext cx="11644531" cy="1045029"/>
          </a:xfrm>
        </p:spPr>
        <p:txBody>
          <a:bodyPr/>
          <a:lstStyle/>
          <a:p>
            <a:r>
              <a:rPr lang="de-DE" err="1">
                <a:latin typeface="Source Sans Pro SemiBold"/>
                <a:ea typeface="Source Sans Pro SemiBold"/>
              </a:rPr>
              <a:t>Acknowledgements</a:t>
            </a:r>
            <a:endParaRPr lang="de-DE" err="1"/>
          </a:p>
        </p:txBody>
      </p:sp>
      <p:pic>
        <p:nvPicPr>
          <p:cNvPr id="12" name="image1.png" descr="Header image">
            <a:extLst>
              <a:ext uri="{FF2B5EF4-FFF2-40B4-BE49-F238E27FC236}">
                <a16:creationId xmlns:a16="http://schemas.microsoft.com/office/drawing/2014/main" id="{3127C4AB-E753-741F-DE64-E120C4109D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4551" y="3981449"/>
            <a:ext cx="1982307" cy="519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70646A4A-48EC-E3D9-482B-87F9E490A2FF}"/>
              </a:ext>
            </a:extLst>
          </p:cNvPr>
          <p:cNvGrpSpPr/>
          <p:nvPr/>
        </p:nvGrpSpPr>
        <p:grpSpPr>
          <a:xfrm>
            <a:off x="745174" y="4442660"/>
            <a:ext cx="3099037" cy="918519"/>
            <a:chOff x="615713" y="5698088"/>
            <a:chExt cx="3099037" cy="918519"/>
          </a:xfrm>
        </p:grpSpPr>
        <p:pic>
          <p:nvPicPr>
            <p:cNvPr id="13" name="Picture 2" descr="A person smiling for the camera&#10;&#10;Description automatically generated with low confidence">
              <a:extLst>
                <a:ext uri="{FF2B5EF4-FFF2-40B4-BE49-F238E27FC236}">
                  <a16:creationId xmlns:a16="http://schemas.microsoft.com/office/drawing/2014/main" id="{ABD9BE18-C9A5-B44F-DD4A-A4430AA610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956" b="26767"/>
            <a:stretch/>
          </p:blipFill>
          <p:spPr>
            <a:xfrm rot="10800000" flipV="1">
              <a:off x="615713" y="5698088"/>
              <a:ext cx="847100" cy="918519"/>
            </a:xfrm>
            <a:prstGeom prst="rect">
              <a:avLst/>
            </a:prstGeom>
          </p:spPr>
        </p:pic>
        <p:sp>
          <p:nvSpPr>
            <p:cNvPr id="18" name="Rechteck 59">
              <a:extLst>
                <a:ext uri="{FF2B5EF4-FFF2-40B4-BE49-F238E27FC236}">
                  <a16:creationId xmlns:a16="http://schemas.microsoft.com/office/drawing/2014/main" id="{A01CF705-AD2B-9897-C8D9-47ACE1C259A0}"/>
                </a:ext>
              </a:extLst>
            </p:cNvPr>
            <p:cNvSpPr/>
            <p:nvPr/>
          </p:nvSpPr>
          <p:spPr>
            <a:xfrm>
              <a:off x="1633330" y="5822480"/>
              <a:ext cx="2081420" cy="6697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/>
                <a:t>Elena Buena-Atienza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de-DE" sz="1600">
                  <a:ea typeface="ＭＳ Ｐゴシック" charset="0"/>
                  <a:cs typeface="Calibri"/>
                </a:rPr>
                <a:t>Nanopore Sequencing  </a:t>
              </a:r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CE56508A-5118-784A-F646-0460B717D7E1}"/>
              </a:ext>
            </a:extLst>
          </p:cNvPr>
          <p:cNvGrpSpPr/>
          <p:nvPr/>
        </p:nvGrpSpPr>
        <p:grpSpPr>
          <a:xfrm>
            <a:off x="751189" y="2345542"/>
            <a:ext cx="3377492" cy="913796"/>
            <a:chOff x="666069" y="3314923"/>
            <a:chExt cx="3377492" cy="913796"/>
          </a:xfrm>
        </p:grpSpPr>
        <p:pic>
          <p:nvPicPr>
            <p:cNvPr id="37" name="Picture 5" descr="A person smiling at camera&#10;&#10;AI-generated content may be incorrect.">
              <a:extLst>
                <a:ext uri="{FF2B5EF4-FFF2-40B4-BE49-F238E27FC236}">
                  <a16:creationId xmlns:a16="http://schemas.microsoft.com/office/drawing/2014/main" id="{A2158FAD-D4FC-D5A7-DAED-2E1D60E8A3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6069" y="3314923"/>
              <a:ext cx="913796" cy="913796"/>
            </a:xfrm>
            <a:prstGeom prst="rect">
              <a:avLst/>
            </a:prstGeom>
          </p:spPr>
        </p:pic>
        <p:sp>
          <p:nvSpPr>
            <p:cNvPr id="38" name="Rechteck 59">
              <a:extLst>
                <a:ext uri="{FF2B5EF4-FFF2-40B4-BE49-F238E27FC236}">
                  <a16:creationId xmlns:a16="http://schemas.microsoft.com/office/drawing/2014/main" id="{4555FA31-E20A-E133-D518-5A6A27C9B154}"/>
                </a:ext>
              </a:extLst>
            </p:cNvPr>
            <p:cNvSpPr/>
            <p:nvPr/>
          </p:nvSpPr>
          <p:spPr>
            <a:xfrm>
              <a:off x="1631271" y="3367122"/>
              <a:ext cx="2412290" cy="707886"/>
            </a:xfrm>
            <a:prstGeom prst="rect">
              <a:avLst/>
            </a:prstGeom>
          </p:spPr>
          <p:txBody>
            <a:bodyPr wrap="square" lIns="91440" tIns="45720" rIns="91440" bIns="45720" anchor="t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de-DE" sz="1600" b="1" err="1">
                  <a:ea typeface="ＭＳ Ｐゴシック" charset="0"/>
                  <a:cs typeface="Calibri"/>
                </a:rPr>
                <a:t>Ramya</a:t>
              </a:r>
              <a:r>
                <a:rPr lang="de-DE" sz="1600" b="1">
                  <a:ea typeface="ＭＳ Ｐゴシック" charset="0"/>
                  <a:cs typeface="Calibri"/>
                </a:rPr>
                <a:t> </a:t>
              </a:r>
              <a:r>
                <a:rPr lang="de-DE" sz="1600" b="1" err="1">
                  <a:ea typeface="ＭＳ Ｐゴシック" charset="0"/>
                  <a:cs typeface="Calibri"/>
                </a:rPr>
                <a:t>Potabattula</a:t>
              </a:r>
              <a:endParaRPr lang="de-DE" sz="1600" b="1">
                <a:ea typeface="ＭＳ Ｐゴシック" charset="0"/>
                <a:cs typeface="Calibri"/>
              </a:endParaRPr>
            </a:p>
            <a:p>
              <a:pPr>
                <a:defRPr/>
              </a:pPr>
              <a:r>
                <a:rPr lang="de-DE" sz="1600">
                  <a:ea typeface="ＭＳ Ｐゴシック"/>
                  <a:cs typeface="Calibri"/>
                </a:rPr>
                <a:t>Ultra Long Reads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9911E721-BB6F-421D-782F-F2471186BE27}"/>
              </a:ext>
            </a:extLst>
          </p:cNvPr>
          <p:cNvGrpSpPr/>
          <p:nvPr/>
        </p:nvGrpSpPr>
        <p:grpSpPr>
          <a:xfrm>
            <a:off x="745174" y="3406626"/>
            <a:ext cx="3383507" cy="930643"/>
            <a:chOff x="666069" y="4498082"/>
            <a:chExt cx="3383507" cy="930643"/>
          </a:xfrm>
        </p:grpSpPr>
        <p:pic>
          <p:nvPicPr>
            <p:cNvPr id="39" name="Picture 27" descr="A person wearing glasses and a blue jacket&#10;&#10;AI-generated content may be incorrect.">
              <a:extLst>
                <a:ext uri="{FF2B5EF4-FFF2-40B4-BE49-F238E27FC236}">
                  <a16:creationId xmlns:a16="http://schemas.microsoft.com/office/drawing/2014/main" id="{3CC483FC-E530-E9FF-F159-41ACBD414CD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66069" y="4498082"/>
              <a:ext cx="930643" cy="930643"/>
            </a:xfrm>
            <a:prstGeom prst="rect">
              <a:avLst/>
            </a:prstGeom>
          </p:spPr>
        </p:pic>
        <p:sp>
          <p:nvSpPr>
            <p:cNvPr id="40" name="Rechteck 59">
              <a:extLst>
                <a:ext uri="{FF2B5EF4-FFF2-40B4-BE49-F238E27FC236}">
                  <a16:creationId xmlns:a16="http://schemas.microsoft.com/office/drawing/2014/main" id="{2DEFA088-1D5B-DBA6-83F9-2FB7FBE3E603}"/>
                </a:ext>
              </a:extLst>
            </p:cNvPr>
            <p:cNvSpPr/>
            <p:nvPr/>
          </p:nvSpPr>
          <p:spPr>
            <a:xfrm>
              <a:off x="1637286" y="4583907"/>
              <a:ext cx="241229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de-DE" sz="1600" b="1" err="1">
                  <a:ea typeface="ＭＳ Ｐゴシック" charset="0"/>
                  <a:cs typeface="Calibri"/>
                </a:rPr>
                <a:t>Fubo</a:t>
              </a:r>
              <a:r>
                <a:rPr lang="de-DE" sz="1600" b="1">
                  <a:ea typeface="ＭＳ Ｐゴシック" charset="0"/>
                  <a:cs typeface="Calibri"/>
                </a:rPr>
                <a:t> Cheng</a:t>
              </a:r>
            </a:p>
            <a:p>
              <a:pPr>
                <a:defRPr/>
              </a:pPr>
              <a:r>
                <a:rPr lang="de-DE" sz="1600">
                  <a:ea typeface="ＭＳ Ｐゴシック" charset="0"/>
                  <a:cs typeface="Calibri"/>
                </a:rPr>
                <a:t>Pore-C</a:t>
              </a: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5D0C6F64-6F20-ED41-2866-6DDE13B105C3}"/>
              </a:ext>
            </a:extLst>
          </p:cNvPr>
          <p:cNvGrpSpPr/>
          <p:nvPr/>
        </p:nvGrpSpPr>
        <p:grpSpPr>
          <a:xfrm>
            <a:off x="4372649" y="3582187"/>
            <a:ext cx="3409777" cy="918518"/>
            <a:chOff x="4161655" y="5666221"/>
            <a:chExt cx="3409777" cy="918518"/>
          </a:xfrm>
        </p:grpSpPr>
        <p:pic>
          <p:nvPicPr>
            <p:cNvPr id="43" name="Picture 37" descr="A person standing in front of a door&#10;&#10;AI-generated content may be incorrect.">
              <a:extLst>
                <a:ext uri="{FF2B5EF4-FFF2-40B4-BE49-F238E27FC236}">
                  <a16:creationId xmlns:a16="http://schemas.microsoft.com/office/drawing/2014/main" id="{D256DECD-4E37-9E55-0EE7-2AF01D2BF77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61655" y="5666221"/>
              <a:ext cx="918518" cy="918518"/>
            </a:xfrm>
            <a:prstGeom prst="rect">
              <a:avLst/>
            </a:prstGeom>
          </p:spPr>
        </p:pic>
        <p:sp>
          <p:nvSpPr>
            <p:cNvPr id="44" name="Rechteck 59">
              <a:extLst>
                <a:ext uri="{FF2B5EF4-FFF2-40B4-BE49-F238E27FC236}">
                  <a16:creationId xmlns:a16="http://schemas.microsoft.com/office/drawing/2014/main" id="{8979FF90-4A1F-1BEF-06C2-2894A6A2DDD8}"/>
                </a:ext>
              </a:extLst>
            </p:cNvPr>
            <p:cNvSpPr/>
            <p:nvPr/>
          </p:nvSpPr>
          <p:spPr>
            <a:xfrm>
              <a:off x="5159142" y="5698202"/>
              <a:ext cx="241229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de-DE" sz="1600" b="1" err="1">
                  <a:ea typeface="ＭＳ Ｐゴシック" charset="0"/>
                  <a:cs typeface="Calibri"/>
                </a:rPr>
                <a:t>Prithivi</a:t>
              </a:r>
              <a:r>
                <a:rPr lang="de-DE" sz="1600" b="1">
                  <a:ea typeface="ＭＳ Ｐゴシック" charset="0"/>
                  <a:cs typeface="Calibri"/>
                </a:rPr>
                <a:t> Jung Thapa</a:t>
              </a:r>
            </a:p>
            <a:p>
              <a:pPr>
                <a:defRPr/>
              </a:pPr>
              <a:r>
                <a:rPr lang="de-DE" sz="1600" err="1">
                  <a:ea typeface="ＭＳ Ｐゴシック" charset="0"/>
                  <a:cs typeface="Calibri"/>
                </a:rPr>
                <a:t>Bioinformatics</a:t>
              </a:r>
              <a:endParaRPr lang="de-DE" sz="1600">
                <a:ea typeface="ＭＳ Ｐゴシック" charset="0"/>
                <a:cs typeface="Calibri"/>
              </a:endParaRPr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6F5697EE-8C3F-420E-1C3B-BF0699C132DE}"/>
              </a:ext>
            </a:extLst>
          </p:cNvPr>
          <p:cNvGrpSpPr/>
          <p:nvPr/>
        </p:nvGrpSpPr>
        <p:grpSpPr>
          <a:xfrm>
            <a:off x="7537524" y="1675324"/>
            <a:ext cx="4459751" cy="1349896"/>
            <a:chOff x="6789274" y="1308045"/>
            <a:chExt cx="4459751" cy="134989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73B91614-84B0-77B8-4D58-30244BF48314}"/>
                </a:ext>
              </a:extLst>
            </p:cNvPr>
            <p:cNvSpPr/>
            <p:nvPr/>
          </p:nvSpPr>
          <p:spPr>
            <a:xfrm>
              <a:off x="6789274" y="1308045"/>
              <a:ext cx="4459751" cy="134766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82FA5AA6-B65C-FDD8-30B5-E8AA1B4489A5}"/>
                </a:ext>
              </a:extLst>
            </p:cNvPr>
            <p:cNvGrpSpPr/>
            <p:nvPr/>
          </p:nvGrpSpPr>
          <p:grpSpPr>
            <a:xfrm>
              <a:off x="6863663" y="1375734"/>
              <a:ext cx="4275855" cy="1282207"/>
              <a:chOff x="5745009" y="2073928"/>
              <a:chExt cx="4275855" cy="1282207"/>
            </a:xfrm>
          </p:grpSpPr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A3470B06-AC0C-EB4B-66DB-EA3BB2FBB1FF}"/>
                  </a:ext>
                </a:extLst>
              </p:cNvPr>
              <p:cNvSpPr txBox="1"/>
              <p:nvPr/>
            </p:nvSpPr>
            <p:spPr>
              <a:xfrm>
                <a:off x="7100462" y="2081432"/>
                <a:ext cx="1414462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b="1"/>
                  <a:t>Download:</a:t>
                </a:r>
                <a:br>
                  <a:rPr lang="de-DE"/>
                </a:br>
                <a:r>
                  <a:rPr lang="de-DE"/>
                  <a:t>- Raw </a:t>
                </a:r>
                <a:r>
                  <a:rPr lang="de-DE" err="1"/>
                  <a:t>data</a:t>
                </a:r>
                <a:br>
                  <a:rPr lang="de-DE"/>
                </a:br>
                <a:r>
                  <a:rPr lang="de-DE"/>
                  <a:t>- </a:t>
                </a:r>
                <a:r>
                  <a:rPr lang="de-DE" err="1"/>
                  <a:t>Assemblies</a:t>
                </a:r>
                <a:endParaRPr lang="de-DE"/>
              </a:p>
            </p:txBody>
          </p:sp>
          <p:pic>
            <p:nvPicPr>
              <p:cNvPr id="8" name="Grafik 7">
                <a:extLst>
                  <a:ext uri="{FF2B5EF4-FFF2-40B4-BE49-F238E27FC236}">
                    <a16:creationId xmlns:a16="http://schemas.microsoft.com/office/drawing/2014/main" id="{38815E2D-B1D9-6D90-C28F-92E579BFB5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45009" y="2073928"/>
                <a:ext cx="942975" cy="942975"/>
              </a:xfrm>
              <a:prstGeom prst="rect">
                <a:avLst/>
              </a:prstGeom>
            </p:spPr>
          </p:pic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DFEB38B9-E81A-DD61-ACD0-FB78B623708D}"/>
                  </a:ext>
                </a:extLst>
              </p:cNvPr>
              <p:cNvSpPr txBox="1"/>
              <p:nvPr/>
            </p:nvSpPr>
            <p:spPr>
              <a:xfrm>
                <a:off x="5745009" y="3048358"/>
                <a:ext cx="427585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1400">
                    <a:latin typeface="Fira Code" pitchFamily="1" charset="0"/>
                    <a:ea typeface="Fira Code" pitchFamily="1" charset="0"/>
                    <a:cs typeface="Fira Code" pitchFamily="1" charset="0"/>
                  </a:rPr>
                  <a:t>https://www.elrin-network.eu/t2t.html</a:t>
                </a:r>
              </a:p>
            </p:txBody>
          </p:sp>
          <p:pic>
            <p:nvPicPr>
              <p:cNvPr id="47" name="Picture 18" descr="A logo with blue dots and dots&#10;&#10;AI-generated content may be incorrect.">
                <a:extLst>
                  <a:ext uri="{FF2B5EF4-FFF2-40B4-BE49-F238E27FC236}">
                    <a16:creationId xmlns:a16="http://schemas.microsoft.com/office/drawing/2014/main" id="{E3119D89-B6CC-C456-4497-CBB1DD0164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rcRect l="7897" t="9884" r="10232" b="14016"/>
              <a:stretch/>
            </p:blipFill>
            <p:spPr>
              <a:xfrm>
                <a:off x="8879777" y="2244271"/>
                <a:ext cx="1066698" cy="613638"/>
              </a:xfrm>
              <a:prstGeom prst="rect">
                <a:avLst/>
              </a:prstGeom>
            </p:spPr>
          </p:pic>
        </p:grpSp>
      </p:grpSp>
      <p:pic>
        <p:nvPicPr>
          <p:cNvPr id="5" name="Grafik 4">
            <a:extLst>
              <a:ext uri="{FF2B5EF4-FFF2-40B4-BE49-F238E27FC236}">
                <a16:creationId xmlns:a16="http://schemas.microsoft.com/office/drawing/2014/main" id="{7BDCAF6A-5D31-4352-B5EE-A165C6D81F2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0874" y="3581457"/>
            <a:ext cx="1634552" cy="1155550"/>
          </a:xfrm>
          <a:prstGeom prst="rect">
            <a:avLst/>
          </a:prstGeom>
        </p:spPr>
      </p:pic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25357789-58C9-2582-1A23-4D1C46FC2BE2}"/>
              </a:ext>
            </a:extLst>
          </p:cNvPr>
          <p:cNvGrpSpPr/>
          <p:nvPr/>
        </p:nvGrpSpPr>
        <p:grpSpPr>
          <a:xfrm>
            <a:off x="4372649" y="2409410"/>
            <a:ext cx="4321506" cy="911163"/>
            <a:chOff x="4097282" y="3314923"/>
            <a:chExt cx="4321506" cy="911163"/>
          </a:xfrm>
        </p:grpSpPr>
        <p:sp>
          <p:nvSpPr>
            <p:cNvPr id="20" name="Rechteck 59">
              <a:extLst>
                <a:ext uri="{FF2B5EF4-FFF2-40B4-BE49-F238E27FC236}">
                  <a16:creationId xmlns:a16="http://schemas.microsoft.com/office/drawing/2014/main" id="{66755A39-1CCD-AF2B-87B9-C72730CC4D2D}"/>
                </a:ext>
              </a:extLst>
            </p:cNvPr>
            <p:cNvSpPr/>
            <p:nvPr/>
          </p:nvSpPr>
          <p:spPr>
            <a:xfrm>
              <a:off x="5011078" y="3404590"/>
              <a:ext cx="3407710" cy="6697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/>
                <a:t>Beate Kristmann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de-DE" sz="1600">
                  <a:ea typeface="ＭＳ Ｐゴシック" charset="0"/>
                  <a:cs typeface="Calibri"/>
                </a:rPr>
                <a:t>Project Management</a:t>
              </a:r>
            </a:p>
          </p:txBody>
        </p:sp>
        <p:pic>
          <p:nvPicPr>
            <p:cNvPr id="22" name="Grafik 21">
              <a:extLst>
                <a:ext uri="{FF2B5EF4-FFF2-40B4-BE49-F238E27FC236}">
                  <a16:creationId xmlns:a16="http://schemas.microsoft.com/office/drawing/2014/main" id="{1DB94304-FC2A-FF69-4C55-DE06B753EF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097282" y="3314923"/>
              <a:ext cx="913796" cy="911163"/>
            </a:xfrm>
            <a:prstGeom prst="rect">
              <a:avLst/>
            </a:prstGeom>
          </p:spPr>
        </p:pic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4CE5B752-06E2-E706-6D71-18230A7CE9EE}"/>
              </a:ext>
            </a:extLst>
          </p:cNvPr>
          <p:cNvGrpSpPr/>
          <p:nvPr/>
        </p:nvGrpSpPr>
        <p:grpSpPr>
          <a:xfrm>
            <a:off x="745174" y="5439077"/>
            <a:ext cx="4341133" cy="913796"/>
            <a:chOff x="2403762" y="2115350"/>
            <a:chExt cx="4341133" cy="913796"/>
          </a:xfrm>
        </p:grpSpPr>
        <p:sp>
          <p:nvSpPr>
            <p:cNvPr id="17" name="Rechteck 59">
              <a:extLst>
                <a:ext uri="{FF2B5EF4-FFF2-40B4-BE49-F238E27FC236}">
                  <a16:creationId xmlns:a16="http://schemas.microsoft.com/office/drawing/2014/main" id="{C0DBDA3F-4B95-00C7-3F24-C344447B03CC}"/>
                </a:ext>
              </a:extLst>
            </p:cNvPr>
            <p:cNvSpPr/>
            <p:nvPr/>
          </p:nvSpPr>
          <p:spPr>
            <a:xfrm>
              <a:off x="3337185" y="2237381"/>
              <a:ext cx="3407710" cy="6697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/>
                <a:t>Nicolas Casadei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de-DE" sz="1600">
                  <a:ea typeface="ＭＳ Ｐゴシック" charset="0"/>
                  <a:cs typeface="Calibri"/>
                </a:rPr>
                <a:t>NCCT, Core </a:t>
              </a:r>
              <a:r>
                <a:rPr lang="de-DE" sz="1600" err="1">
                  <a:ea typeface="ＭＳ Ｐゴシック" charset="0"/>
                  <a:cs typeface="Calibri"/>
                </a:rPr>
                <a:t>facility</a:t>
              </a:r>
              <a:endParaRPr lang="de-DE" sz="1600">
                <a:ea typeface="ＭＳ Ｐゴシック" charset="0"/>
                <a:cs typeface="Calibri"/>
              </a:endParaRPr>
            </a:p>
          </p:txBody>
        </p:sp>
        <p:pic>
          <p:nvPicPr>
            <p:cNvPr id="29" name="Grafik 28">
              <a:extLst>
                <a:ext uri="{FF2B5EF4-FFF2-40B4-BE49-F238E27FC236}">
                  <a16:creationId xmlns:a16="http://schemas.microsoft.com/office/drawing/2014/main" id="{260538CE-AB0E-E6F1-3568-1268C8E829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754"/>
            <a:stretch/>
          </p:blipFill>
          <p:spPr>
            <a:xfrm>
              <a:off x="2403762" y="2115350"/>
              <a:ext cx="933423" cy="913796"/>
            </a:xfrm>
            <a:prstGeom prst="rect">
              <a:avLst/>
            </a:prstGeom>
          </p:spPr>
        </p:pic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075A89D1-9AC6-BBEC-D56B-FB23E352BD82}"/>
              </a:ext>
            </a:extLst>
          </p:cNvPr>
          <p:cNvGrpSpPr/>
          <p:nvPr/>
        </p:nvGrpSpPr>
        <p:grpSpPr>
          <a:xfrm>
            <a:off x="751189" y="1294426"/>
            <a:ext cx="2798847" cy="878572"/>
            <a:chOff x="611103" y="2344349"/>
            <a:chExt cx="2798847" cy="878572"/>
          </a:xfrm>
        </p:grpSpPr>
        <p:sp>
          <p:nvSpPr>
            <p:cNvPr id="15" name="Rechteck 59">
              <a:extLst>
                <a:ext uri="{FF2B5EF4-FFF2-40B4-BE49-F238E27FC236}">
                  <a16:creationId xmlns:a16="http://schemas.microsoft.com/office/drawing/2014/main" id="{7A8FAE58-CA2E-9B39-52FA-F43E263F074C}"/>
                </a:ext>
              </a:extLst>
            </p:cNvPr>
            <p:cNvSpPr/>
            <p:nvPr/>
          </p:nvSpPr>
          <p:spPr>
            <a:xfrm>
              <a:off x="1582893" y="2461251"/>
              <a:ext cx="1827057" cy="6697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/>
                <a:t>Olaf </a:t>
              </a:r>
              <a:r>
                <a:rPr lang="en-US" sz="1600" b="1" err="1"/>
                <a:t>Riess</a:t>
              </a:r>
              <a:endParaRPr lang="en-US" sz="1600" b="1"/>
            </a:p>
            <a:p>
              <a:pPr>
                <a:lnSpc>
                  <a:spcPct val="150000"/>
                </a:lnSpc>
                <a:defRPr/>
              </a:pPr>
              <a:r>
                <a:rPr lang="de-DE" sz="1600">
                  <a:ea typeface="ＭＳ Ｐゴシック" charset="0"/>
                  <a:cs typeface="Calibri"/>
                </a:rPr>
                <a:t>Project Lead  </a:t>
              </a:r>
            </a:p>
          </p:txBody>
        </p:sp>
        <p:pic>
          <p:nvPicPr>
            <p:cNvPr id="35" name="Grafik 34">
              <a:extLst>
                <a:ext uri="{FF2B5EF4-FFF2-40B4-BE49-F238E27FC236}">
                  <a16:creationId xmlns:a16="http://schemas.microsoft.com/office/drawing/2014/main" id="{D0257034-4AA4-6822-7A63-6BFD399EC2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11103" y="2344349"/>
              <a:ext cx="924421" cy="878572"/>
            </a:xfrm>
            <a:prstGeom prst="rect">
              <a:avLst/>
            </a:prstGeom>
          </p:spPr>
        </p:pic>
      </p:grpSp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8DF56A15-BBA3-0C72-4B4D-FAF82964C064}"/>
              </a:ext>
            </a:extLst>
          </p:cNvPr>
          <p:cNvGrpSpPr/>
          <p:nvPr/>
        </p:nvGrpSpPr>
        <p:grpSpPr>
          <a:xfrm>
            <a:off x="4325977" y="1275222"/>
            <a:ext cx="3184809" cy="927487"/>
            <a:chOff x="3530316" y="2447030"/>
            <a:chExt cx="3184809" cy="927487"/>
          </a:xfrm>
        </p:grpSpPr>
        <p:sp>
          <p:nvSpPr>
            <p:cNvPr id="16" name="Rechteck 59">
              <a:extLst>
                <a:ext uri="{FF2B5EF4-FFF2-40B4-BE49-F238E27FC236}">
                  <a16:creationId xmlns:a16="http://schemas.microsoft.com/office/drawing/2014/main" id="{0A8C831C-49CD-3DF7-3A06-AF6FE28E9374}"/>
                </a:ext>
              </a:extLst>
            </p:cNvPr>
            <p:cNvSpPr/>
            <p:nvPr/>
          </p:nvSpPr>
          <p:spPr>
            <a:xfrm>
              <a:off x="4549310" y="2586000"/>
              <a:ext cx="2165815" cy="6697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/>
                <a:t>Stephan Ossowski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de-DE" sz="1600">
                  <a:ea typeface="ＭＳ Ｐゴシック" charset="0"/>
                  <a:cs typeface="Calibri"/>
                </a:rPr>
                <a:t>Head </a:t>
              </a:r>
              <a:r>
                <a:rPr lang="de-DE" sz="1600" err="1">
                  <a:ea typeface="ＭＳ Ｐゴシック" charset="0"/>
                  <a:cs typeface="Calibri"/>
                </a:rPr>
                <a:t>of</a:t>
              </a:r>
              <a:r>
                <a:rPr lang="de-DE" sz="1600">
                  <a:ea typeface="ＭＳ Ｐゴシック" charset="0"/>
                  <a:cs typeface="Calibri"/>
                </a:rPr>
                <a:t> </a:t>
              </a:r>
              <a:r>
                <a:rPr lang="de-DE" sz="1600" err="1">
                  <a:ea typeface="ＭＳ Ｐゴシック" charset="0"/>
                  <a:cs typeface="Calibri"/>
                </a:rPr>
                <a:t>Bioinformatics</a:t>
              </a:r>
              <a:endParaRPr lang="de-DE" sz="1600">
                <a:ea typeface="ＭＳ Ｐゴシック" charset="0"/>
                <a:cs typeface="Calibri"/>
              </a:endParaRPr>
            </a:p>
          </p:txBody>
        </p:sp>
        <p:pic>
          <p:nvPicPr>
            <p:cNvPr id="42" name="Grafik 41">
              <a:extLst>
                <a:ext uri="{FF2B5EF4-FFF2-40B4-BE49-F238E27FC236}">
                  <a16:creationId xmlns:a16="http://schemas.microsoft.com/office/drawing/2014/main" id="{B56CEF2A-F153-7AE9-6D7D-C5F365B575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530316" y="2447030"/>
              <a:ext cx="981799" cy="927487"/>
            </a:xfrm>
            <a:prstGeom prst="rect">
              <a:avLst/>
            </a:prstGeom>
          </p:spPr>
        </p:pic>
      </p:grpSp>
      <p:sp>
        <p:nvSpPr>
          <p:cNvPr id="49" name="Rechteck 59">
            <a:extLst>
              <a:ext uri="{FF2B5EF4-FFF2-40B4-BE49-F238E27FC236}">
                <a16:creationId xmlns:a16="http://schemas.microsoft.com/office/drawing/2014/main" id="{E671F11C-112A-7FBE-86CB-D7F3990E0226}"/>
              </a:ext>
            </a:extLst>
          </p:cNvPr>
          <p:cNvSpPr/>
          <p:nvPr/>
        </p:nvSpPr>
        <p:spPr>
          <a:xfrm>
            <a:off x="4272858" y="4579565"/>
            <a:ext cx="2303423" cy="6690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/>
              <a:t>Hanna Sophie Hartung</a:t>
            </a:r>
          </a:p>
          <a:p>
            <a:pPr>
              <a:lnSpc>
                <a:spcPct val="150000"/>
              </a:lnSpc>
              <a:defRPr/>
            </a:pPr>
            <a:r>
              <a:rPr lang="de-DE" sz="1600">
                <a:ea typeface="ＭＳ Ｐゴシック" charset="0"/>
                <a:cs typeface="Calibri"/>
              </a:rPr>
              <a:t>Nanopore Sequencing  </a:t>
            </a:r>
          </a:p>
        </p:txBody>
      </p:sp>
      <p:sp>
        <p:nvSpPr>
          <p:cNvPr id="2" name="Rechteck 59">
            <a:extLst>
              <a:ext uri="{FF2B5EF4-FFF2-40B4-BE49-F238E27FC236}">
                <a16:creationId xmlns:a16="http://schemas.microsoft.com/office/drawing/2014/main" id="{A0599E9F-EA15-3BA3-EA0E-BE19EBBBE8B9}"/>
              </a:ext>
            </a:extLst>
          </p:cNvPr>
          <p:cNvSpPr/>
          <p:nvPr/>
        </p:nvSpPr>
        <p:spPr>
          <a:xfrm>
            <a:off x="4272857" y="5496345"/>
            <a:ext cx="2303423" cy="66902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 b="1"/>
              <a:t>Alex DiGenova</a:t>
            </a:r>
            <a:endParaRPr lang="de-DE"/>
          </a:p>
          <a:p>
            <a:pPr>
              <a:lnSpc>
                <a:spcPct val="150000"/>
              </a:lnSpc>
              <a:defRPr/>
            </a:pPr>
            <a:r>
              <a:rPr lang="de-DE" sz="1600">
                <a:ea typeface="ＭＳ Ｐゴシック"/>
                <a:cs typeface="Calibri"/>
              </a:rPr>
              <a:t>Assembly </a:t>
            </a:r>
            <a:r>
              <a:rPr lang="de-DE" sz="1600" err="1">
                <a:ea typeface="ＭＳ Ｐゴシック"/>
                <a:cs typeface="Calibri"/>
              </a:rPr>
              <a:t>tools</a:t>
            </a:r>
            <a:r>
              <a:rPr lang="de-DE" sz="1600">
                <a:ea typeface="ＭＳ Ｐゴシック"/>
                <a:cs typeface="Calibri"/>
              </a:rPr>
              <a:t>  </a:t>
            </a:r>
          </a:p>
        </p:txBody>
      </p:sp>
      <p:pic>
        <p:nvPicPr>
          <p:cNvPr id="21" name="Grafik 20" descr="Ein Bild, das Schrift, Text, Silhouette enthält.&#10;&#10;KI-generierte Inhalte können fehlerhaft sein.">
            <a:extLst>
              <a:ext uri="{FF2B5EF4-FFF2-40B4-BE49-F238E27FC236}">
                <a16:creationId xmlns:a16="http://schemas.microsoft.com/office/drawing/2014/main" id="{4C47F68E-EA0F-D316-6C20-6CB6EC058FD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28476" y="5357369"/>
            <a:ext cx="3467833" cy="735624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30A0439F-F2A2-9B10-6ADF-74A30918C903}"/>
              </a:ext>
            </a:extLst>
          </p:cNvPr>
          <p:cNvSpPr txBox="1"/>
          <p:nvPr/>
        </p:nvSpPr>
        <p:spPr>
          <a:xfrm>
            <a:off x="8030633" y="4988983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>
                <a:ea typeface="Source Sans Pro"/>
              </a:rPr>
              <a:t>Funding </a:t>
            </a:r>
            <a:r>
              <a:rPr lang="de-DE" err="1">
                <a:ea typeface="Source Sans Pro"/>
              </a:rPr>
              <a:t>by</a:t>
            </a:r>
            <a:r>
              <a:rPr lang="de-DE">
                <a:ea typeface="Source Sans Pro"/>
              </a:rPr>
              <a:t>: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67112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">
  <a:themeElements>
    <a:clrScheme name="Benutzerdefiniert 2">
      <a:dk1>
        <a:srgbClr val="3C3C41"/>
      </a:dk1>
      <a:lt1>
        <a:srgbClr val="FFFFFF"/>
      </a:lt1>
      <a:dk2>
        <a:srgbClr val="454B6A"/>
      </a:dk2>
      <a:lt2>
        <a:srgbClr val="BAA874"/>
      </a:lt2>
      <a:accent1>
        <a:srgbClr val="66ABB7"/>
      </a:accent1>
      <a:accent2>
        <a:srgbClr val="F1E790"/>
      </a:accent2>
      <a:accent3>
        <a:srgbClr val="D1CCC3"/>
      </a:accent3>
      <a:accent4>
        <a:srgbClr val="D6E2DE"/>
      </a:accent4>
      <a:accent5>
        <a:srgbClr val="F7F4F1"/>
      </a:accent5>
      <a:accent6>
        <a:srgbClr val="C00D47"/>
      </a:accent6>
      <a:hlink>
        <a:srgbClr val="5C6477"/>
      </a:hlink>
      <a:folHlink>
        <a:srgbClr val="747D93"/>
      </a:folHlink>
    </a:clrScheme>
    <a:fontScheme name="Source Sans">
      <a:majorFont>
        <a:latin typeface="Source Sans Pro SemiBold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template_caspar.potx" id="{C1624CCA-4FB1-4834-9BA6-B924C02D51A6}" vid="{30C0F2FE-292A-49C9-AFF1-DD037B8C2E6E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presentation_template_caspar</Template>
  <TotalTime>0</TotalTime>
  <Words>1205</Words>
  <Application>Microsoft Office PowerPoint</Application>
  <PresentationFormat>Breitbild</PresentationFormat>
  <Paragraphs>329</Paragraphs>
  <Slides>24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24</vt:i4>
      </vt:variant>
    </vt:vector>
  </HeadingPairs>
  <TitlesOfParts>
    <vt:vector size="36" baseType="lpstr">
      <vt:lpstr>ＭＳ Ｐゴシック</vt:lpstr>
      <vt:lpstr>Arial</vt:lpstr>
      <vt:lpstr>Bahnschrift SemiBold</vt:lpstr>
      <vt:lpstr>Calibri</vt:lpstr>
      <vt:lpstr>Courier New</vt:lpstr>
      <vt:lpstr>Fira Code</vt:lpstr>
      <vt:lpstr>Fira Mono</vt:lpstr>
      <vt:lpstr>Segoe WPC</vt:lpstr>
      <vt:lpstr>Source Sans Pro</vt:lpstr>
      <vt:lpstr>Source Sans Pro Black</vt:lpstr>
      <vt:lpstr>Source Sans Pro SemiBold</vt:lpstr>
      <vt:lpstr>Office</vt:lpstr>
      <vt:lpstr>PowerPoint-Präsentation</vt:lpstr>
      <vt:lpstr>T2T Assemblies as part of Genomes of Europe</vt:lpstr>
      <vt:lpstr>Different flavours of ONT sequencing data</vt:lpstr>
      <vt:lpstr>HQ Data generated from ONT reads </vt:lpstr>
      <vt:lpstr>Ultralong ONT Sequencing</vt:lpstr>
      <vt:lpstr>Pore-C  sequencing</vt:lpstr>
      <vt:lpstr>APK sequencing</vt:lpstr>
      <vt:lpstr>Analysis pipeline</vt:lpstr>
      <vt:lpstr>Read QC</vt:lpstr>
      <vt:lpstr>Assembly graph visualisation</vt:lpstr>
      <vt:lpstr>Assembly graph visualisation: Phased</vt:lpstr>
      <vt:lpstr>Assembly QC</vt:lpstr>
      <vt:lpstr>Base Accuracy</vt:lpstr>
      <vt:lpstr>Repeatmasker analysis of assembled genomes</vt:lpstr>
      <vt:lpstr>PowerPoint-Präsentation</vt:lpstr>
      <vt:lpstr>Real T2T chromosomes</vt:lpstr>
      <vt:lpstr>Possible misassemblies?  </vt:lpstr>
      <vt:lpstr>PoreC Phasing</vt:lpstr>
      <vt:lpstr>Known imprinted region IGF2-H19</vt:lpstr>
      <vt:lpstr>Known imprinted region IGF2-H19</vt:lpstr>
      <vt:lpstr>Centromere plot</vt:lpstr>
      <vt:lpstr>Yes, we also tried the new Hifiasm! </vt:lpstr>
      <vt:lpstr>Conclusion</vt:lpstr>
      <vt:lpstr>Acknowledgements</vt:lpstr>
    </vt:vector>
  </TitlesOfParts>
  <Company>Universitaetsklinikum Tuebingen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Caspar Groß</dc:creator>
  <cp:lastModifiedBy>Caspar Groß</cp:lastModifiedBy>
  <cp:revision>632</cp:revision>
  <dcterms:created xsi:type="dcterms:W3CDTF">2025-05-12T07:42:13Z</dcterms:created>
  <dcterms:modified xsi:type="dcterms:W3CDTF">2025-11-17T23:57:36Z</dcterms:modified>
</cp:coreProperties>
</file>