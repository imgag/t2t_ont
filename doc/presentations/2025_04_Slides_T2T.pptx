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59" r:id="rId6"/>
    <p:sldId id="257" r:id="rId7"/>
    <p:sldId id="26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6CF74C-8A6B-BE5F-5673-F22371379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ECBDBE-FA50-CF05-56B7-8173226DB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2BA105-176D-72A6-A6A4-3D66B936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38C876-0C41-D864-D3FA-18E9440F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A791A-A791-902B-7E59-A6DCA11C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023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43688-2180-C550-B9A2-46BAD793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ECAAF6-74CF-2641-9E8C-44B04500A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113E12-A9FD-64BD-56BE-08C09149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FE4CC-1F02-38DE-1C3A-6C2E1002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DECE96-FC06-6B62-0087-F95FE234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854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37AEB-5528-39FA-D721-1CC539F6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41BBE1-ACB8-2277-BAA4-AE0A1D986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ACD429-9D11-411F-D439-3BF8815F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D3A000-7255-2F2C-58EC-4C4AFFAA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9C3AAD-A557-CFFE-0CC7-E108EB065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854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3CA1B-650B-8FBE-D468-7A36FAA7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BFCC3B-278A-B415-24D0-1286DC6CF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6E21E9-A192-3DCA-FC24-DE7D04CBA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0D42CD-EB7F-52A7-5DCF-955B9DCD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FF3EA5-D485-12E1-4CC2-B30A0EC0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B2A055-C324-E442-AE95-EB96999D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631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4BC556-E568-A398-B550-B63A20A2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F46802-900B-77BA-2103-21201F31D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46ABA4-8E90-8741-E99C-8E5629F06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879050-16DC-D2E8-3D5B-E5FFF969D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C4E8B5C-184D-8CA8-12B9-308D00EF4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D9562A-0E3A-AB1B-89A5-E1740E7B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DEDC172-3295-95A6-7B93-CC3D8B7B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B117F48-8752-24C2-940A-BCD57F94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59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04233-4CCA-222D-DCDD-AA07625AF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AE9F6E-114B-C5FD-DFC2-12690CB2A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4D2354-BAA4-324C-169A-69B2DA18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EF9878-A71F-BBC5-E47A-0E029E44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40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21B1136-FE45-42D0-A8C0-441FF7499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FBB5FA-B48C-F759-48B5-BBF6310C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8750E8-C181-3A0C-3AE1-4C39F6C2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6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AA724-7017-2F65-B5FA-41165CAC6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18623A-1C34-D48B-89EC-34BF1458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60002E-9C73-314B-1827-F68010E06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E4DB03-0A9B-A612-8B52-7A882AA9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EEE0B2-C00E-D75E-D0D5-6F3167B9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3F4371-884C-5D5F-D51E-82ABACEE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269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457AE-B64E-D4BF-EC35-E866F22F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970C76-F38B-1725-50D8-C517D24DC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A29769-2D08-0BCC-C56F-616CA639A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B9E8A4-ECFB-311A-EBC6-0A7BEF9B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2E5EF6-55DE-F19A-17D9-649DC8FA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074B20-E149-ACE6-B3B8-E3EAB60B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12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C0B485-0EC7-4457-17A4-CB0A585B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849C6CA-7767-DE32-93E7-76F529DE1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8C5ABE-6E54-308B-1ABF-22AF2EA6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71A95A-5156-68E9-8405-74E478E4B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57B358-0734-706E-9C37-F6F0B929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9078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432D032-2F0F-6417-F42B-45B8DDFC0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EA2CB2-6436-9960-9208-F9E747FA3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EACEE1-9B08-3FC1-0FB7-3F8C77B1B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0AA1B4-B3B7-69C1-E346-6E21BD41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83B5E1-22F2-0DCC-C6B5-F7B12547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75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BAC59D-B3BB-F52E-87C6-D0329553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5B11C6-16CE-511C-5402-11E872EA7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E168A8-DDED-C6CE-3408-A4487EA24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5E148-1BD2-4646-9B74-07CCF1BD8EC7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186DEF-7414-922A-4281-BFF01DAB5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4F6E2D-540E-0B32-2699-2EC2D74D0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EF337-E00A-47F9-ABB9-E5A0C88971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068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6D337-538C-9C00-B384-29F55310C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Slides T2T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B8FD0E-BF99-BEFA-BC32-8CDA8B0BD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395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F79E4B-825C-B823-0130-46E6FECF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UL </a:t>
            </a:r>
            <a:r>
              <a:rPr lang="de-DE" dirty="0" err="1"/>
              <a:t>data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45FFD3-3C3A-9C53-72C1-7005D1F09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0200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F8B23F4-70DC-9D4B-22C0-5935DB6E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PoreC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7D640494-C5D6-2C33-4335-C6F4F5D20E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1" y="1825625"/>
            <a:ext cx="4921197" cy="4351338"/>
          </a:xfrm>
        </p:spPr>
      </p:pic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494DFFA-C34F-FA01-205A-51F20C8C8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603375"/>
          </a:xfrm>
        </p:spPr>
        <p:txBody>
          <a:bodyPr>
            <a:normAutofit fontScale="92500" lnSpcReduction="20000"/>
          </a:bodyPr>
          <a:lstStyle/>
          <a:p>
            <a:r>
              <a:rPr lang="de-DE" dirty="0" err="1"/>
              <a:t>Qscore</a:t>
            </a:r>
            <a:r>
              <a:rPr lang="de-DE" dirty="0"/>
              <a:t> median:  18.0</a:t>
            </a:r>
          </a:p>
          <a:p>
            <a:r>
              <a:rPr lang="de-DE" dirty="0"/>
              <a:t>Read </a:t>
            </a:r>
            <a:r>
              <a:rPr lang="de-DE" dirty="0" err="1"/>
              <a:t>length</a:t>
            </a:r>
            <a:r>
              <a:rPr lang="de-DE" dirty="0"/>
              <a:t> N50: 8890</a:t>
            </a:r>
          </a:p>
          <a:p>
            <a:r>
              <a:rPr lang="de-DE" dirty="0" err="1"/>
              <a:t>Yield</a:t>
            </a:r>
            <a:r>
              <a:rPr lang="de-DE" dirty="0"/>
              <a:t>: 124 </a:t>
            </a:r>
            <a:r>
              <a:rPr lang="de-DE" dirty="0" err="1"/>
              <a:t>Gb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 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96B2980-DFDD-2653-1E80-2E32396C5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760" y="3429000"/>
            <a:ext cx="3610479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85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F8B23F4-70DC-9D4B-22C0-5935DB6E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 </a:t>
            </a:r>
            <a:r>
              <a:rPr lang="de-DE" dirty="0" err="1"/>
              <a:t>chromosome</a:t>
            </a:r>
            <a:r>
              <a:rPr lang="de-DE" dirty="0"/>
              <a:t> </a:t>
            </a:r>
            <a:r>
              <a:rPr lang="de-DE" dirty="0" err="1"/>
              <a:t>association</a:t>
            </a:r>
            <a:r>
              <a:rPr lang="de-DE" dirty="0"/>
              <a:t> </a:t>
            </a:r>
            <a:r>
              <a:rPr lang="de-DE" dirty="0" err="1"/>
              <a:t>plots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834E5C6-27EE-DEBE-4939-F5B5687E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1" y="1426682"/>
            <a:ext cx="5528311" cy="536273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3218E9A-E711-4549-E047-56C1017CC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011" y="1266045"/>
            <a:ext cx="5372850" cy="559195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806D113-4FEC-85F9-6FE0-D6360BC29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220" y="1879845"/>
            <a:ext cx="1143160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9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51A82DA1-4A31-87E4-9B04-2A3D13C1006C}"/>
              </a:ext>
            </a:extLst>
          </p:cNvPr>
          <p:cNvGrpSpPr/>
          <p:nvPr/>
        </p:nvGrpSpPr>
        <p:grpSpPr>
          <a:xfrm>
            <a:off x="828186" y="0"/>
            <a:ext cx="10776356" cy="6858000"/>
            <a:chOff x="828186" y="0"/>
            <a:chExt cx="10776356" cy="6858000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BAE35227-E0A7-6AE0-B751-2CE4AF9A6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186" y="0"/>
              <a:ext cx="10535628" cy="6858000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0EB2A0A1-D93C-9EB7-667F-7FD71386C7F8}"/>
                </a:ext>
              </a:extLst>
            </p:cNvPr>
            <p:cNvSpPr txBox="1"/>
            <p:nvPr/>
          </p:nvSpPr>
          <p:spPr>
            <a:xfrm>
              <a:off x="3105150" y="590550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chr22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8385789-4C22-8256-2678-4A03532D1C7F}"/>
                </a:ext>
              </a:extLst>
            </p:cNvPr>
            <p:cNvSpPr txBox="1"/>
            <p:nvPr/>
          </p:nvSpPr>
          <p:spPr>
            <a:xfrm>
              <a:off x="3780082" y="1181100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chr15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DB903711-AB62-AA69-C244-C223813FFFA8}"/>
                </a:ext>
              </a:extLst>
            </p:cNvPr>
            <p:cNvSpPr txBox="1"/>
            <p:nvPr/>
          </p:nvSpPr>
          <p:spPr>
            <a:xfrm>
              <a:off x="3823616" y="2078316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chr14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6AFB64DA-F199-DCAB-05B2-E9D4262BD0D7}"/>
                </a:ext>
              </a:extLst>
            </p:cNvPr>
            <p:cNvSpPr txBox="1"/>
            <p:nvPr/>
          </p:nvSpPr>
          <p:spPr>
            <a:xfrm>
              <a:off x="1807033" y="868602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chr13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CFAE7E69-E7E1-C39C-5972-2C414ECF9686}"/>
                </a:ext>
              </a:extLst>
            </p:cNvPr>
            <p:cNvSpPr txBox="1"/>
            <p:nvPr/>
          </p:nvSpPr>
          <p:spPr>
            <a:xfrm>
              <a:off x="5517249" y="1181100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chr2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CF52F02-70C4-32D9-CF1A-BE8862B191AE}"/>
                </a:ext>
              </a:extLst>
            </p:cNvPr>
            <p:cNvSpPr txBox="1"/>
            <p:nvPr/>
          </p:nvSpPr>
          <p:spPr>
            <a:xfrm>
              <a:off x="6706958" y="2131497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chr4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8190E0A-E2A6-1839-7B8F-CABABB51213A}"/>
                </a:ext>
              </a:extLst>
            </p:cNvPr>
            <p:cNvSpPr txBox="1"/>
            <p:nvPr/>
          </p:nvSpPr>
          <p:spPr>
            <a:xfrm>
              <a:off x="8004219" y="2303463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chr6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0B2DCF3B-654B-DCCE-8A4C-A79DF58DF99A}"/>
                </a:ext>
              </a:extLst>
            </p:cNvPr>
            <p:cNvSpPr txBox="1"/>
            <p:nvPr/>
          </p:nvSpPr>
          <p:spPr>
            <a:xfrm>
              <a:off x="9385344" y="1765856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chr11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EB285482-32BE-18DC-ED59-74F25004639E}"/>
                </a:ext>
              </a:extLst>
            </p:cNvPr>
            <p:cNvSpPr txBox="1"/>
            <p:nvPr/>
          </p:nvSpPr>
          <p:spPr>
            <a:xfrm>
              <a:off x="2116426" y="3727491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chr12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EDE03DD5-FCB4-8FDE-F337-A4C58CE7EF13}"/>
                </a:ext>
              </a:extLst>
            </p:cNvPr>
            <p:cNvSpPr txBox="1"/>
            <p:nvPr/>
          </p:nvSpPr>
          <p:spPr>
            <a:xfrm>
              <a:off x="3992851" y="3472895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chr3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9C6C796E-24B9-B36E-350D-178842E19BA5}"/>
                </a:ext>
              </a:extLst>
            </p:cNvPr>
            <p:cNvSpPr txBox="1"/>
            <p:nvPr/>
          </p:nvSpPr>
          <p:spPr>
            <a:xfrm>
              <a:off x="6390432" y="3940731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18B40C39-67DB-F84F-5071-E6FB5C2F40E0}"/>
                </a:ext>
              </a:extLst>
            </p:cNvPr>
            <p:cNvSpPr txBox="1"/>
            <p:nvPr/>
          </p:nvSpPr>
          <p:spPr>
            <a:xfrm>
              <a:off x="9300121" y="3912157"/>
              <a:ext cx="596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chrY</a:t>
              </a:r>
              <a:endParaRPr lang="de-DE" dirty="0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12AD1936-25CF-DF4B-CF5B-131674DDE903}"/>
                </a:ext>
              </a:extLst>
            </p:cNvPr>
            <p:cNvSpPr txBox="1"/>
            <p:nvPr/>
          </p:nvSpPr>
          <p:spPr>
            <a:xfrm>
              <a:off x="2806831" y="5013921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chr7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EF64E81-0D30-F46F-44F4-258FD5DE9006}"/>
                </a:ext>
              </a:extLst>
            </p:cNvPr>
            <p:cNvSpPr txBox="1"/>
            <p:nvPr/>
          </p:nvSpPr>
          <p:spPr>
            <a:xfrm>
              <a:off x="4842421" y="4531282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chr5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2D274BC-8D36-4B23-0B08-85970EBA6D26}"/>
                </a:ext>
              </a:extLst>
            </p:cNvPr>
            <p:cNvSpPr txBox="1"/>
            <p:nvPr/>
          </p:nvSpPr>
          <p:spPr>
            <a:xfrm>
              <a:off x="6096000" y="4655187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chr9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CFE023F-656B-74C3-09BB-2D4CAB9D9A40}"/>
                </a:ext>
              </a:extLst>
            </p:cNvPr>
            <p:cNvSpPr txBox="1"/>
            <p:nvPr/>
          </p:nvSpPr>
          <p:spPr>
            <a:xfrm>
              <a:off x="8043823" y="4717101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chr17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14EF1A4C-1EEF-DD5C-1788-9EB14B3E0B70}"/>
                </a:ext>
              </a:extLst>
            </p:cNvPr>
            <p:cNvSpPr txBox="1"/>
            <p:nvPr/>
          </p:nvSpPr>
          <p:spPr>
            <a:xfrm>
              <a:off x="2014498" y="5566628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chr10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B6CEDC8B-3830-CCAA-832F-98DB9020C9CB}"/>
                </a:ext>
              </a:extLst>
            </p:cNvPr>
            <p:cNvSpPr txBox="1"/>
            <p:nvPr/>
          </p:nvSpPr>
          <p:spPr>
            <a:xfrm>
              <a:off x="4123955" y="5645192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chr8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564C9131-5025-6B46-42AD-9CD74C88C528}"/>
                </a:ext>
              </a:extLst>
            </p:cNvPr>
            <p:cNvSpPr txBox="1"/>
            <p:nvPr/>
          </p:nvSpPr>
          <p:spPr>
            <a:xfrm>
              <a:off x="6748667" y="560657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chrX</a:t>
              </a:r>
              <a:endParaRPr lang="de-DE" dirty="0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B5177E0D-786B-3C1A-2AA9-41DD49AA2F82}"/>
                </a:ext>
              </a:extLst>
            </p:cNvPr>
            <p:cNvSpPr txBox="1"/>
            <p:nvPr/>
          </p:nvSpPr>
          <p:spPr>
            <a:xfrm>
              <a:off x="8374501" y="5503902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chr19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5550E335-4AAB-2A05-6305-1D2E3C0072AA}"/>
                </a:ext>
              </a:extLst>
            </p:cNvPr>
            <p:cNvSpPr txBox="1"/>
            <p:nvPr/>
          </p:nvSpPr>
          <p:spPr>
            <a:xfrm>
              <a:off x="9436578" y="5481719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chr20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593F70BF-B51F-9AB3-7AC2-7B9EB0624C62}"/>
                </a:ext>
              </a:extLst>
            </p:cNvPr>
            <p:cNvSpPr txBox="1"/>
            <p:nvPr/>
          </p:nvSpPr>
          <p:spPr>
            <a:xfrm>
              <a:off x="2386684" y="6356214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chr16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DAF7DAEE-8589-A273-1095-DAA5FA082C1D}"/>
                </a:ext>
              </a:extLst>
            </p:cNvPr>
            <p:cNvSpPr txBox="1"/>
            <p:nvPr/>
          </p:nvSpPr>
          <p:spPr>
            <a:xfrm>
              <a:off x="4065445" y="6381994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chr18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A6F14AF1-27E0-FD11-4741-61FD3E108360}"/>
                </a:ext>
              </a:extLst>
            </p:cNvPr>
            <p:cNvSpPr txBox="1"/>
            <p:nvPr/>
          </p:nvSpPr>
          <p:spPr>
            <a:xfrm>
              <a:off x="10103810" y="6408823"/>
              <a:ext cx="1500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TUE_02_03UL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25362095-8B6F-048A-583F-9D9B63C996C8}"/>
                </a:ext>
              </a:extLst>
            </p:cNvPr>
            <p:cNvSpPr txBox="1"/>
            <p:nvPr/>
          </p:nvSpPr>
          <p:spPr>
            <a:xfrm>
              <a:off x="2591172" y="2589491"/>
              <a:ext cx="71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20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60875D8-514A-4935-2FCD-DFE5A6A7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404" y="0"/>
            <a:ext cx="7509592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36F4FD2-C845-E1E4-1CBF-149B640645A2}"/>
              </a:ext>
            </a:extLst>
          </p:cNvPr>
          <p:cNvSpPr txBox="1"/>
          <p:nvPr/>
        </p:nvSpPr>
        <p:spPr>
          <a:xfrm>
            <a:off x="9405230" y="6385963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TUE_02_03UL</a:t>
            </a:r>
          </a:p>
        </p:txBody>
      </p:sp>
    </p:spTree>
    <p:extLst>
      <p:ext uri="{BB962C8B-B14F-4D97-AF65-F5344CB8AC3E}">
        <p14:creationId xmlns:p14="http://schemas.microsoft.com/office/powerpoint/2010/main" val="15977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70133AE-83B1-5E42-4E0B-0910A4560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QC </a:t>
            </a:r>
            <a:r>
              <a:rPr lang="de-DE" dirty="0" err="1"/>
              <a:t>metrics</a:t>
            </a:r>
            <a:r>
              <a:rPr lang="de-DE" dirty="0"/>
              <a:t>	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F900143F-AAFF-4816-3F59-35DA1637EDB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88688804"/>
              </p:ext>
            </p:extLst>
          </p:nvPr>
        </p:nvGraphicFramePr>
        <p:xfrm>
          <a:off x="838200" y="1825625"/>
          <a:ext cx="5181598" cy="3286125"/>
        </p:xfrm>
        <a:graphic>
          <a:graphicData uri="http://schemas.openxmlformats.org/drawingml/2006/table">
            <a:tbl>
              <a:tblPr/>
              <a:tblGrid>
                <a:gridCol w="2628484">
                  <a:extLst>
                    <a:ext uri="{9D8B030D-6E8A-4147-A177-3AD203B41FA5}">
                      <a16:colId xmlns:a16="http://schemas.microsoft.com/office/drawing/2014/main" val="1253272596"/>
                    </a:ext>
                  </a:extLst>
                </a:gridCol>
                <a:gridCol w="1356636">
                  <a:extLst>
                    <a:ext uri="{9D8B030D-6E8A-4147-A177-3AD203B41FA5}">
                      <a16:colId xmlns:a16="http://schemas.microsoft.com/office/drawing/2014/main" val="3779011021"/>
                    </a:ext>
                  </a:extLst>
                </a:gridCol>
                <a:gridCol w="1196478">
                  <a:extLst>
                    <a:ext uri="{9D8B030D-6E8A-4147-A177-3AD203B41FA5}">
                      <a16:colId xmlns:a16="http://schemas.microsoft.com/office/drawing/2014/main" val="20310885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Metric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haplotype1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haplotype2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828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Number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of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T2T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chromosomes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6296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% of Assembly covered by Ref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165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% of Ref covered by Assembly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17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% of Ref duplicated in Assembly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6356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Assembly Length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2934985356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3028541959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213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Average Ungapped Alignment length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4167916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4482112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6819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Genome Completeness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94.61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98.41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599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Missing Multi-Copy Genes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526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NG50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137904320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145923310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7093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NG75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101150053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103627408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34259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complete assembly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5918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Phase Blocks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2038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Switch Rate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424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Quality Value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58.48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2697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Error Rate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124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Variants Phased (%)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98.7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271204"/>
                  </a:ext>
                </a:extLst>
              </a:tr>
            </a:tbl>
          </a:graphicData>
        </a:graphic>
      </p:graphicFrame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8343AF4-9EA5-9C3E-C907-DE19EFF03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386455"/>
          </a:xfrm>
        </p:spPr>
        <p:txBody>
          <a:bodyPr>
            <a:normAutofit/>
          </a:bodyPr>
          <a:lstStyle/>
          <a:p>
            <a:r>
              <a:rPr lang="de-DE" dirty="0"/>
              <a:t>3 UL </a:t>
            </a:r>
            <a:r>
              <a:rPr lang="de-DE" dirty="0" err="1"/>
              <a:t>Flowcells</a:t>
            </a:r>
            <a:endParaRPr lang="de-DE" dirty="0"/>
          </a:p>
          <a:p>
            <a:r>
              <a:rPr lang="de-DE" dirty="0"/>
              <a:t>1 </a:t>
            </a:r>
            <a:r>
              <a:rPr lang="de-DE" dirty="0" err="1"/>
              <a:t>PoreC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Assembled</a:t>
            </a:r>
            <a:r>
              <a:rPr lang="de-DE" dirty="0"/>
              <a:t> </a:t>
            </a:r>
            <a:r>
              <a:rPr lang="de-DE" dirty="0" err="1"/>
              <a:t>genome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b="1" dirty="0"/>
              <a:t>not</a:t>
            </a:r>
            <a:r>
              <a:rPr lang="de-DE" dirty="0"/>
              <a:t> HG002</a:t>
            </a:r>
          </a:p>
        </p:txBody>
      </p:sp>
    </p:spTree>
    <p:extLst>
      <p:ext uri="{BB962C8B-B14F-4D97-AF65-F5344CB8AC3E}">
        <p14:creationId xmlns:p14="http://schemas.microsoft.com/office/powerpoint/2010/main" val="2211416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Breitbild</PresentationFormat>
  <Paragraphs>84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Office</vt:lpstr>
      <vt:lpstr>Slides T2T</vt:lpstr>
      <vt:lpstr>UL data</vt:lpstr>
      <vt:lpstr>PoreC data</vt:lpstr>
      <vt:lpstr>Per chromosome association plots</vt:lpstr>
      <vt:lpstr>PowerPoint-Präsentation</vt:lpstr>
      <vt:lpstr>PowerPoint-Präsentation</vt:lpstr>
      <vt:lpstr>QC metrics </vt:lpstr>
    </vt:vector>
  </TitlesOfParts>
  <Company>Universitaetsklinikum Tuebingen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Groß</dc:creator>
  <cp:lastModifiedBy>Caspar Groß</cp:lastModifiedBy>
  <cp:revision>2</cp:revision>
  <dcterms:created xsi:type="dcterms:W3CDTF">2025-04-14T10:59:47Z</dcterms:created>
  <dcterms:modified xsi:type="dcterms:W3CDTF">2025-04-15T06:52:31Z</dcterms:modified>
</cp:coreProperties>
</file>