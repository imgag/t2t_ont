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70" r:id="rId4"/>
    <p:sldId id="256" r:id="rId5"/>
    <p:sldId id="266" r:id="rId6"/>
    <p:sldId id="267" r:id="rId7"/>
    <p:sldId id="269" r:id="rId8"/>
    <p:sldId id="268" r:id="rId9"/>
    <p:sldId id="263" r:id="rId10"/>
    <p:sldId id="265" r:id="rId11"/>
    <p:sldId id="264" r:id="rId12"/>
    <p:sldId id="258" r:id="rId13"/>
    <p:sldId id="261" r:id="rId14"/>
    <p:sldId id="259" r:id="rId15"/>
    <p:sldId id="272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4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1A02F0-5872-7A7A-960D-DA0BDB7BC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1C15C9-244D-1444-ECE4-EA75F1469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6C56FD-DE1E-23E0-0281-F250AF824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7885B2-507F-01C9-D325-74E681B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2036D2-0075-2F4F-7300-5535D653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4035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3BDEF-9A48-EDFA-2F9D-23FC67A9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F74968-D732-2F91-0EDA-70B872278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9E2C7B-4283-A5C8-0627-528E7F390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A069F3-840C-1EDB-C5C7-DECD207C3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1CAE48-A843-099B-5B76-4A9C7B89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4467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ADA53-CF2A-423E-F8B5-C189DA7C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2778BC-BBCE-80C5-999D-63418FB5C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346B44-52DF-9DF5-2724-4204DAF3F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69872A-6CA7-4E07-AAD2-EE3BD5895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395EFD-1E8C-BABC-4E6C-23EB2B44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945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7F576-23CF-08F7-C465-14755AE5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02581F-7E90-F635-62AC-62D7F227B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E965C9-AF54-09E6-CDC9-1D276C193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ED23A0-1070-2A42-09F3-4176DF3E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21BA64-EAD1-3DC5-9320-6A045812C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556A26-34A3-B07C-EBBC-B3A3630A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040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F1B42-8C7A-8A8E-A069-14FD308BB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FCBA56-5CF9-535A-4828-8F5B6E135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03D967-99E6-9C6C-8E56-B52B5B36B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24B914-2733-9643-067A-8A896429C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DC8D6C1-0C22-C04C-1B30-180B1995A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2AF2C1-14DC-D26F-D9B0-07D84BF0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A703173-2389-3893-1982-E5D18A2B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83C1267-E6FE-24C7-A763-AB85F05E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2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6FC16-4AD8-1E40-27D3-C291B052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F1BD7B-D1CA-9C36-A8A0-41317E01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AD91B0-D1A3-7D3F-ECE2-642EB0FF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7EEEEC-F1D5-6022-A39D-51AE0ED3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308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3A5B0E-03E1-82D5-3622-F41D32089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C0AD61-9AF5-7CCC-B68D-1CB9505A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53A8D9-AACD-1FD8-83B8-EADC0C7D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473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8BE2A1-8680-0292-8A4C-A88B472CA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991E2C-4D33-B51F-494B-E33B3767F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0E62DB-01B0-DE83-90DB-9CEA9435B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B31266-0794-F13D-0EA8-CCE3C53B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73B201-0745-D8A3-21FB-9F7CEF78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89142F-D1D1-F76F-E020-A3FEB3BCA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84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1BC74-5A27-3E31-B1C7-4BD250B9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03628E5-4EAC-7C1A-BAA4-A7680B11B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961CD6D-506D-4D15-E638-D76DD5B0A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5B8F8F-4DD8-80F1-0CE1-AD61AEFC3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C897BC-2326-325C-94F1-2173E7B3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1B70B0-3C12-147D-B63E-24B5629F3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109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6994A4-3CCE-0FB2-A62A-38A5AD69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D6457B-5CDE-D070-BF02-143DA259F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ACFE9-DCA1-02A8-5401-7C246C184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99A4F1-4848-4BAA-DB99-33200852B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01AD15-9245-9165-40BD-323FAEDF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742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D94165B-54E4-EE1D-7A57-8C438ED33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3CC9C8E-DD71-0CCF-639A-544E553F7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5E7AAE-8F25-56B7-FCB8-E30081BC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EB75D7-18DB-080C-BCA9-EA655832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91023E-37FB-23B2-9633-4069D692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75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9EC625-6735-1E7A-25FC-6E283B34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00C323-601E-8BBB-6380-51E69BEB7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B98B35-D47F-70CB-67A7-3CBAF89C7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14837-10A0-4022-88FB-4FCA7BD205A3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CCFB51-9194-3DA6-6C54-AD5FB2664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0F28E7-03B4-2731-83C5-F0F11792A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E048D-270A-41B5-82CA-AEE9E565F5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7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38/s41594-025-01512-w" TargetMode="External"/><Relationship Id="rId5" Type="http://schemas.openxmlformats.org/officeDocument/2006/relationships/image" Target="../media/image3.emf"/><Relationship Id="rId4" Type="http://schemas.openxmlformats.org/officeDocument/2006/relationships/hyperlink" Target="https://doi.org/10.1038/s41467-023-36899-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467-023-36899-x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38/nature14450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6/science.1181369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s://doi.org/10.1126/science.1181369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26/science.1181369" TargetMode="Externa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A6848BA3-EA21-D9D9-036D-E5B41A01F9CC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11.11.2025</a:t>
            </a:r>
          </a:p>
        </p:txBody>
      </p:sp>
    </p:spTree>
    <p:extLst>
      <p:ext uri="{BB962C8B-B14F-4D97-AF65-F5344CB8AC3E}">
        <p14:creationId xmlns:p14="http://schemas.microsoft.com/office/powerpoint/2010/main" val="3045759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D67F025-E2B9-7AAD-8C2B-DBFB6D389E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079"/>
          <a:stretch>
            <a:fillRect/>
          </a:stretch>
        </p:blipFill>
        <p:spPr>
          <a:xfrm>
            <a:off x="489327" y="3131283"/>
            <a:ext cx="2755355" cy="121847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BCB06FF-2068-5F81-5D3C-92D2E5397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898" b="23173"/>
          <a:stretch>
            <a:fillRect/>
          </a:stretch>
        </p:blipFill>
        <p:spPr>
          <a:xfrm>
            <a:off x="480255" y="1728788"/>
            <a:ext cx="2755355" cy="285750"/>
          </a:xfrm>
          <a:prstGeom prst="rect">
            <a:avLst/>
          </a:prstGeom>
        </p:spPr>
      </p:pic>
      <p:sp>
        <p:nvSpPr>
          <p:cNvPr id="13" name="Bogen 12">
            <a:extLst>
              <a:ext uri="{FF2B5EF4-FFF2-40B4-BE49-F238E27FC236}">
                <a16:creationId xmlns:a16="http://schemas.microsoft.com/office/drawing/2014/main" id="{D448E6FD-91A1-A024-86B0-5BD54DCB4E6B}"/>
              </a:ext>
            </a:extLst>
          </p:cNvPr>
          <p:cNvSpPr>
            <a:spLocks noChangeAspect="1"/>
          </p:cNvSpPr>
          <p:nvPr/>
        </p:nvSpPr>
        <p:spPr>
          <a:xfrm>
            <a:off x="804191" y="1522816"/>
            <a:ext cx="524095" cy="411595"/>
          </a:xfrm>
          <a:prstGeom prst="arc">
            <a:avLst>
              <a:gd name="adj1" fmla="val 10721832"/>
              <a:gd name="adj2" fmla="val 0"/>
            </a:avLst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Bogen 13">
            <a:extLst>
              <a:ext uri="{FF2B5EF4-FFF2-40B4-BE49-F238E27FC236}">
                <a16:creationId xmlns:a16="http://schemas.microsoft.com/office/drawing/2014/main" id="{A276BC23-5972-89CE-4E91-1EDB9EA0AEFE}"/>
              </a:ext>
            </a:extLst>
          </p:cNvPr>
          <p:cNvSpPr>
            <a:spLocks noChangeAspect="1"/>
          </p:cNvSpPr>
          <p:nvPr/>
        </p:nvSpPr>
        <p:spPr>
          <a:xfrm>
            <a:off x="1342910" y="1522816"/>
            <a:ext cx="524095" cy="411595"/>
          </a:xfrm>
          <a:prstGeom prst="arc">
            <a:avLst>
              <a:gd name="adj1" fmla="val 10721832"/>
              <a:gd name="adj2" fmla="val 0"/>
            </a:avLst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Bogen 14">
            <a:extLst>
              <a:ext uri="{FF2B5EF4-FFF2-40B4-BE49-F238E27FC236}">
                <a16:creationId xmlns:a16="http://schemas.microsoft.com/office/drawing/2014/main" id="{F1AD940D-EE3E-2CC9-D415-23935BF8A588}"/>
              </a:ext>
            </a:extLst>
          </p:cNvPr>
          <p:cNvSpPr>
            <a:spLocks noChangeAspect="1"/>
          </p:cNvSpPr>
          <p:nvPr/>
        </p:nvSpPr>
        <p:spPr>
          <a:xfrm>
            <a:off x="1871768" y="1522816"/>
            <a:ext cx="524095" cy="411595"/>
          </a:xfrm>
          <a:prstGeom prst="arc">
            <a:avLst>
              <a:gd name="adj1" fmla="val 10721832"/>
              <a:gd name="adj2" fmla="val 0"/>
            </a:avLst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Bogen 15">
            <a:extLst>
              <a:ext uri="{FF2B5EF4-FFF2-40B4-BE49-F238E27FC236}">
                <a16:creationId xmlns:a16="http://schemas.microsoft.com/office/drawing/2014/main" id="{818AF357-01EB-DAA5-BB4B-B01E696E0B08}"/>
              </a:ext>
            </a:extLst>
          </p:cNvPr>
          <p:cNvSpPr>
            <a:spLocks noChangeAspect="1"/>
          </p:cNvSpPr>
          <p:nvPr/>
        </p:nvSpPr>
        <p:spPr>
          <a:xfrm>
            <a:off x="2405724" y="1522816"/>
            <a:ext cx="524095" cy="411595"/>
          </a:xfrm>
          <a:prstGeom prst="arc">
            <a:avLst>
              <a:gd name="adj1" fmla="val 10721832"/>
              <a:gd name="adj2" fmla="val 0"/>
            </a:avLst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AD91481-15B2-B3DB-43DD-77342A778B35}"/>
              </a:ext>
            </a:extLst>
          </p:cNvPr>
          <p:cNvSpPr txBox="1"/>
          <p:nvPr/>
        </p:nvSpPr>
        <p:spPr>
          <a:xfrm>
            <a:off x="506750" y="1136965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adjacent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VPCs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47F1BAD-39BE-1102-5C49-30BCDDBEA8A8}"/>
              </a:ext>
            </a:extLst>
          </p:cNvPr>
          <p:cNvSpPr txBox="1"/>
          <p:nvPr/>
        </p:nvSpPr>
        <p:spPr>
          <a:xfrm>
            <a:off x="489327" y="2778558"/>
            <a:ext cx="2111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adjacent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nonadj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VPCs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3D35EDE-24A9-1D3C-49BF-59D3FD20E789}"/>
              </a:ext>
            </a:extLst>
          </p:cNvPr>
          <p:cNvSpPr txBox="1"/>
          <p:nvPr/>
        </p:nvSpPr>
        <p:spPr>
          <a:xfrm>
            <a:off x="590457" y="1991834"/>
            <a:ext cx="1317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80 M VPCs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92E3380-F2D0-50F7-EC84-E6E385634832}"/>
              </a:ext>
            </a:extLst>
          </p:cNvPr>
          <p:cNvSpPr txBox="1"/>
          <p:nvPr/>
        </p:nvSpPr>
        <p:spPr>
          <a:xfrm>
            <a:off x="630309" y="4326202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300 M VPCs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02551DE-0F14-CA89-D861-EDF0D09FC830}"/>
              </a:ext>
            </a:extLst>
          </p:cNvPr>
          <p:cNvSpPr txBox="1"/>
          <p:nvPr/>
        </p:nvSpPr>
        <p:spPr>
          <a:xfrm>
            <a:off x="480255" y="5028537"/>
            <a:ext cx="29306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adequately complex Hi-C dataset for the human genome with </a:t>
            </a:r>
            <a:r>
              <a:rPr lang="en-US" sz="1400" b="0" i="0" dirty="0">
                <a:solidFill>
                  <a:srgbClr val="1B1B1B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roughly 100 million mapped / valid junction reads</a:t>
            </a:r>
            <a:r>
              <a:rPr lang="en-US" sz="14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is sufficient to support a </a:t>
            </a:r>
            <a:r>
              <a:rPr lang="en-US" sz="1400" b="0" i="0" dirty="0">
                <a:solidFill>
                  <a:srgbClr val="1B1B1B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40kb data resolution</a:t>
            </a:r>
            <a:r>
              <a:rPr lang="en-US" sz="1400" dirty="0">
                <a:solidFill>
                  <a:srgbClr val="1B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(Lajoie 2016)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75295F-5A65-366B-626C-6EE47A2DA61B}"/>
              </a:ext>
            </a:extLst>
          </p:cNvPr>
          <p:cNvSpPr txBox="1">
            <a:spLocks/>
          </p:cNvSpPr>
          <p:nvPr/>
        </p:nvSpPr>
        <p:spPr>
          <a:xfrm>
            <a:off x="355600" y="-930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VPCs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E50A646C-288E-A9FE-94C1-81497316E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57" y="188317"/>
            <a:ext cx="8139976" cy="3987168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47FE06CE-C60C-0B46-C1CA-D0B91842494A}"/>
              </a:ext>
            </a:extLst>
          </p:cNvPr>
          <p:cNvSpPr/>
          <p:nvPr/>
        </p:nvSpPr>
        <p:spPr>
          <a:xfrm>
            <a:off x="9328150" y="1444059"/>
            <a:ext cx="622300" cy="2110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CFC2B83-CF0D-BAFF-D068-B56D51CF1B51}"/>
              </a:ext>
            </a:extLst>
          </p:cNvPr>
          <p:cNvSpPr txBox="1"/>
          <p:nvPr/>
        </p:nvSpPr>
        <p:spPr>
          <a:xfrm>
            <a:off x="3854450" y="419586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DOI: 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https://doi.org/10.1038/s41467-023-36899-x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, Hi-Pore-C </a:t>
            </a:r>
            <a:r>
              <a:rPr lang="de-DE" sz="1100" dirty="0" err="1">
                <a:latin typeface="Arial" panose="020B0604020202020204" pitchFamily="34" charset="0"/>
                <a:cs typeface="Arial" panose="020B0604020202020204" pitchFamily="34" charset="0"/>
              </a:rPr>
              <a:t>paper</a:t>
            </a:r>
            <a:endParaRPr lang="de-D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4924EEC-6B86-BDED-BE0B-ED1AC80CDC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551"/>
          <a:stretch/>
        </p:blipFill>
        <p:spPr>
          <a:xfrm>
            <a:off x="4667250" y="4717617"/>
            <a:ext cx="3685083" cy="127253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121D745-409E-1231-C0E1-EB80EB351B00}"/>
              </a:ext>
            </a:extLst>
          </p:cNvPr>
          <p:cNvSpPr txBox="1"/>
          <p:nvPr/>
        </p:nvSpPr>
        <p:spPr>
          <a:xfrm>
            <a:off x="3895357" y="609809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DOI: 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https://doi.org/10.1038/s41594-025-01512-w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, Dip3D </a:t>
            </a:r>
            <a:r>
              <a:rPr lang="de-DE" sz="1100" dirty="0" err="1">
                <a:latin typeface="Arial" panose="020B0604020202020204" pitchFamily="34" charset="0"/>
                <a:cs typeface="Arial" panose="020B0604020202020204" pitchFamily="34" charset="0"/>
              </a:rPr>
              <a:t>paper</a:t>
            </a:r>
            <a:endParaRPr lang="de-D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3B5AAC2-EA5A-1D06-BFEE-D4A521AEE76D}"/>
              </a:ext>
            </a:extLst>
          </p:cNvPr>
          <p:cNvSpPr/>
          <p:nvPr/>
        </p:nvSpPr>
        <p:spPr>
          <a:xfrm>
            <a:off x="6673283" y="5683250"/>
            <a:ext cx="1124518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ysClr val="windowText" lastClr="000000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E9085DF-2ADD-2C11-320B-9062BE56E5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93" r="90873"/>
          <a:stretch/>
        </p:blipFill>
        <p:spPr>
          <a:xfrm>
            <a:off x="3895357" y="4717617"/>
            <a:ext cx="771893" cy="12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30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C2D82-3745-94E2-36B5-7831D2B32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D71A340-A4D0-33B7-4827-5784F39AE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840" y="118600"/>
            <a:ext cx="8259328" cy="662079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5ED93D4-A148-DB31-997A-7E27BC9CB421}"/>
              </a:ext>
            </a:extLst>
          </p:cNvPr>
          <p:cNvSpPr txBox="1"/>
          <p:nvPr/>
        </p:nvSpPr>
        <p:spPr>
          <a:xfrm>
            <a:off x="11045482" y="50882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adj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666A91F-A58A-2210-AE81-5E0380CC2325}"/>
              </a:ext>
            </a:extLst>
          </p:cNvPr>
          <p:cNvSpPr txBox="1"/>
          <p:nvPr/>
        </p:nvSpPr>
        <p:spPr>
          <a:xfrm>
            <a:off x="4311623" y="5793992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adj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nonadj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7886B90-B8CE-3462-ED37-89AB17C84F8B}"/>
              </a:ext>
            </a:extLst>
          </p:cNvPr>
          <p:cNvSpPr txBox="1"/>
          <p:nvPr/>
        </p:nvSpPr>
        <p:spPr>
          <a:xfrm>
            <a:off x="4133344" y="510010"/>
            <a:ext cx="2578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T2T04.hp1, chr1, 10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17BF900-7FFA-DEF1-DC7F-070EF3E143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079"/>
          <a:stretch>
            <a:fillRect/>
          </a:stretch>
        </p:blipFill>
        <p:spPr>
          <a:xfrm>
            <a:off x="489327" y="3131283"/>
            <a:ext cx="2755355" cy="121847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E0CE196-13E6-6D81-CF78-15D6B74BB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898" b="23173"/>
          <a:stretch>
            <a:fillRect/>
          </a:stretch>
        </p:blipFill>
        <p:spPr>
          <a:xfrm>
            <a:off x="480255" y="1728788"/>
            <a:ext cx="2755355" cy="285750"/>
          </a:xfrm>
          <a:prstGeom prst="rect">
            <a:avLst/>
          </a:prstGeom>
        </p:spPr>
      </p:pic>
      <p:sp>
        <p:nvSpPr>
          <p:cNvPr id="13" name="Bogen 12">
            <a:extLst>
              <a:ext uri="{FF2B5EF4-FFF2-40B4-BE49-F238E27FC236}">
                <a16:creationId xmlns:a16="http://schemas.microsoft.com/office/drawing/2014/main" id="{93E1518F-068C-C1A1-21D5-2F6D6FBE3568}"/>
              </a:ext>
            </a:extLst>
          </p:cNvPr>
          <p:cNvSpPr>
            <a:spLocks noChangeAspect="1"/>
          </p:cNvSpPr>
          <p:nvPr/>
        </p:nvSpPr>
        <p:spPr>
          <a:xfrm>
            <a:off x="804191" y="1522816"/>
            <a:ext cx="524095" cy="411595"/>
          </a:xfrm>
          <a:prstGeom prst="arc">
            <a:avLst>
              <a:gd name="adj1" fmla="val 10721832"/>
              <a:gd name="adj2" fmla="val 0"/>
            </a:avLst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Bogen 13">
            <a:extLst>
              <a:ext uri="{FF2B5EF4-FFF2-40B4-BE49-F238E27FC236}">
                <a16:creationId xmlns:a16="http://schemas.microsoft.com/office/drawing/2014/main" id="{D0C47AA2-81B1-7F73-6A38-A5011A2AC79E}"/>
              </a:ext>
            </a:extLst>
          </p:cNvPr>
          <p:cNvSpPr>
            <a:spLocks noChangeAspect="1"/>
          </p:cNvSpPr>
          <p:nvPr/>
        </p:nvSpPr>
        <p:spPr>
          <a:xfrm>
            <a:off x="1342910" y="1522816"/>
            <a:ext cx="524095" cy="411595"/>
          </a:xfrm>
          <a:prstGeom prst="arc">
            <a:avLst>
              <a:gd name="adj1" fmla="val 10721832"/>
              <a:gd name="adj2" fmla="val 0"/>
            </a:avLst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Bogen 14">
            <a:extLst>
              <a:ext uri="{FF2B5EF4-FFF2-40B4-BE49-F238E27FC236}">
                <a16:creationId xmlns:a16="http://schemas.microsoft.com/office/drawing/2014/main" id="{D50B7AC2-EBAC-C673-B0B6-680CCBDFF4FC}"/>
              </a:ext>
            </a:extLst>
          </p:cNvPr>
          <p:cNvSpPr>
            <a:spLocks noChangeAspect="1"/>
          </p:cNvSpPr>
          <p:nvPr/>
        </p:nvSpPr>
        <p:spPr>
          <a:xfrm>
            <a:off x="1871768" y="1522816"/>
            <a:ext cx="524095" cy="411595"/>
          </a:xfrm>
          <a:prstGeom prst="arc">
            <a:avLst>
              <a:gd name="adj1" fmla="val 10721832"/>
              <a:gd name="adj2" fmla="val 0"/>
            </a:avLst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Bogen 15">
            <a:extLst>
              <a:ext uri="{FF2B5EF4-FFF2-40B4-BE49-F238E27FC236}">
                <a16:creationId xmlns:a16="http://schemas.microsoft.com/office/drawing/2014/main" id="{B5FE9069-468B-99A7-4869-E56AE68C737E}"/>
              </a:ext>
            </a:extLst>
          </p:cNvPr>
          <p:cNvSpPr>
            <a:spLocks noChangeAspect="1"/>
          </p:cNvSpPr>
          <p:nvPr/>
        </p:nvSpPr>
        <p:spPr>
          <a:xfrm>
            <a:off x="2405724" y="1522816"/>
            <a:ext cx="524095" cy="411595"/>
          </a:xfrm>
          <a:prstGeom prst="arc">
            <a:avLst>
              <a:gd name="adj1" fmla="val 10721832"/>
              <a:gd name="adj2" fmla="val 0"/>
            </a:avLst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884B4E6-D5F6-D1F1-F256-A2F48CA600B2}"/>
              </a:ext>
            </a:extLst>
          </p:cNvPr>
          <p:cNvSpPr txBox="1"/>
          <p:nvPr/>
        </p:nvSpPr>
        <p:spPr>
          <a:xfrm>
            <a:off x="506750" y="1136965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adjacent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VPCs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3570544-9660-54E3-A6A4-DB3C01D0E1A5}"/>
              </a:ext>
            </a:extLst>
          </p:cNvPr>
          <p:cNvSpPr txBox="1"/>
          <p:nvPr/>
        </p:nvSpPr>
        <p:spPr>
          <a:xfrm>
            <a:off x="489327" y="2778558"/>
            <a:ext cx="2111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adjacent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nonadj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VPCs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0FB66B7-6A32-1F2B-9D3A-935EAF94E23D}"/>
              </a:ext>
            </a:extLst>
          </p:cNvPr>
          <p:cNvSpPr txBox="1"/>
          <p:nvPr/>
        </p:nvSpPr>
        <p:spPr>
          <a:xfrm>
            <a:off x="590457" y="1991834"/>
            <a:ext cx="1317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80 M VPCs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71553B1-C859-8326-B126-6367062B0F1D}"/>
              </a:ext>
            </a:extLst>
          </p:cNvPr>
          <p:cNvSpPr txBox="1"/>
          <p:nvPr/>
        </p:nvSpPr>
        <p:spPr>
          <a:xfrm>
            <a:off x="630309" y="4326202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300 M VPCs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84FB65D-E846-3C14-0299-CD604AC0E1E2}"/>
              </a:ext>
            </a:extLst>
          </p:cNvPr>
          <p:cNvSpPr txBox="1"/>
          <p:nvPr/>
        </p:nvSpPr>
        <p:spPr>
          <a:xfrm>
            <a:off x="480255" y="5028537"/>
            <a:ext cx="29306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adequately complex Hi-C dataset for the human genome with r</a:t>
            </a:r>
            <a:r>
              <a:rPr lang="en-US" sz="1400" b="0" i="0" dirty="0">
                <a:solidFill>
                  <a:srgbClr val="1B1B1B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oughly 100 million mapped / valid junction reads</a:t>
            </a:r>
            <a:r>
              <a:rPr lang="en-US" sz="14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is sufficient to support a </a:t>
            </a:r>
            <a:r>
              <a:rPr lang="en-US" sz="1400" b="0" i="0" dirty="0">
                <a:solidFill>
                  <a:srgbClr val="1B1B1B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40kb data resolution</a:t>
            </a:r>
            <a:r>
              <a:rPr lang="en-US" sz="1400" dirty="0">
                <a:solidFill>
                  <a:srgbClr val="1B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(Lajoie 2016)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E9F19D7-4CDC-BDC4-71B2-3D0012840B48}"/>
              </a:ext>
            </a:extLst>
          </p:cNvPr>
          <p:cNvSpPr txBox="1">
            <a:spLocks/>
          </p:cNvSpPr>
          <p:nvPr/>
        </p:nvSpPr>
        <p:spPr>
          <a:xfrm>
            <a:off x="355600" y="-930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VPCs</a:t>
            </a:r>
          </a:p>
        </p:txBody>
      </p:sp>
    </p:spTree>
    <p:extLst>
      <p:ext uri="{BB962C8B-B14F-4D97-AF65-F5344CB8AC3E}">
        <p14:creationId xmlns:p14="http://schemas.microsoft.com/office/powerpoint/2010/main" val="2138166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E413AA9-FA93-7485-3248-8EED67F72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04993"/>
            <a:ext cx="5949905" cy="476953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7096D5F-16FD-67B4-D9AD-D0EC0D9D6A7D}"/>
              </a:ext>
            </a:extLst>
          </p:cNvPr>
          <p:cNvSpPr txBox="1"/>
          <p:nvPr/>
        </p:nvSpPr>
        <p:spPr>
          <a:xfrm>
            <a:off x="11120707" y="1570866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adj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648BA2F-ED40-9A0D-3160-29D2B99A51A4}"/>
              </a:ext>
            </a:extLst>
          </p:cNvPr>
          <p:cNvSpPr txBox="1"/>
          <p:nvPr/>
        </p:nvSpPr>
        <p:spPr>
          <a:xfrm>
            <a:off x="6096000" y="888115"/>
            <a:ext cx="3348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T2T04.hp1,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Chr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12, 25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0FAFCA7-7D83-76C0-2975-A847E5E27A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832" y="1314137"/>
            <a:ext cx="5351371" cy="4626216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D847916-1885-433E-8FDE-77EA6FD6765E}"/>
              </a:ext>
            </a:extLst>
          </p:cNvPr>
          <p:cNvCxnSpPr>
            <a:cxnSpLocks/>
          </p:cNvCxnSpPr>
          <p:nvPr/>
        </p:nvCxnSpPr>
        <p:spPr>
          <a:xfrm>
            <a:off x="1408176" y="1940198"/>
            <a:ext cx="6729984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F46123D-3019-B6F4-9E83-8F3FEDAA3D0A}"/>
              </a:ext>
            </a:extLst>
          </p:cNvPr>
          <p:cNvCxnSpPr>
            <a:cxnSpLocks/>
          </p:cNvCxnSpPr>
          <p:nvPr/>
        </p:nvCxnSpPr>
        <p:spPr>
          <a:xfrm>
            <a:off x="3416808" y="4085990"/>
            <a:ext cx="654100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70C69F1-2B34-8765-056C-C405419AA5E3}"/>
              </a:ext>
            </a:extLst>
          </p:cNvPr>
          <p:cNvCxnSpPr>
            <a:cxnSpLocks/>
          </p:cNvCxnSpPr>
          <p:nvPr/>
        </p:nvCxnSpPr>
        <p:spPr>
          <a:xfrm>
            <a:off x="2819400" y="3429000"/>
            <a:ext cx="638860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EEEA76DB-DD1C-5A5F-CBBE-FDC1CEA015BB}"/>
              </a:ext>
            </a:extLst>
          </p:cNvPr>
          <p:cNvCxnSpPr>
            <a:cxnSpLocks/>
          </p:cNvCxnSpPr>
          <p:nvPr/>
        </p:nvCxnSpPr>
        <p:spPr>
          <a:xfrm>
            <a:off x="4148328" y="4768742"/>
            <a:ext cx="6330696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C9CC1D7C-5772-4D28-6FAA-5194D29D618E}"/>
              </a:ext>
            </a:extLst>
          </p:cNvPr>
          <p:cNvSpPr txBox="1"/>
          <p:nvPr/>
        </p:nvSpPr>
        <p:spPr>
          <a:xfrm>
            <a:off x="633984" y="888115"/>
            <a:ext cx="3864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GM12878, in situ Hi-C, Rao 2014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C5B7426-EE0F-76DE-D193-30C7A4848A35}"/>
              </a:ext>
            </a:extLst>
          </p:cNvPr>
          <p:cNvSpPr txBox="1"/>
          <p:nvPr/>
        </p:nvSpPr>
        <p:spPr>
          <a:xfrm>
            <a:off x="6373275" y="5403948"/>
            <a:ext cx="1164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adj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nonadj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08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12641C0-7BF4-9E52-1EC4-7D0E9D0C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634148"/>
            <a:ext cx="7201905" cy="2876951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1BDA0BAB-A0CA-9B44-5A17-850D5E5EF686}"/>
              </a:ext>
            </a:extLst>
          </p:cNvPr>
          <p:cNvSpPr txBox="1">
            <a:spLocks/>
          </p:cNvSpPr>
          <p:nvPr/>
        </p:nvSpPr>
        <p:spPr>
          <a:xfrm>
            <a:off x="355600" y="308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adjacent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nonadjcent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 VPCs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equivalent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923B958-04C2-A32C-0660-5B1F6D60C11C}"/>
              </a:ext>
            </a:extLst>
          </p:cNvPr>
          <p:cNvSpPr txBox="1"/>
          <p:nvPr/>
        </p:nvSpPr>
        <p:spPr>
          <a:xfrm>
            <a:off x="566155" y="451109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DOI: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https://doi.org/10.1038/s41467-023-36899-x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, Hi-Pore-C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paper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B57B5B8-6E71-AB33-2642-B5D2AAC7BE76}"/>
              </a:ext>
            </a:extLst>
          </p:cNvPr>
          <p:cNvSpPr/>
          <p:nvPr/>
        </p:nvSpPr>
        <p:spPr>
          <a:xfrm>
            <a:off x="2019300" y="2273300"/>
            <a:ext cx="546100" cy="205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ysClr val="windowText" lastClr="000000"/>
                </a:solidFill>
              </a:rPr>
              <a:t>0.938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52D8EE9-2A8A-AA70-69F8-5C10A0105844}"/>
              </a:ext>
            </a:extLst>
          </p:cNvPr>
          <p:cNvSpPr/>
          <p:nvPr/>
        </p:nvSpPr>
        <p:spPr>
          <a:xfrm>
            <a:off x="4191000" y="2273300"/>
            <a:ext cx="546100" cy="205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ysClr val="windowText" lastClr="000000"/>
                </a:solidFill>
              </a:rPr>
              <a:t>0.982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D5CD15F-D0F4-71E9-6FEE-F3A28936BC6D}"/>
              </a:ext>
            </a:extLst>
          </p:cNvPr>
          <p:cNvSpPr/>
          <p:nvPr/>
        </p:nvSpPr>
        <p:spPr>
          <a:xfrm>
            <a:off x="6389105" y="2273300"/>
            <a:ext cx="546100" cy="205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ysClr val="windowText" lastClr="000000"/>
                </a:solidFill>
              </a:rPr>
              <a:t>0.902</a:t>
            </a:r>
            <a:endParaRPr lang="de-DE" sz="11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832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66011-B9B7-FFC4-3FD7-313260571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C6E1ED0-612B-7C57-B719-9212F5220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97"/>
          <a:stretch>
            <a:fillRect/>
          </a:stretch>
        </p:blipFill>
        <p:spPr>
          <a:xfrm>
            <a:off x="355600" y="2033939"/>
            <a:ext cx="7201905" cy="2477160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8AE07010-A7AD-7AE3-D0D5-4E62899E46AE}"/>
              </a:ext>
            </a:extLst>
          </p:cNvPr>
          <p:cNvSpPr txBox="1">
            <a:spLocks/>
          </p:cNvSpPr>
          <p:nvPr/>
        </p:nvSpPr>
        <p:spPr>
          <a:xfrm>
            <a:off x="355600" y="308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adjacent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nonadjcent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 VPCs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equivalent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E0259D2-F7E9-28B2-CF1F-A2EB25AA7999}"/>
              </a:ext>
            </a:extLst>
          </p:cNvPr>
          <p:cNvSpPr/>
          <p:nvPr/>
        </p:nvSpPr>
        <p:spPr>
          <a:xfrm>
            <a:off x="2019300" y="2273300"/>
            <a:ext cx="546100" cy="205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ysClr val="windowText" lastClr="000000"/>
                </a:solidFill>
              </a:rPr>
              <a:t>0.938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543D8F0-B864-BC5A-0D1D-E7E1B27F331A}"/>
              </a:ext>
            </a:extLst>
          </p:cNvPr>
          <p:cNvSpPr/>
          <p:nvPr/>
        </p:nvSpPr>
        <p:spPr>
          <a:xfrm>
            <a:off x="4191000" y="2273300"/>
            <a:ext cx="546100" cy="205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ysClr val="windowText" lastClr="000000"/>
                </a:solidFill>
              </a:rPr>
              <a:t>0.982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9911B3D-434A-401E-D90A-767F0FDC998D}"/>
              </a:ext>
            </a:extLst>
          </p:cNvPr>
          <p:cNvSpPr/>
          <p:nvPr/>
        </p:nvSpPr>
        <p:spPr>
          <a:xfrm>
            <a:off x="6389105" y="2273300"/>
            <a:ext cx="546100" cy="205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ysClr val="windowText" lastClr="000000"/>
                </a:solidFill>
              </a:rPr>
              <a:t>0.902</a:t>
            </a:r>
            <a:endParaRPr lang="de-DE" sz="1100" dirty="0">
              <a:solidFill>
                <a:sysClr val="windowText" lastClr="000000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BF732D6-1CAB-A429-A133-86EEAD1EB1DD}"/>
              </a:ext>
            </a:extLst>
          </p:cNvPr>
          <p:cNvSpPr/>
          <p:nvPr/>
        </p:nvSpPr>
        <p:spPr>
          <a:xfrm>
            <a:off x="2743200" y="1862557"/>
            <a:ext cx="4711702" cy="2694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66FC44B-802D-7D39-4BBD-C4FA5C26EC57}"/>
              </a:ext>
            </a:extLst>
          </p:cNvPr>
          <p:cNvSpPr txBox="1"/>
          <p:nvPr/>
        </p:nvSpPr>
        <p:spPr>
          <a:xfrm>
            <a:off x="296649" y="1539681"/>
            <a:ext cx="609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T2T04.hp1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71F237F-6A53-AEE5-E63D-011977504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519" y="1195125"/>
            <a:ext cx="3334976" cy="248591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1A8684F-08E9-581A-33BD-A37C14D7A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386" y="1123158"/>
            <a:ext cx="3387493" cy="249466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70F772C-DC9D-366E-41D8-ADA3A6371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519" y="3717887"/>
            <a:ext cx="3369988" cy="246840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7A8C6831-3265-D5ED-41F3-D49E33710E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414" y="3725217"/>
            <a:ext cx="3343728" cy="247716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030D2BCA-6873-5DE7-CAEC-DA53F539C857}"/>
              </a:ext>
            </a:extLst>
          </p:cNvPr>
          <p:cNvSpPr txBox="1"/>
          <p:nvPr/>
        </p:nvSpPr>
        <p:spPr>
          <a:xfrm>
            <a:off x="224524" y="4564360"/>
            <a:ext cx="5155995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 comparing the heatmaps generated with adj- and non-adj-pairs of chromatin contacts […], overall chromatin interaction patterns were similar and resembled Hi-C contact heatmap (</a:t>
            </a:r>
            <a:r>
              <a:rPr lang="en-US" sz="16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stratum-adjusted correlation coefficients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are 0.938 […] for the heatmaps of adj-pairs and non-adj-pairs …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stratum-adjusted correlation coefficients = smoothed contact heatmaps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381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EDFA5-6A56-B45F-DBF0-CECD08B7C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E142B53-E249-A087-A7C2-AFABFBBF5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838" t="13313"/>
          <a:stretch>
            <a:fillRect/>
          </a:stretch>
        </p:blipFill>
        <p:spPr>
          <a:xfrm>
            <a:off x="385245" y="2017156"/>
            <a:ext cx="2820405" cy="2493943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B2C4B33B-2ABB-1F5E-B2B4-AA287A97C346}"/>
              </a:ext>
            </a:extLst>
          </p:cNvPr>
          <p:cNvSpPr txBox="1">
            <a:spLocks/>
          </p:cNvSpPr>
          <p:nvPr/>
        </p:nvSpPr>
        <p:spPr>
          <a:xfrm>
            <a:off x="355600" y="308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adjacent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nonadjcent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 VPCs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equivalent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81B6CE2-8275-7E76-94B6-533E29B08D3A}"/>
              </a:ext>
            </a:extLst>
          </p:cNvPr>
          <p:cNvSpPr/>
          <p:nvPr/>
        </p:nvSpPr>
        <p:spPr>
          <a:xfrm>
            <a:off x="2037250" y="2273300"/>
            <a:ext cx="546100" cy="205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ysClr val="windowText" lastClr="000000"/>
                </a:solidFill>
              </a:rPr>
              <a:t>0.902</a:t>
            </a:r>
            <a:endParaRPr lang="de-DE" sz="1100" dirty="0">
              <a:solidFill>
                <a:sysClr val="windowText" lastClr="000000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78E0746-4313-3D6F-CA24-901C5284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716" y="2003480"/>
            <a:ext cx="3385398" cy="362448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8AABDF2-69A8-F063-810B-B58072CBC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896" y="2003480"/>
            <a:ext cx="3418671" cy="36244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FDBB442-1E8A-1104-77A7-B069C359DAC4}"/>
              </a:ext>
            </a:extLst>
          </p:cNvPr>
          <p:cNvSpPr txBox="1"/>
          <p:nvPr/>
        </p:nvSpPr>
        <p:spPr>
          <a:xfrm>
            <a:off x="296649" y="1539681"/>
            <a:ext cx="253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T2T04.hp1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7AD5169-0A41-A0B7-B85D-2B0B903E3336}"/>
              </a:ext>
            </a:extLst>
          </p:cNvPr>
          <p:cNvSpPr txBox="1"/>
          <p:nvPr/>
        </p:nvSpPr>
        <p:spPr>
          <a:xfrm>
            <a:off x="4176375" y="1647824"/>
            <a:ext cx="2705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de-DE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A9B55F1-E068-E0BF-24B8-03C4AB20DD70}"/>
              </a:ext>
            </a:extLst>
          </p:cNvPr>
          <p:cNvSpPr txBox="1"/>
          <p:nvPr/>
        </p:nvSpPr>
        <p:spPr>
          <a:xfrm>
            <a:off x="8163644" y="1634148"/>
            <a:ext cx="2705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40 </a:t>
            </a:r>
            <a:r>
              <a:rPr lang="de-DE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A70AAA12-CA56-C4D9-889D-9089A8009A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04"/>
          <a:stretch>
            <a:fillRect/>
          </a:stretch>
        </p:blipFill>
        <p:spPr>
          <a:xfrm>
            <a:off x="696686" y="4506725"/>
            <a:ext cx="2379483" cy="2351275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9C21ABCD-7624-5D42-CF8D-CC779E41D4FF}"/>
              </a:ext>
            </a:extLst>
          </p:cNvPr>
          <p:cNvSpPr txBox="1"/>
          <p:nvPr/>
        </p:nvSpPr>
        <p:spPr>
          <a:xfrm>
            <a:off x="2750735" y="656687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DOI: 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https://doi.org/10.1038/nature14450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, Crane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insulation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score</a:t>
            </a:r>
          </a:p>
        </p:txBody>
      </p:sp>
    </p:spTree>
    <p:extLst>
      <p:ext uri="{BB962C8B-B14F-4D97-AF65-F5344CB8AC3E}">
        <p14:creationId xmlns:p14="http://schemas.microsoft.com/office/powerpoint/2010/main" val="486528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6F7F-94F9-4CE2-8F91-E1D4FADB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85AC1C9-88E0-E562-8935-681F71C8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46" t="15015" r="36746"/>
          <a:stretch>
            <a:fillRect/>
          </a:stretch>
        </p:blipFill>
        <p:spPr>
          <a:xfrm>
            <a:off x="355600" y="2365829"/>
            <a:ext cx="2225949" cy="2444984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1668D176-217C-C7DF-1B4B-7D13CDE69F80}"/>
              </a:ext>
            </a:extLst>
          </p:cNvPr>
          <p:cNvSpPr txBox="1">
            <a:spLocks/>
          </p:cNvSpPr>
          <p:nvPr/>
        </p:nvSpPr>
        <p:spPr>
          <a:xfrm>
            <a:off x="355600" y="308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adjacent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nonadjcent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 VPCs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equivalent</a:t>
            </a:r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9129AD1-A027-7686-7AA8-992AB6A84183}"/>
              </a:ext>
            </a:extLst>
          </p:cNvPr>
          <p:cNvSpPr/>
          <p:nvPr/>
        </p:nvSpPr>
        <p:spPr>
          <a:xfrm>
            <a:off x="1861457" y="2573014"/>
            <a:ext cx="546100" cy="2057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ysClr val="windowText" lastClr="000000"/>
                </a:solidFill>
              </a:rPr>
              <a:t>0.982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DEEF5B2-3BF9-1861-98FB-0A8505FCD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957" y="1088570"/>
            <a:ext cx="4674128" cy="5653315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820E9C26-37FA-8139-AF97-A2EF8D658191}"/>
              </a:ext>
            </a:extLst>
          </p:cNvPr>
          <p:cNvSpPr txBox="1"/>
          <p:nvPr/>
        </p:nvSpPr>
        <p:spPr>
          <a:xfrm>
            <a:off x="296649" y="1771910"/>
            <a:ext cx="609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T2T04.hp1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163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0D2496E2-8447-AF81-6120-D656CE558515}"/>
              </a:ext>
            </a:extLst>
          </p:cNvPr>
          <p:cNvSpPr txBox="1">
            <a:spLocks/>
          </p:cNvSpPr>
          <p:nvPr/>
        </p:nvSpPr>
        <p:spPr>
          <a:xfrm>
            <a:off x="355600" y="308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Chromatin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compartments</a:t>
            </a:r>
            <a:endParaRPr lang="de-DE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3947117-5EA4-1340-3689-67D938844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443648"/>
            <a:ext cx="6484071" cy="476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9CD39BF5-5E06-0953-816C-72887AFBF250}"/>
              </a:ext>
            </a:extLst>
          </p:cNvPr>
          <p:cNvSpPr txBox="1"/>
          <p:nvPr/>
        </p:nvSpPr>
        <p:spPr>
          <a:xfrm>
            <a:off x="4313238" y="624163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DOI: </a:t>
            </a:r>
            <a:r>
              <a:rPr lang="de-DE" sz="1400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10.1126/science.1181369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1AAD1FB-FE48-A360-7DBC-29DDA8EDF496}"/>
              </a:ext>
            </a:extLst>
          </p:cNvPr>
          <p:cNvSpPr txBox="1"/>
          <p:nvPr/>
        </p:nvSpPr>
        <p:spPr>
          <a:xfrm>
            <a:off x="7112000" y="1670760"/>
            <a:ext cx="48913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… the entire genome can be 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partitioned into two spatial compartments </a:t>
            </a:r>
            <a:r>
              <a:rPr 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such that greater interaction occurs within each compartment rather than across compartments …</a:t>
            </a:r>
          </a:p>
          <a:p>
            <a:pPr algn="just"/>
            <a:endParaRPr lang="en-US" dirty="0">
              <a:solidFill>
                <a:srgbClr val="1B1B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Compartment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A: positive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principal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component (PC)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presence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genes,  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expression,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accessible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chromatin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Compartment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B: negative PC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330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D140-D79B-1DF9-F33A-1D8B08C72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BC0AF82-B1BB-1810-1D79-10C57C09D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" y="1735746"/>
            <a:ext cx="4180366" cy="404078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3D545CC7-FB89-34A3-D7B8-AADB9D25E2DA}"/>
              </a:ext>
            </a:extLst>
          </p:cNvPr>
          <p:cNvSpPr txBox="1">
            <a:spLocks/>
          </p:cNvSpPr>
          <p:nvPr/>
        </p:nvSpPr>
        <p:spPr>
          <a:xfrm>
            <a:off x="355600" y="308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Chromatin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compartments</a:t>
            </a:r>
            <a:endParaRPr lang="de-DE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73C008D-92D4-9522-7E33-6E4F50096AA5}"/>
              </a:ext>
            </a:extLst>
          </p:cNvPr>
          <p:cNvSpPr txBox="1"/>
          <p:nvPr/>
        </p:nvSpPr>
        <p:spPr>
          <a:xfrm>
            <a:off x="0" y="1534891"/>
            <a:ext cx="609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T2T04.hp1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B6F1501-ABC6-9755-B7AE-B80C93FC0F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609"/>
          <a:stretch>
            <a:fillRect/>
          </a:stretch>
        </p:blipFill>
        <p:spPr>
          <a:xfrm>
            <a:off x="8224411" y="1582188"/>
            <a:ext cx="3611989" cy="343065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8925401-D5BB-AC02-F281-2F7A997FB9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6942"/>
          <a:stretch>
            <a:fillRect/>
          </a:stretch>
        </p:blipFill>
        <p:spPr>
          <a:xfrm>
            <a:off x="8224411" y="5191670"/>
            <a:ext cx="3611989" cy="518541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00EB4762-C4F3-A398-16B4-E8D20C6EADAF}"/>
              </a:ext>
            </a:extLst>
          </p:cNvPr>
          <p:cNvSpPr txBox="1"/>
          <p:nvPr/>
        </p:nvSpPr>
        <p:spPr>
          <a:xfrm>
            <a:off x="8224411" y="5735146"/>
            <a:ext cx="3807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DOI: </a:t>
            </a:r>
            <a:r>
              <a:rPr lang="de-DE" sz="1400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10.1126/science.1181369</a:t>
            </a:r>
            <a:r>
              <a:rPr lang="de-DE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Lieberman, </a:t>
            </a:r>
            <a:r>
              <a:rPr lang="de-DE" sz="1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de-DE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Hi-C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EA40D5F-46A8-C5FA-1212-95B5D6EF8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265" y="1616666"/>
            <a:ext cx="4180366" cy="414535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27D2D70-FE94-7EF1-1472-8D2222EB9E30}"/>
              </a:ext>
            </a:extLst>
          </p:cNvPr>
          <p:cNvSpPr txBox="1"/>
          <p:nvPr/>
        </p:nvSpPr>
        <p:spPr>
          <a:xfrm>
            <a:off x="4242772" y="1534891"/>
            <a:ext cx="609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T2T04.hp2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646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420F9-F483-4165-BC84-9B9E3B904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4F92F24-7506-720F-A952-D863932DBF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276" y="1677694"/>
            <a:ext cx="4499754" cy="436339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9A65E88-DD38-2816-2C4A-9AED0790D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1489"/>
            <a:ext cx="4153231" cy="4024289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58255386-A4D9-9CB0-BCF1-C1BBCAB3BDAA}"/>
              </a:ext>
            </a:extLst>
          </p:cNvPr>
          <p:cNvSpPr txBox="1">
            <a:spLocks/>
          </p:cNvSpPr>
          <p:nvPr/>
        </p:nvSpPr>
        <p:spPr>
          <a:xfrm>
            <a:off x="355600" y="308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dirty="0">
                <a:latin typeface="Arial" panose="020B0604020202020204" pitchFamily="34" charset="0"/>
                <a:cs typeface="Arial" panose="020B0604020202020204" pitchFamily="34" charset="0"/>
              </a:rPr>
              <a:t>Chromatin </a:t>
            </a:r>
            <a:r>
              <a:rPr lang="de-DE" sz="4000" dirty="0" err="1">
                <a:latin typeface="Arial" panose="020B0604020202020204" pitchFamily="34" charset="0"/>
                <a:cs typeface="Arial" panose="020B0604020202020204" pitchFamily="34" charset="0"/>
              </a:rPr>
              <a:t>compartments</a:t>
            </a:r>
            <a:endParaRPr lang="de-DE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871AEBB-066A-AA2C-F98B-0D34815C72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815"/>
          <a:stretch>
            <a:fillRect/>
          </a:stretch>
        </p:blipFill>
        <p:spPr>
          <a:xfrm>
            <a:off x="8479973" y="1625375"/>
            <a:ext cx="3472542" cy="337502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19EAC88-0019-2A57-47B7-8BE612EA02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10" b="88341"/>
          <a:stretch>
            <a:fillRect/>
          </a:stretch>
        </p:blipFill>
        <p:spPr>
          <a:xfrm>
            <a:off x="8479973" y="5210999"/>
            <a:ext cx="3472542" cy="38237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382B958-44FA-360D-6592-A5DE42F4FC47}"/>
              </a:ext>
            </a:extLst>
          </p:cNvPr>
          <p:cNvSpPr txBox="1"/>
          <p:nvPr/>
        </p:nvSpPr>
        <p:spPr>
          <a:xfrm>
            <a:off x="9289143" y="565007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DOI: </a:t>
            </a:r>
            <a:r>
              <a:rPr lang="de-DE" sz="1400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10.1126/science.1181369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DC8CAEA-798C-B784-C61D-B04B5539C4CC}"/>
              </a:ext>
            </a:extLst>
          </p:cNvPr>
          <p:cNvSpPr txBox="1"/>
          <p:nvPr/>
        </p:nvSpPr>
        <p:spPr>
          <a:xfrm>
            <a:off x="0" y="1621980"/>
            <a:ext cx="609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T2T04.hp1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4D4F42D-090A-4A93-AC89-F19ECC602682}"/>
              </a:ext>
            </a:extLst>
          </p:cNvPr>
          <p:cNvSpPr txBox="1"/>
          <p:nvPr/>
        </p:nvSpPr>
        <p:spPr>
          <a:xfrm>
            <a:off x="4242772" y="1621980"/>
            <a:ext cx="609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T2T04.hp2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244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C64FD56-2227-907F-AA9A-CD81EDD26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28" r="13220"/>
          <a:stretch>
            <a:fillRect/>
          </a:stretch>
        </p:blipFill>
        <p:spPr>
          <a:xfrm>
            <a:off x="305191" y="1686910"/>
            <a:ext cx="4570914" cy="498642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9967A07-D1C3-6255-F077-DCF815092B5D}"/>
              </a:ext>
            </a:extLst>
          </p:cNvPr>
          <p:cNvSpPr txBox="1"/>
          <p:nvPr/>
        </p:nvSpPr>
        <p:spPr>
          <a:xfrm>
            <a:off x="467516" y="1879392"/>
            <a:ext cx="1988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T2T04.hp1, chr11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7350A6D-AFFA-1AFF-A66A-21C2319C1E4A}"/>
              </a:ext>
            </a:extLst>
          </p:cNvPr>
          <p:cNvSpPr txBox="1"/>
          <p:nvPr/>
        </p:nvSpPr>
        <p:spPr>
          <a:xfrm>
            <a:off x="3884428" y="4366700"/>
            <a:ext cx="1988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T2T04.hp2, chr11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1AC44DC7-9C4B-B230-4845-2B12CEB39C52}"/>
              </a:ext>
            </a:extLst>
          </p:cNvPr>
          <p:cNvCxnSpPr>
            <a:cxnSpLocks/>
          </p:cNvCxnSpPr>
          <p:nvPr/>
        </p:nvCxnSpPr>
        <p:spPr>
          <a:xfrm flipV="1">
            <a:off x="2021271" y="4073637"/>
            <a:ext cx="0" cy="2930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4BEBEB-FA12-313E-22FE-C0FDE79DE8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56" b="58611"/>
          <a:stretch>
            <a:fillRect/>
          </a:stretch>
        </p:blipFill>
        <p:spPr bwMode="auto">
          <a:xfrm>
            <a:off x="8689581" y="3933165"/>
            <a:ext cx="2962295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0F80AB4-621F-9F51-92FE-B029F9A8C6BB}"/>
              </a:ext>
            </a:extLst>
          </p:cNvPr>
          <p:cNvSpPr txBox="1"/>
          <p:nvPr/>
        </p:nvSpPr>
        <p:spPr>
          <a:xfrm>
            <a:off x="10102034" y="6468829"/>
            <a:ext cx="25369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0" i="1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de-DE" sz="1200" b="0" i="1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de-DE" sz="1200" b="0" i="1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10.1042/BST20230143 </a:t>
            </a:r>
            <a:endParaRPr lang="de-DE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1A1677D-16FD-5C59-099D-B9518C7C3111}"/>
              </a:ext>
            </a:extLst>
          </p:cNvPr>
          <p:cNvSpPr txBox="1"/>
          <p:nvPr/>
        </p:nvSpPr>
        <p:spPr>
          <a:xfrm rot="16200000">
            <a:off x="-299919" y="5792497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Insulation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score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E9DC1DC-53B2-5474-FCCE-156F77D273B8}"/>
              </a:ext>
            </a:extLst>
          </p:cNvPr>
          <p:cNvSpPr txBox="1"/>
          <p:nvPr/>
        </p:nvSpPr>
        <p:spPr>
          <a:xfrm>
            <a:off x="4876105" y="5997089"/>
            <a:ext cx="2478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calculated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at 25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, 5x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EE1C6DC3-E899-AA0B-880A-CFDF3768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82" y="294385"/>
            <a:ext cx="10515600" cy="1325563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IGF2-H19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ECAA03A-432D-D58A-C897-11DE577BD3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63"/>
          <a:stretch/>
        </p:blipFill>
        <p:spPr>
          <a:xfrm>
            <a:off x="5679418" y="83820"/>
            <a:ext cx="6458851" cy="3579918"/>
          </a:xfrm>
          <a:prstGeom prst="rect">
            <a:avLst/>
          </a:prstGeom>
        </p:spPr>
      </p:pic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79DC94B-6CBD-4BA0-6438-58B39114295B}"/>
              </a:ext>
            </a:extLst>
          </p:cNvPr>
          <p:cNvCxnSpPr>
            <a:cxnSpLocks/>
          </p:cNvCxnSpPr>
          <p:nvPr/>
        </p:nvCxnSpPr>
        <p:spPr>
          <a:xfrm>
            <a:off x="2407123" y="2924256"/>
            <a:ext cx="0" cy="39600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72A902D-D34B-BCDF-9897-F0C35B4D3555}"/>
              </a:ext>
            </a:extLst>
          </p:cNvPr>
          <p:cNvCxnSpPr>
            <a:cxnSpLocks/>
          </p:cNvCxnSpPr>
          <p:nvPr/>
        </p:nvCxnSpPr>
        <p:spPr>
          <a:xfrm>
            <a:off x="2215266" y="2924256"/>
            <a:ext cx="0" cy="39600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1B62DE2C-3F9A-ADA3-88FF-9A9C222B6B0B}"/>
              </a:ext>
            </a:extLst>
          </p:cNvPr>
          <p:cNvSpPr txBox="1"/>
          <p:nvPr/>
        </p:nvSpPr>
        <p:spPr>
          <a:xfrm>
            <a:off x="1897463" y="2671448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H19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2EFC37E-CDFA-9947-33D0-414DFF802EB6}"/>
              </a:ext>
            </a:extLst>
          </p:cNvPr>
          <p:cNvSpPr txBox="1"/>
          <p:nvPr/>
        </p:nvSpPr>
        <p:spPr>
          <a:xfrm>
            <a:off x="2259462" y="2671448"/>
            <a:ext cx="527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IGF2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E18E061-C141-CC42-B2A6-78D8E9AC8B5A}"/>
              </a:ext>
            </a:extLst>
          </p:cNvPr>
          <p:cNvSpPr txBox="1"/>
          <p:nvPr/>
        </p:nvSpPr>
        <p:spPr>
          <a:xfrm>
            <a:off x="9031605" y="3640977"/>
            <a:ext cx="31603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>
                <a:latin typeface="Arial" panose="020B0604020202020204" pitchFamily="34" charset="0"/>
                <a:cs typeface="Arial" panose="020B0604020202020204" pitchFamily="34" charset="0"/>
              </a:rPr>
              <a:t>DOI: https://doi.org/10.1186/s13059-023-02876-2</a:t>
            </a:r>
          </a:p>
        </p:txBody>
      </p:sp>
    </p:spTree>
    <p:extLst>
      <p:ext uri="{BB962C8B-B14F-4D97-AF65-F5344CB8AC3E}">
        <p14:creationId xmlns:p14="http://schemas.microsoft.com/office/powerpoint/2010/main" val="94481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3BA92-9486-A337-6039-06E18FA5B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81A26D6-09FE-0AE5-1FFE-BDCA3E228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28" r="13220"/>
          <a:stretch>
            <a:fillRect/>
          </a:stretch>
        </p:blipFill>
        <p:spPr>
          <a:xfrm>
            <a:off x="305191" y="1686910"/>
            <a:ext cx="4570914" cy="49864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F52B2ED-24D0-FD57-924F-A6E8B49ED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82" y="294385"/>
            <a:ext cx="10515600" cy="1325563"/>
          </a:xfrm>
        </p:spPr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IGF2-H19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620143-5EC0-BD15-FD6A-7B3A01975482}"/>
              </a:ext>
            </a:extLst>
          </p:cNvPr>
          <p:cNvSpPr txBox="1"/>
          <p:nvPr/>
        </p:nvSpPr>
        <p:spPr>
          <a:xfrm>
            <a:off x="467516" y="1879392"/>
            <a:ext cx="1988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T2T04.hp1, chr11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478842C-E2B8-03F2-B31D-B0E7AC267335}"/>
              </a:ext>
            </a:extLst>
          </p:cNvPr>
          <p:cNvSpPr txBox="1"/>
          <p:nvPr/>
        </p:nvSpPr>
        <p:spPr>
          <a:xfrm>
            <a:off x="3884428" y="4366700"/>
            <a:ext cx="1988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T2T04.hp2, chr11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B9A45487-44A4-A363-97DA-5BBAF9E69AFF}"/>
              </a:ext>
            </a:extLst>
          </p:cNvPr>
          <p:cNvCxnSpPr>
            <a:cxnSpLocks/>
          </p:cNvCxnSpPr>
          <p:nvPr/>
        </p:nvCxnSpPr>
        <p:spPr>
          <a:xfrm flipV="1">
            <a:off x="2021271" y="4137137"/>
            <a:ext cx="0" cy="2930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6E16B6AD-4381-2780-BB91-384D48D5F3FB}"/>
              </a:ext>
            </a:extLst>
          </p:cNvPr>
          <p:cNvSpPr/>
          <p:nvPr/>
        </p:nvSpPr>
        <p:spPr>
          <a:xfrm>
            <a:off x="1571524" y="3209925"/>
            <a:ext cx="647801" cy="326689"/>
          </a:xfrm>
          <a:prstGeom prst="triangle">
            <a:avLst>
              <a:gd name="adj" fmla="val 51470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leichschenkliges Dreieck 7">
            <a:extLst>
              <a:ext uri="{FF2B5EF4-FFF2-40B4-BE49-F238E27FC236}">
                <a16:creationId xmlns:a16="http://schemas.microsoft.com/office/drawing/2014/main" id="{3C7F3743-A099-6AFC-973A-54C1AE950C0B}"/>
              </a:ext>
            </a:extLst>
          </p:cNvPr>
          <p:cNvSpPr/>
          <p:nvPr/>
        </p:nvSpPr>
        <p:spPr>
          <a:xfrm>
            <a:off x="2235993" y="3407501"/>
            <a:ext cx="240507" cy="129113"/>
          </a:xfrm>
          <a:prstGeom prst="triangl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leichschenkliges Dreieck 9">
            <a:extLst>
              <a:ext uri="{FF2B5EF4-FFF2-40B4-BE49-F238E27FC236}">
                <a16:creationId xmlns:a16="http://schemas.microsoft.com/office/drawing/2014/main" id="{CC7BDDE3-BC01-645D-0294-5FD4EF1FA320}"/>
              </a:ext>
            </a:extLst>
          </p:cNvPr>
          <p:cNvSpPr/>
          <p:nvPr/>
        </p:nvSpPr>
        <p:spPr>
          <a:xfrm rot="10800000">
            <a:off x="1571524" y="3569140"/>
            <a:ext cx="904977" cy="504496"/>
          </a:xfrm>
          <a:prstGeom prst="triangl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43948D1-5DFE-0FA9-EB09-0498A3EC3F67}"/>
              </a:ext>
            </a:extLst>
          </p:cNvPr>
          <p:cNvCxnSpPr>
            <a:cxnSpLocks/>
          </p:cNvCxnSpPr>
          <p:nvPr/>
        </p:nvCxnSpPr>
        <p:spPr>
          <a:xfrm>
            <a:off x="1571524" y="3207286"/>
            <a:ext cx="0" cy="3072833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70DCBF2-AC4A-63B9-C7CB-019DFF689D3B}"/>
              </a:ext>
            </a:extLst>
          </p:cNvPr>
          <p:cNvCxnSpPr>
            <a:cxnSpLocks/>
          </p:cNvCxnSpPr>
          <p:nvPr/>
        </p:nvCxnSpPr>
        <p:spPr>
          <a:xfrm>
            <a:off x="2501164" y="3209925"/>
            <a:ext cx="0" cy="3072833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650A02D-8FEF-F19D-E9A9-AB4FCDED9524}"/>
              </a:ext>
            </a:extLst>
          </p:cNvPr>
          <p:cNvCxnSpPr>
            <a:cxnSpLocks/>
          </p:cNvCxnSpPr>
          <p:nvPr/>
        </p:nvCxnSpPr>
        <p:spPr>
          <a:xfrm>
            <a:off x="2237797" y="3209925"/>
            <a:ext cx="0" cy="3072833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3163B5EC-1797-6216-71B6-DCD1F1C742C4}"/>
              </a:ext>
            </a:extLst>
          </p:cNvPr>
          <p:cNvSpPr txBox="1"/>
          <p:nvPr/>
        </p:nvSpPr>
        <p:spPr>
          <a:xfrm rot="16200000">
            <a:off x="-299919" y="5792497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Insulation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score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5722A0F-7B24-BDBB-E1B7-4B597FE43998}"/>
              </a:ext>
            </a:extLst>
          </p:cNvPr>
          <p:cNvSpPr txBox="1"/>
          <p:nvPr/>
        </p:nvSpPr>
        <p:spPr>
          <a:xfrm>
            <a:off x="4876105" y="5997089"/>
            <a:ext cx="2478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calculated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at 25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, 5x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0BC1C112-60F0-9494-4665-307C9B1AD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56" b="58611"/>
          <a:stretch>
            <a:fillRect/>
          </a:stretch>
        </p:blipFill>
        <p:spPr bwMode="auto">
          <a:xfrm>
            <a:off x="8689581" y="3933165"/>
            <a:ext cx="2962295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8D5A7636-69E8-360B-E3E6-0F7F17720C82}"/>
              </a:ext>
            </a:extLst>
          </p:cNvPr>
          <p:cNvSpPr txBox="1"/>
          <p:nvPr/>
        </p:nvSpPr>
        <p:spPr>
          <a:xfrm>
            <a:off x="10102034" y="6468829"/>
            <a:ext cx="25369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0" i="1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de-DE" sz="1200" b="0" i="1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de-DE" sz="1200" b="0" i="1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10.1042/BST20230143 </a:t>
            </a:r>
            <a:endParaRPr lang="de-DE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916D7A9-342A-4CDF-7886-59CD2649E372}"/>
              </a:ext>
            </a:extLst>
          </p:cNvPr>
          <p:cNvSpPr txBox="1"/>
          <p:nvPr/>
        </p:nvSpPr>
        <p:spPr>
          <a:xfrm>
            <a:off x="9031605" y="3640977"/>
            <a:ext cx="31603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>
                <a:latin typeface="Arial" panose="020B0604020202020204" pitchFamily="34" charset="0"/>
                <a:cs typeface="Arial" panose="020B0604020202020204" pitchFamily="34" charset="0"/>
              </a:rPr>
              <a:t>DOI: https://doi.org/10.1186/s13059-023-02876-2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11D506A5-9359-F604-F781-F6B2E42989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63"/>
          <a:stretch/>
        </p:blipFill>
        <p:spPr>
          <a:xfrm>
            <a:off x="5679418" y="83820"/>
            <a:ext cx="6458851" cy="357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91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3FA82-1273-54FB-5F7C-24F886026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B8C730-DA2D-5710-0EEA-E1081B12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i="1" dirty="0">
                <a:latin typeface="Arial" panose="020B0604020202020204" pitchFamily="34" charset="0"/>
                <a:cs typeface="Arial" panose="020B0604020202020204" pitchFamily="34" charset="0"/>
              </a:rPr>
              <a:t>SNRPN</a:t>
            </a:r>
            <a:endParaRPr lang="de-DE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0E3DC13-11D6-AE8C-D8F5-6296A51C9B1C}"/>
              </a:ext>
            </a:extLst>
          </p:cNvPr>
          <p:cNvSpPr txBox="1"/>
          <p:nvPr/>
        </p:nvSpPr>
        <p:spPr>
          <a:xfrm>
            <a:off x="535392" y="1678612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T2T04.hp1, chr15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231FCD2-D878-963D-1651-BC4A600F41FB}"/>
              </a:ext>
            </a:extLst>
          </p:cNvPr>
          <p:cNvSpPr txBox="1"/>
          <p:nvPr/>
        </p:nvSpPr>
        <p:spPr>
          <a:xfrm>
            <a:off x="4268029" y="5179388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T2T04.hp2, chr15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A3C4AAF-5953-FE2F-7BFD-B64FF5C2A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332" y="393936"/>
            <a:ext cx="7516274" cy="273405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2AD9F40-A224-159C-C414-29C2A7EC7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840000">
            <a:off x="1058693" y="2321017"/>
            <a:ext cx="3465178" cy="3455133"/>
          </a:xfrm>
          <a:prstGeom prst="rect">
            <a:avLst/>
          </a:prstGeom>
        </p:spPr>
      </p:pic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89B33681-2EB6-A153-5B74-D734E0877959}"/>
              </a:ext>
            </a:extLst>
          </p:cNvPr>
          <p:cNvCxnSpPr>
            <a:cxnSpLocks/>
          </p:cNvCxnSpPr>
          <p:nvPr/>
        </p:nvCxnSpPr>
        <p:spPr>
          <a:xfrm flipV="1">
            <a:off x="1676400" y="4705350"/>
            <a:ext cx="0" cy="2930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94F0BD7D-3A5A-9309-1832-E9F310E627B0}"/>
              </a:ext>
            </a:extLst>
          </p:cNvPr>
          <p:cNvSpPr txBox="1"/>
          <p:nvPr/>
        </p:nvSpPr>
        <p:spPr>
          <a:xfrm>
            <a:off x="9031605" y="3640977"/>
            <a:ext cx="31603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>
                <a:latin typeface="Arial" panose="020B0604020202020204" pitchFamily="34" charset="0"/>
                <a:cs typeface="Arial" panose="020B0604020202020204" pitchFamily="34" charset="0"/>
              </a:rPr>
              <a:t>DOI: https://doi.org/10.1186/s13059-023-02876-2</a:t>
            </a:r>
          </a:p>
        </p:txBody>
      </p:sp>
    </p:spTree>
    <p:extLst>
      <p:ext uri="{BB962C8B-B14F-4D97-AF65-F5344CB8AC3E}">
        <p14:creationId xmlns:p14="http://schemas.microsoft.com/office/powerpoint/2010/main" val="70115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3FA82-1273-54FB-5F7C-24F886026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13631371-2A8C-412C-4671-2BCCEA73A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923"/>
          <a:stretch/>
        </p:blipFill>
        <p:spPr>
          <a:xfrm>
            <a:off x="0" y="1672759"/>
            <a:ext cx="4268029" cy="516839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7B8C730-DA2D-5710-0EEA-E1081B12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i="1" dirty="0">
                <a:latin typeface="Arial" panose="020B0604020202020204" pitchFamily="34" charset="0"/>
                <a:cs typeface="Arial" panose="020B0604020202020204" pitchFamily="34" charset="0"/>
              </a:rPr>
              <a:t>SNRPN</a:t>
            </a:r>
            <a:endParaRPr lang="de-DE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0E3DC13-11D6-AE8C-D8F5-6296A51C9B1C}"/>
              </a:ext>
            </a:extLst>
          </p:cNvPr>
          <p:cNvSpPr txBox="1"/>
          <p:nvPr/>
        </p:nvSpPr>
        <p:spPr>
          <a:xfrm>
            <a:off x="236942" y="2002462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T2T04.hp1, chr15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231FCD2-D878-963D-1651-BC4A600F41FB}"/>
              </a:ext>
            </a:extLst>
          </p:cNvPr>
          <p:cNvSpPr txBox="1"/>
          <p:nvPr/>
        </p:nvSpPr>
        <p:spPr>
          <a:xfrm>
            <a:off x="3315529" y="4372938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T2T04.hp2, chr15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A3C4AAF-5953-FE2F-7BFD-B64FF5C2A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332" y="393936"/>
            <a:ext cx="7516274" cy="273405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4F0BD7D-3A5A-9309-1832-E9F310E627B0}"/>
              </a:ext>
            </a:extLst>
          </p:cNvPr>
          <p:cNvSpPr txBox="1"/>
          <p:nvPr/>
        </p:nvSpPr>
        <p:spPr>
          <a:xfrm>
            <a:off x="8860211" y="3127993"/>
            <a:ext cx="31603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>
                <a:latin typeface="Arial" panose="020B0604020202020204" pitchFamily="34" charset="0"/>
                <a:cs typeface="Arial" panose="020B0604020202020204" pitchFamily="34" charset="0"/>
              </a:rPr>
              <a:t>DOI: https://doi.org/10.1186/s13059-023-02876-2</a:t>
            </a:r>
          </a:p>
        </p:txBody>
      </p:sp>
    </p:spTree>
    <p:extLst>
      <p:ext uri="{BB962C8B-B14F-4D97-AF65-F5344CB8AC3E}">
        <p14:creationId xmlns:p14="http://schemas.microsoft.com/office/powerpoint/2010/main" val="1649161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Microsoft Office PowerPoint</Application>
  <PresentationFormat>Breitbild</PresentationFormat>
  <Paragraphs>90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IGF2-H19</vt:lpstr>
      <vt:lpstr>IGF2-H19</vt:lpstr>
      <vt:lpstr>SNRPN</vt:lpstr>
      <vt:lpstr>SNRPN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Leuchtenberg</dc:creator>
  <cp:lastModifiedBy>Sarah Leuchtenberg</cp:lastModifiedBy>
  <cp:revision>8</cp:revision>
  <dcterms:created xsi:type="dcterms:W3CDTF">2025-10-30T09:10:37Z</dcterms:created>
  <dcterms:modified xsi:type="dcterms:W3CDTF">2025-11-11T08:26:23Z</dcterms:modified>
</cp:coreProperties>
</file>